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77" r:id="rId9"/>
    <p:sldId id="278" r:id="rId10"/>
    <p:sldId id="264" r:id="rId11"/>
    <p:sldId id="265" r:id="rId12"/>
    <p:sldId id="279" r:id="rId13"/>
    <p:sldId id="266" r:id="rId14"/>
    <p:sldId id="280" r:id="rId15"/>
    <p:sldId id="267" r:id="rId16"/>
    <p:sldId id="281" r:id="rId17"/>
    <p:sldId id="268" r:id="rId18"/>
    <p:sldId id="269" r:id="rId19"/>
    <p:sldId id="271" r:id="rId20"/>
    <p:sldId id="282" r:id="rId21"/>
    <p:sldId id="270" r:id="rId22"/>
    <p:sldId id="283" r:id="rId23"/>
    <p:sldId id="273" r:id="rId24"/>
    <p:sldId id="272" r:id="rId25"/>
    <p:sldId id="274" r:id="rId26"/>
    <p:sldId id="275"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6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Total Leads</c:v>
                </c:pt>
                <c:pt idx="1">
                  <c:v>Unique Accounts</c:v>
                </c:pt>
              </c:strCache>
            </c:strRef>
          </c:cat>
          <c:val>
            <c:numRef>
              <c:f>Sheet1!$B$2:$B$3</c:f>
              <c:numCache>
                <c:formatCode>General</c:formatCode>
                <c:ptCount val="2"/>
                <c:pt idx="0">
                  <c:v>799</c:v>
                </c:pt>
                <c:pt idx="1">
                  <c:v>393</c:v>
                </c:pt>
              </c:numCache>
            </c:numRef>
          </c:val>
          <c:extLst>
            <c:ext xmlns:c16="http://schemas.microsoft.com/office/drawing/2014/chart" uri="{C3380CC4-5D6E-409C-BE32-E72D297353CC}">
              <c16:uniqueId val="{00000000-CF05-4CCE-98E4-9E4F42490C18}"/>
            </c:ext>
          </c:extLst>
        </c:ser>
        <c:ser>
          <c:idx val="1"/>
          <c:order val="1"/>
          <c:tx>
            <c:strRef>
              <c:f>Sheet1!$C$1</c:f>
              <c:strCache>
                <c:ptCount val="1"/>
                <c:pt idx="0">
                  <c:v>Q2</c:v>
                </c:pt>
              </c:strCache>
            </c:strRef>
          </c:tx>
          <c:spPr>
            <a:solidFill>
              <a:srgbClr val="1C6BFF"/>
            </a:solidFill>
            <a:ln>
              <a:noFill/>
            </a:ln>
            <a:effectLst/>
          </c:spPr>
          <c:invertIfNegative val="0"/>
          <c:dPt>
            <c:idx val="0"/>
            <c:invertIfNegative val="0"/>
            <c:bubble3D val="0"/>
            <c:spPr>
              <a:solidFill>
                <a:srgbClr val="1C6BFF"/>
              </a:solidFill>
              <a:ln>
                <a:solidFill>
                  <a:srgbClr val="1C6BFF"/>
                </a:solidFill>
              </a:ln>
              <a:effectLst/>
            </c:spPr>
            <c:extLst>
              <c:ext xmlns:c16="http://schemas.microsoft.com/office/drawing/2014/chart" uri="{C3380CC4-5D6E-409C-BE32-E72D297353CC}">
                <c16:uniqueId val="{00000002-CF05-4CCE-98E4-9E4F42490C18}"/>
              </c:ext>
            </c:extLst>
          </c:dPt>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ontserrat" panose="00000500000000000000" pitchFamily="2"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Total Leads</c:v>
                </c:pt>
                <c:pt idx="1">
                  <c:v>Unique Accounts</c:v>
                </c:pt>
              </c:strCache>
            </c:strRef>
          </c:cat>
          <c:val>
            <c:numRef>
              <c:f>Sheet1!$C$2:$C$3</c:f>
              <c:numCache>
                <c:formatCode>General</c:formatCode>
                <c:ptCount val="2"/>
                <c:pt idx="0">
                  <c:v>805</c:v>
                </c:pt>
                <c:pt idx="1">
                  <c:v>466</c:v>
                </c:pt>
              </c:numCache>
            </c:numRef>
          </c:val>
          <c:extLst>
            <c:ext xmlns:c16="http://schemas.microsoft.com/office/drawing/2014/chart" uri="{C3380CC4-5D6E-409C-BE32-E72D297353CC}">
              <c16:uniqueId val="{00000003-CF05-4CCE-98E4-9E4F42490C18}"/>
            </c:ext>
          </c:extLst>
        </c:ser>
        <c:dLbls>
          <c:dLblPos val="outEnd"/>
          <c:showLegendKey val="0"/>
          <c:showVal val="1"/>
          <c:showCatName val="0"/>
          <c:showSerName val="0"/>
          <c:showPercent val="0"/>
          <c:showBubbleSize val="0"/>
        </c:dLbls>
        <c:gapWidth val="50"/>
        <c:axId val="1810501776"/>
        <c:axId val="1812614352"/>
      </c:barChart>
      <c:catAx>
        <c:axId val="18105017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812614352"/>
        <c:crosses val="autoZero"/>
        <c:auto val="1"/>
        <c:lblAlgn val="ctr"/>
        <c:lblOffset val="100"/>
        <c:noMultiLvlLbl val="0"/>
      </c:catAx>
      <c:valAx>
        <c:axId val="1812614352"/>
        <c:scaling>
          <c:orientation val="minMax"/>
        </c:scaling>
        <c:delete val="1"/>
        <c:axPos val="l"/>
        <c:numFmt formatCode="General" sourceLinked="1"/>
        <c:majorTickMark val="out"/>
        <c:minorTickMark val="none"/>
        <c:tickLblPos val="nextTo"/>
        <c:crossAx val="1810501776"/>
        <c:crosses val="autoZero"/>
        <c:crossBetween val="between"/>
      </c:valAx>
      <c:spPr>
        <a:noFill/>
        <a:ln>
          <a:noFill/>
        </a:ln>
        <a:effectLst/>
      </c:spPr>
    </c:plotArea>
    <c:legend>
      <c:legendPos val="b"/>
      <c:layout>
        <c:manualLayout>
          <c:xMode val="edge"/>
          <c:yMode val="edge"/>
          <c:x val="0.40227551017212604"/>
          <c:y val="1.9776345015448483E-2"/>
          <c:w val="0.24184961600733224"/>
          <c:h val="5.4000295048381698E-2"/>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ontserrat" panose="00000500000000000000" pitchFamily="2"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Total Leads</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Pt>
            <c:idx val="2"/>
            <c:marker>
              <c:symbol val="circle"/>
              <c:size val="5"/>
              <c:spPr>
                <a:solidFill>
                  <a:schemeClr val="accent1"/>
                </a:solidFill>
                <a:ln w="9525">
                  <a:solidFill>
                    <a:schemeClr val="accent1"/>
                  </a:solidFill>
                  <a:prstDash val="dash"/>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1-57B9-49F9-A5CC-FADCB9011A78}"/>
              </c:ext>
            </c:extLst>
          </c:dPt>
          <c:dPt>
            <c:idx val="3"/>
            <c:marker>
              <c:symbol val="circle"/>
              <c:size val="5"/>
              <c:spPr>
                <a:solidFill>
                  <a:schemeClr val="accent1"/>
                </a:solidFill>
                <a:ln w="9525">
                  <a:solidFill>
                    <a:schemeClr val="accent1"/>
                  </a:solidFill>
                  <a:prstDash val="dash"/>
                </a:ln>
                <a:effectLst/>
              </c:spPr>
            </c:marker>
            <c:bubble3D val="0"/>
            <c:spPr>
              <a:ln w="28575" cap="rnd">
                <a:solidFill>
                  <a:schemeClr val="accent1"/>
                </a:solidFill>
                <a:prstDash val="dash"/>
                <a:round/>
              </a:ln>
              <a:effectLst/>
            </c:spPr>
            <c:extLst>
              <c:ext xmlns:c16="http://schemas.microsoft.com/office/drawing/2014/chart" uri="{C3380CC4-5D6E-409C-BE32-E72D297353CC}">
                <c16:uniqueId val="{00000003-57B9-49F9-A5CC-FADCB9011A7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Sheet1!$B$2:$B$5</c:f>
              <c:numCache>
                <c:formatCode>General</c:formatCode>
                <c:ptCount val="4"/>
                <c:pt idx="0">
                  <c:v>799</c:v>
                </c:pt>
                <c:pt idx="1">
                  <c:v>805</c:v>
                </c:pt>
                <c:pt idx="2">
                  <c:v>811</c:v>
                </c:pt>
                <c:pt idx="3">
                  <c:v>817</c:v>
                </c:pt>
              </c:numCache>
            </c:numRef>
          </c:val>
          <c:smooth val="0"/>
          <c:extLst>
            <c:ext xmlns:c16="http://schemas.microsoft.com/office/drawing/2014/chart" uri="{C3380CC4-5D6E-409C-BE32-E72D297353CC}">
              <c16:uniqueId val="{00000004-57B9-49F9-A5CC-FADCB9011A78}"/>
            </c:ext>
          </c:extLst>
        </c:ser>
        <c:ser>
          <c:idx val="1"/>
          <c:order val="1"/>
          <c:tx>
            <c:strRef>
              <c:f>Sheet1!$C$1</c:f>
              <c:strCache>
                <c:ptCount val="1"/>
                <c:pt idx="0">
                  <c:v>Unique Accounts</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Pt>
            <c:idx val="2"/>
            <c:marker>
              <c:symbol val="circle"/>
              <c:size val="5"/>
              <c:spPr>
                <a:solidFill>
                  <a:schemeClr val="accent2"/>
                </a:solidFill>
                <a:ln w="9525">
                  <a:solidFill>
                    <a:schemeClr val="accent2"/>
                  </a:solidFill>
                  <a:prstDash val="dash"/>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6-57B9-49F9-A5CC-FADCB9011A78}"/>
              </c:ext>
            </c:extLst>
          </c:dPt>
          <c:dPt>
            <c:idx val="3"/>
            <c:marker>
              <c:symbol val="circle"/>
              <c:size val="5"/>
              <c:spPr>
                <a:solidFill>
                  <a:schemeClr val="accent2"/>
                </a:solidFill>
                <a:ln w="9525">
                  <a:solidFill>
                    <a:schemeClr val="accent2"/>
                  </a:solidFill>
                  <a:prstDash val="dash"/>
                </a:ln>
                <a:effectLst/>
              </c:spPr>
            </c:marker>
            <c:bubble3D val="0"/>
            <c:spPr>
              <a:ln w="28575" cap="rnd">
                <a:solidFill>
                  <a:schemeClr val="accent2"/>
                </a:solidFill>
                <a:prstDash val="dash"/>
                <a:round/>
              </a:ln>
              <a:effectLst/>
            </c:spPr>
            <c:extLst>
              <c:ext xmlns:c16="http://schemas.microsoft.com/office/drawing/2014/chart" uri="{C3380CC4-5D6E-409C-BE32-E72D297353CC}">
                <c16:uniqueId val="{00000008-57B9-49F9-A5CC-FADCB9011A78}"/>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Q1</c:v>
                </c:pt>
                <c:pt idx="1">
                  <c:v>Q2</c:v>
                </c:pt>
                <c:pt idx="2">
                  <c:v>Q3</c:v>
                </c:pt>
                <c:pt idx="3">
                  <c:v>Q4</c:v>
                </c:pt>
              </c:strCache>
            </c:strRef>
          </c:cat>
          <c:val>
            <c:numRef>
              <c:f>Sheet1!$C$2:$C$5</c:f>
              <c:numCache>
                <c:formatCode>General</c:formatCode>
                <c:ptCount val="4"/>
                <c:pt idx="0">
                  <c:v>393</c:v>
                </c:pt>
                <c:pt idx="1">
                  <c:v>466</c:v>
                </c:pt>
                <c:pt idx="2">
                  <c:v>553</c:v>
                </c:pt>
                <c:pt idx="3">
                  <c:v>656</c:v>
                </c:pt>
              </c:numCache>
            </c:numRef>
          </c:val>
          <c:smooth val="0"/>
          <c:extLst>
            <c:ext xmlns:c16="http://schemas.microsoft.com/office/drawing/2014/chart" uri="{C3380CC4-5D6E-409C-BE32-E72D297353CC}">
              <c16:uniqueId val="{00000009-57B9-49F9-A5CC-FADCB9011A78}"/>
            </c:ext>
          </c:extLst>
        </c:ser>
        <c:dLbls>
          <c:dLblPos val="t"/>
          <c:showLegendKey val="0"/>
          <c:showVal val="1"/>
          <c:showCatName val="0"/>
          <c:showSerName val="0"/>
          <c:showPercent val="0"/>
          <c:showBubbleSize val="0"/>
        </c:dLbls>
        <c:marker val="1"/>
        <c:smooth val="0"/>
        <c:axId val="1422959104"/>
        <c:axId val="1422959584"/>
      </c:lineChart>
      <c:catAx>
        <c:axId val="1422959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422959584"/>
        <c:crosses val="autoZero"/>
        <c:auto val="1"/>
        <c:lblAlgn val="ctr"/>
        <c:lblOffset val="100"/>
        <c:noMultiLvlLbl val="0"/>
      </c:catAx>
      <c:valAx>
        <c:axId val="1422959584"/>
        <c:scaling>
          <c:orientation val="minMax"/>
          <c:min val="3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422959104"/>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Leads</c:v>
                </c:pt>
              </c:strCache>
            </c:strRef>
          </c:tx>
          <c:spPr>
            <a:solidFill>
              <a:schemeClr val="accent1"/>
            </a:solidFill>
            <a:ln>
              <a:noFill/>
            </a:ln>
            <a:effectLst/>
          </c:spPr>
          <c:invertIfNegative val="0"/>
          <c:dPt>
            <c:idx val="3"/>
            <c:invertIfNegative val="0"/>
            <c:bubble3D val="0"/>
            <c:spPr>
              <a:solidFill>
                <a:srgbClr val="1C6BFF"/>
              </a:solidFill>
              <a:ln>
                <a:solidFill>
                  <a:srgbClr val="1C6BFF"/>
                </a:solidFill>
              </a:ln>
              <a:effectLst/>
            </c:spPr>
            <c:extLst>
              <c:ext xmlns:c16="http://schemas.microsoft.com/office/drawing/2014/chart" uri="{C3380CC4-5D6E-409C-BE32-E72D297353CC}">
                <c16:uniqueId val="{00000001-FBD4-47F2-B05A-69ADAEE1007C}"/>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Lifetime of 
Healthcare 
Costs in the 
U.S.</c:v>
                </c:pt>
                <c:pt idx="1">
                  <c:v>Recognizing Burnout 
in Healthcare Staff 
and Ideas for 
Addressing It</c:v>
                </c:pt>
                <c:pt idx="2">
                  <c:v>The Role of 
Third-Party  Financing 
in the Health 
and  Wellness 
Payment Landscape</c:v>
                </c:pt>
                <c:pt idx="3">
                  <c:v>How Cost 
Impacts the 
Patient and 
Provider Journey</c:v>
                </c:pt>
              </c:strCache>
            </c:strRef>
          </c:cat>
          <c:val>
            <c:numRef>
              <c:f>Sheet1!$B$2:$B$5</c:f>
              <c:numCache>
                <c:formatCode>General</c:formatCode>
                <c:ptCount val="4"/>
                <c:pt idx="0">
                  <c:v>390</c:v>
                </c:pt>
                <c:pt idx="1">
                  <c:v>394</c:v>
                </c:pt>
                <c:pt idx="2">
                  <c:v>415</c:v>
                </c:pt>
                <c:pt idx="3">
                  <c:v>422</c:v>
                </c:pt>
              </c:numCache>
            </c:numRef>
          </c:val>
          <c:extLst>
            <c:ext xmlns:c16="http://schemas.microsoft.com/office/drawing/2014/chart" uri="{C3380CC4-5D6E-409C-BE32-E72D297353CC}">
              <c16:uniqueId val="{00000002-FBD4-47F2-B05A-69ADAEE1007C}"/>
            </c:ext>
          </c:extLst>
        </c:ser>
        <c:dLbls>
          <c:dLblPos val="outEnd"/>
          <c:showLegendKey val="0"/>
          <c:showVal val="1"/>
          <c:showCatName val="0"/>
          <c:showSerName val="0"/>
          <c:showPercent val="0"/>
          <c:showBubbleSize val="0"/>
        </c:dLbls>
        <c:gapWidth val="5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Leads</c:v>
                </c:pt>
              </c:strCache>
            </c:strRef>
          </c:tx>
          <c:spPr>
            <a:solidFill>
              <a:schemeClr val="accent1"/>
            </a:solidFill>
            <a:ln>
              <a:noFill/>
            </a:ln>
            <a:effectLst/>
          </c:spPr>
          <c:invertIfNegative val="0"/>
          <c:dPt>
            <c:idx val="3"/>
            <c:invertIfNegative val="0"/>
            <c:bubble3D val="0"/>
            <c:spPr>
              <a:solidFill>
                <a:schemeClr val="accent1"/>
              </a:solidFill>
              <a:ln>
                <a:solidFill>
                  <a:srgbClr val="1C6BFF"/>
                </a:solidFill>
              </a:ln>
              <a:effectLst/>
            </c:spPr>
            <c:extLst>
              <c:ext xmlns:c16="http://schemas.microsoft.com/office/drawing/2014/chart" uri="{C3380CC4-5D6E-409C-BE32-E72D297353CC}">
                <c16:uniqueId val="{00000001-8DCC-4902-8178-B2ACEA13ACF0}"/>
              </c:ext>
            </c:extLst>
          </c:dPt>
          <c:dPt>
            <c:idx val="8"/>
            <c:invertIfNegative val="0"/>
            <c:bubble3D val="0"/>
            <c:spPr>
              <a:solidFill>
                <a:srgbClr val="1C6BFF"/>
              </a:solidFill>
              <a:ln>
                <a:noFill/>
              </a:ln>
              <a:effectLst/>
            </c:spPr>
            <c:extLst>
              <c:ext xmlns:c16="http://schemas.microsoft.com/office/drawing/2014/chart" uri="{C3380CC4-5D6E-409C-BE32-E72D297353CC}">
                <c16:uniqueId val="{00000003-8DCC-4902-8178-B2ACEA13ACF0}"/>
              </c:ext>
            </c:extLst>
          </c:dPt>
          <c:dPt>
            <c:idx val="9"/>
            <c:invertIfNegative val="0"/>
            <c:bubble3D val="0"/>
            <c:spPr>
              <a:solidFill>
                <a:srgbClr val="1C6BFF"/>
              </a:solidFill>
              <a:ln>
                <a:noFill/>
              </a:ln>
              <a:effectLst/>
            </c:spPr>
            <c:extLst>
              <c:ext xmlns:c16="http://schemas.microsoft.com/office/drawing/2014/chart" uri="{C3380CC4-5D6E-409C-BE32-E72D297353CC}">
                <c16:uniqueId val="{00000005-8DCC-4902-8178-B2ACEA13ACF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payment solutions</c:v>
                </c:pt>
                <c:pt idx="1">
                  <c:v>klarna</c:v>
                </c:pt>
                <c:pt idx="2">
                  <c:v>paypal pay later</c:v>
                </c:pt>
                <c:pt idx="3">
                  <c:v>paypal (pypl)</c:v>
                </c:pt>
                <c:pt idx="4">
                  <c:v>afterpay</c:v>
                </c:pt>
                <c:pt idx="5">
                  <c:v>wells fargo (wfc)</c:v>
                </c:pt>
                <c:pt idx="6">
                  <c:v>debt relief</c:v>
                </c:pt>
                <c:pt idx="7">
                  <c:v>paypal pay in 4</c:v>
                </c:pt>
                <c:pt idx="8">
                  <c:v>patient payments</c:v>
                </c:pt>
                <c:pt idx="9">
                  <c:v>medical billing</c:v>
                </c:pt>
              </c:strCache>
            </c:strRef>
          </c:cat>
          <c:val>
            <c:numRef>
              <c:f>Sheet1!$B$2:$B$11</c:f>
              <c:numCache>
                <c:formatCode>General</c:formatCode>
                <c:ptCount val="10"/>
                <c:pt idx="0">
                  <c:v>95</c:v>
                </c:pt>
                <c:pt idx="1">
                  <c:v>117</c:v>
                </c:pt>
                <c:pt idx="2">
                  <c:v>129</c:v>
                </c:pt>
                <c:pt idx="3">
                  <c:v>235</c:v>
                </c:pt>
                <c:pt idx="4">
                  <c:v>244</c:v>
                </c:pt>
                <c:pt idx="5">
                  <c:v>276</c:v>
                </c:pt>
                <c:pt idx="6">
                  <c:v>279</c:v>
                </c:pt>
                <c:pt idx="7">
                  <c:v>382</c:v>
                </c:pt>
                <c:pt idx="8">
                  <c:v>436</c:v>
                </c:pt>
                <c:pt idx="9">
                  <c:v>468</c:v>
                </c:pt>
              </c:numCache>
            </c:numRef>
          </c:val>
          <c:extLst>
            <c:ext xmlns:c16="http://schemas.microsoft.com/office/drawing/2014/chart" uri="{C3380CC4-5D6E-409C-BE32-E72D297353CC}">
              <c16:uniqueId val="{00000006-8DCC-4902-8178-B2ACEA13ACF0}"/>
            </c:ext>
          </c:extLst>
        </c:ser>
        <c:dLbls>
          <c:dLblPos val="outEnd"/>
          <c:showLegendKey val="0"/>
          <c:showVal val="1"/>
          <c:showCatName val="0"/>
          <c:showSerName val="0"/>
          <c:showPercent val="0"/>
          <c:showBubbleSize val="0"/>
        </c:dLbls>
        <c:gapWidth val="5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lumMod val="75000"/>
                </a:schemeClr>
              </a:solidFill>
              <a:ln w="19050">
                <a:solidFill>
                  <a:schemeClr val="lt1"/>
                </a:solidFill>
              </a:ln>
              <a:effectLst/>
            </c:spPr>
            <c:extLst>
              <c:ext xmlns:c16="http://schemas.microsoft.com/office/drawing/2014/chart" uri="{C3380CC4-5D6E-409C-BE32-E72D297353CC}">
                <c16:uniqueId val="{00000001-37C7-48A2-A5A4-81088F865FEF}"/>
              </c:ext>
            </c:extLst>
          </c:dPt>
          <c:dPt>
            <c:idx val="1"/>
            <c:bubble3D val="0"/>
            <c:spPr>
              <a:solidFill>
                <a:srgbClr val="1C6BFF"/>
              </a:solidFill>
              <a:ln w="19050">
                <a:solidFill>
                  <a:schemeClr val="lt1"/>
                </a:solidFill>
              </a:ln>
              <a:effectLst/>
            </c:spPr>
            <c:extLst>
              <c:ext xmlns:c16="http://schemas.microsoft.com/office/drawing/2014/chart" uri="{C3380CC4-5D6E-409C-BE32-E72D297353CC}">
                <c16:uniqueId val="{00000003-37C7-48A2-A5A4-81088F865FEF}"/>
              </c:ext>
            </c:extLst>
          </c:dPt>
          <c:dPt>
            <c:idx val="2"/>
            <c:bubble3D val="0"/>
            <c:spPr>
              <a:solidFill>
                <a:schemeClr val="accent1">
                  <a:lumMod val="40000"/>
                  <a:lumOff val="60000"/>
                </a:schemeClr>
              </a:solidFill>
              <a:ln w="19050">
                <a:solidFill>
                  <a:schemeClr val="lt1"/>
                </a:solidFill>
              </a:ln>
              <a:effectLst/>
            </c:spPr>
            <c:extLst>
              <c:ext xmlns:c16="http://schemas.microsoft.com/office/drawing/2014/chart" uri="{C3380CC4-5D6E-409C-BE32-E72D297353CC}">
                <c16:uniqueId val="{00000005-37C7-48A2-A5A4-81088F865FEF}"/>
              </c:ext>
            </c:extLst>
          </c:dPt>
          <c:dPt>
            <c:idx val="3"/>
            <c:bubble3D val="0"/>
            <c:spPr>
              <a:solidFill>
                <a:schemeClr val="tx2">
                  <a:lumMod val="75000"/>
                  <a:lumOff val="25000"/>
                </a:schemeClr>
              </a:solidFill>
              <a:ln w="19050">
                <a:solidFill>
                  <a:schemeClr val="lt1"/>
                </a:solidFill>
              </a:ln>
              <a:effectLst/>
            </c:spPr>
            <c:extLst>
              <c:ext xmlns:c16="http://schemas.microsoft.com/office/drawing/2014/chart" uri="{C3380CC4-5D6E-409C-BE32-E72D297353CC}">
                <c16:uniqueId val="{00000007-37C7-48A2-A5A4-81088F865FE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37C7-48A2-A5A4-81088F865FEF}"/>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37C7-48A2-A5A4-81088F865FEF}"/>
                </c:ext>
              </c:extLst>
            </c:dLbl>
            <c:dLbl>
              <c:idx val="1"/>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37C7-48A2-A5A4-81088F865FEF}"/>
                </c:ext>
              </c:extLst>
            </c:dLbl>
            <c:dLbl>
              <c:idx val="2"/>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37C7-48A2-A5A4-81088F865FEF}"/>
                </c:ext>
              </c:extLst>
            </c:dLbl>
            <c:dLbl>
              <c:idx val="3"/>
              <c:layout>
                <c:manualLayout>
                  <c:x val="-5.6312173406021904E-2"/>
                  <c:y val="-0.1399474560569548"/>
                </c:manualLayout>
              </c:layout>
              <c:spPr>
                <a:noFill/>
                <a:ln>
                  <a:noFill/>
                </a:ln>
                <a:effectLst/>
              </c:spPr>
              <c:txPr>
                <a:bodyPr rot="0" spcFirstLastPara="1" vertOverflow="ellipsis" vert="horz" wrap="square" lIns="38100" tIns="19050" rIns="38100" bIns="19050" anchor="ctr" anchorCtr="0">
                  <a:spAutoFit/>
                </a:bodyPr>
                <a:lstStyle/>
                <a:p>
                  <a:pPr algn="ctr">
                    <a:defRPr lang="en-US" sz="1197"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7C7-48A2-A5A4-81088F865FEF}"/>
                </c:ext>
              </c:extLst>
            </c:dLbl>
            <c:dLbl>
              <c:idx val="4"/>
              <c:layout>
                <c:manualLayout>
                  <c:x val="-5.5503184440578671E-3"/>
                  <c:y val="-0.14583333333333334"/>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7C7-48A2-A5A4-81088F865FE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financial</c:v>
                </c:pt>
                <c:pt idx="1">
                  <c:v>administration</c:v>
                </c:pt>
                <c:pt idx="2">
                  <c:v>personal finance</c:v>
                </c:pt>
                <c:pt idx="3">
                  <c:v>transactions &amp; payments</c:v>
                </c:pt>
                <c:pt idx="4">
                  <c:v>accounting</c:v>
                </c:pt>
              </c:strCache>
            </c:strRef>
          </c:cat>
          <c:val>
            <c:numRef>
              <c:f>Sheet1!$B$2:$B$6</c:f>
              <c:numCache>
                <c:formatCode>General</c:formatCode>
                <c:ptCount val="5"/>
                <c:pt idx="0">
                  <c:v>1544</c:v>
                </c:pt>
                <c:pt idx="1">
                  <c:v>904</c:v>
                </c:pt>
                <c:pt idx="2">
                  <c:v>279</c:v>
                </c:pt>
                <c:pt idx="3">
                  <c:v>129</c:v>
                </c:pt>
                <c:pt idx="4">
                  <c:v>19</c:v>
                </c:pt>
              </c:numCache>
            </c:numRef>
          </c:val>
          <c:extLst>
            <c:ext xmlns:c16="http://schemas.microsoft.com/office/drawing/2014/chart" uri="{C3380CC4-5D6E-409C-BE32-E72D297353CC}">
              <c16:uniqueId val="{0000000A-37C7-48A2-A5A4-81088F865FEF}"/>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ayout>
        <c:manualLayout>
          <c:xMode val="edge"/>
          <c:yMode val="edge"/>
          <c:x val="0.60827123844658215"/>
          <c:y val="0"/>
          <c:w val="0.35179831132005684"/>
          <c:h val="0.984519903849296"/>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Leads</c:v>
                </c:pt>
              </c:strCache>
            </c:strRef>
          </c:tx>
          <c:spPr>
            <a:solidFill>
              <a:schemeClr val="accent1"/>
            </a:solidFill>
            <a:ln>
              <a:noFill/>
            </a:ln>
            <a:effectLst/>
          </c:spPr>
          <c:invertIfNegative val="0"/>
          <c:dPt>
            <c:idx val="0"/>
            <c:invertIfNegative val="0"/>
            <c:bubble3D val="0"/>
            <c:spPr>
              <a:solidFill>
                <a:srgbClr val="1C6BFF"/>
              </a:solidFill>
              <a:ln>
                <a:noFill/>
              </a:ln>
              <a:effectLst/>
            </c:spPr>
            <c:extLst>
              <c:ext xmlns:c16="http://schemas.microsoft.com/office/drawing/2014/chart" uri="{C3380CC4-5D6E-409C-BE32-E72D297353CC}">
                <c16:uniqueId val="{00000001-32C6-4148-BDFF-88D8787BFCF7}"/>
              </c:ext>
            </c:extLst>
          </c:dPt>
          <c:dPt>
            <c:idx val="1"/>
            <c:invertIfNegative val="0"/>
            <c:bubble3D val="0"/>
            <c:spPr>
              <a:solidFill>
                <a:srgbClr val="1C6BFF"/>
              </a:solidFill>
              <a:ln>
                <a:noFill/>
              </a:ln>
              <a:effectLst/>
            </c:spPr>
            <c:extLst>
              <c:ext xmlns:c16="http://schemas.microsoft.com/office/drawing/2014/chart" uri="{C3380CC4-5D6E-409C-BE32-E72D297353CC}">
                <c16:uniqueId val="{00000003-32C6-4148-BDFF-88D8787BFCF7}"/>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32C6-4148-BDFF-88D8787BFCF7}"/>
              </c:ext>
            </c:extLst>
          </c:dPt>
          <c:dPt>
            <c:idx val="3"/>
            <c:invertIfNegative val="0"/>
            <c:bubble3D val="0"/>
            <c:spPr>
              <a:solidFill>
                <a:schemeClr val="accent1"/>
              </a:solidFill>
              <a:ln>
                <a:solidFill>
                  <a:srgbClr val="1C6BFF"/>
                </a:solidFill>
              </a:ln>
              <a:effectLst/>
            </c:spPr>
            <c:extLst>
              <c:ext xmlns:c16="http://schemas.microsoft.com/office/drawing/2014/chart" uri="{C3380CC4-5D6E-409C-BE32-E72D297353CC}">
                <c16:uniqueId val="{00000007-32C6-4148-BDFF-88D8787BFCF7}"/>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Engaged</c:v>
                </c:pt>
                <c:pt idx="1">
                  <c:v>Reached</c:v>
                </c:pt>
                <c:pt idx="2">
                  <c:v>Trending</c:v>
                </c:pt>
                <c:pt idx="3">
                  <c:v>Targeted</c:v>
                </c:pt>
              </c:strCache>
            </c:strRef>
          </c:cat>
          <c:val>
            <c:numRef>
              <c:f>Sheet1!$B$2:$B$5</c:f>
              <c:numCache>
                <c:formatCode>General</c:formatCode>
                <c:ptCount val="4"/>
                <c:pt idx="0">
                  <c:v>628</c:v>
                </c:pt>
                <c:pt idx="1">
                  <c:v>628</c:v>
                </c:pt>
                <c:pt idx="2" formatCode="#,##0">
                  <c:v>1719</c:v>
                </c:pt>
                <c:pt idx="3" formatCode="#,##0">
                  <c:v>1719</c:v>
                </c:pt>
              </c:numCache>
            </c:numRef>
          </c:val>
          <c:extLst>
            <c:ext xmlns:c16="http://schemas.microsoft.com/office/drawing/2014/chart" uri="{C3380CC4-5D6E-409C-BE32-E72D297353CC}">
              <c16:uniqueId val="{00000008-32C6-4148-BDFF-88D8787BFCF7}"/>
            </c:ext>
          </c:extLst>
        </c:ser>
        <c:dLbls>
          <c:dLblPos val="outEnd"/>
          <c:showLegendKey val="0"/>
          <c:showVal val="1"/>
          <c:showCatName val="0"/>
          <c:showSerName val="0"/>
          <c:showPercent val="0"/>
          <c:showBubbleSize val="0"/>
        </c:dLbls>
        <c:gapWidth val="70"/>
        <c:axId val="1131316575"/>
        <c:axId val="1131310335"/>
      </c:barChart>
      <c:catAx>
        <c:axId val="1131316575"/>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ontserrat Medium" panose="00000600000000000000" pitchFamily="2" charset="0"/>
                <a:ea typeface="+mn-ea"/>
                <a:cs typeface="+mn-cs"/>
              </a:defRPr>
            </a:pPr>
            <a:endParaRPr lang="en-US"/>
          </a:p>
        </c:txPr>
        <c:crossAx val="1131310335"/>
        <c:crosses val="autoZero"/>
        <c:auto val="1"/>
        <c:lblAlgn val="ctr"/>
        <c:lblOffset val="100"/>
        <c:noMultiLvlLbl val="0"/>
      </c:catAx>
      <c:valAx>
        <c:axId val="1131310335"/>
        <c:scaling>
          <c:orientation val="minMax"/>
        </c:scaling>
        <c:delete val="1"/>
        <c:axPos val="t"/>
        <c:numFmt formatCode="General" sourceLinked="1"/>
        <c:majorTickMark val="out"/>
        <c:minorTickMark val="none"/>
        <c:tickLblPos val="nextTo"/>
        <c:crossAx val="1131316575"/>
        <c:crosses val="autoZero"/>
        <c:crossBetween val="between"/>
      </c:valAx>
      <c:spPr>
        <a:noFill/>
        <a:ln cmpd="dbl">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Accounts</c:v>
                </c:pt>
              </c:strCache>
            </c:strRef>
          </c:tx>
          <c:spPr>
            <a:solidFill>
              <a:schemeClr val="accent1"/>
            </a:solidFill>
            <a:ln>
              <a:noFill/>
            </a:ln>
            <a:effectLst/>
          </c:spPr>
          <c:invertIfNegative val="0"/>
          <c:dPt>
            <c:idx val="0"/>
            <c:invertIfNegative val="0"/>
            <c:bubble3D val="0"/>
            <c:spPr>
              <a:solidFill>
                <a:schemeClr val="bg2">
                  <a:lumMod val="75000"/>
                </a:schemeClr>
              </a:solidFill>
              <a:ln>
                <a:noFill/>
              </a:ln>
              <a:effectLst/>
            </c:spPr>
            <c:extLst>
              <c:ext xmlns:c16="http://schemas.microsoft.com/office/drawing/2014/chart" uri="{C3380CC4-5D6E-409C-BE32-E72D297353CC}">
                <c16:uniqueId val="{00000001-4896-4FAD-8031-9F5CC2872050}"/>
              </c:ext>
            </c:extLst>
          </c:dPt>
          <c:dPt>
            <c:idx val="2"/>
            <c:invertIfNegative val="0"/>
            <c:bubble3D val="0"/>
            <c:spPr>
              <a:solidFill>
                <a:srgbClr val="1C6BFF"/>
              </a:solidFill>
              <a:ln>
                <a:noFill/>
              </a:ln>
              <a:effectLst/>
            </c:spPr>
            <c:extLst>
              <c:ext xmlns:c16="http://schemas.microsoft.com/office/drawing/2014/chart" uri="{C3380CC4-5D6E-409C-BE32-E72D297353CC}">
                <c16:uniqueId val="{00000003-4896-4FAD-8031-9F5CC2872050}"/>
              </c:ext>
            </c:extLst>
          </c:dPt>
          <c:dPt>
            <c:idx val="3"/>
            <c:invertIfNegative val="0"/>
            <c:bubble3D val="0"/>
            <c:spPr>
              <a:solidFill>
                <a:srgbClr val="1C6BFF"/>
              </a:solidFill>
              <a:ln>
                <a:noFill/>
              </a:ln>
              <a:effectLst/>
            </c:spPr>
            <c:extLst>
              <c:ext xmlns:c16="http://schemas.microsoft.com/office/drawing/2014/chart" uri="{C3380CC4-5D6E-409C-BE32-E72D297353CC}">
                <c16:uniqueId val="{00000005-4896-4FAD-8031-9F5CC2872050}"/>
              </c:ext>
            </c:extLst>
          </c:dPt>
          <c:dPt>
            <c:idx val="4"/>
            <c:invertIfNegative val="0"/>
            <c:bubble3D val="0"/>
            <c:spPr>
              <a:solidFill>
                <a:srgbClr val="1C6BFF"/>
              </a:solidFill>
              <a:ln>
                <a:noFill/>
              </a:ln>
              <a:effectLst/>
            </c:spPr>
            <c:extLst>
              <c:ext xmlns:c16="http://schemas.microsoft.com/office/drawing/2014/chart" uri="{C3380CC4-5D6E-409C-BE32-E72D297353CC}">
                <c16:uniqueId val="{00000007-4896-4FAD-8031-9F5CC2872050}"/>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No Active Signals</c:v>
                </c:pt>
                <c:pt idx="1">
                  <c:v>Awareness</c:v>
                </c:pt>
                <c:pt idx="2">
                  <c:v>Decision</c:v>
                </c:pt>
                <c:pt idx="3">
                  <c:v>Consideration</c:v>
                </c:pt>
                <c:pt idx="4">
                  <c:v>Preawareness</c:v>
                </c:pt>
              </c:strCache>
            </c:strRef>
          </c:cat>
          <c:val>
            <c:numRef>
              <c:f>Sheet1!$B$2:$B$6</c:f>
              <c:numCache>
                <c:formatCode>General</c:formatCode>
                <c:ptCount val="5"/>
                <c:pt idx="0">
                  <c:v>703</c:v>
                </c:pt>
                <c:pt idx="1">
                  <c:v>541</c:v>
                </c:pt>
                <c:pt idx="2">
                  <c:v>408</c:v>
                </c:pt>
                <c:pt idx="3">
                  <c:v>52</c:v>
                </c:pt>
                <c:pt idx="4">
                  <c:v>15</c:v>
                </c:pt>
              </c:numCache>
            </c:numRef>
          </c:val>
          <c:extLst>
            <c:ext xmlns:c16="http://schemas.microsoft.com/office/drawing/2014/chart" uri="{C3380CC4-5D6E-409C-BE32-E72D297353CC}">
              <c16:uniqueId val="{00000008-4896-4FAD-8031-9F5CC2872050}"/>
            </c:ext>
          </c:extLst>
        </c:ser>
        <c:dLbls>
          <c:dLblPos val="outEnd"/>
          <c:showLegendKey val="0"/>
          <c:showVal val="1"/>
          <c:showCatName val="0"/>
          <c:showSerName val="0"/>
          <c:showPercent val="0"/>
          <c:showBubbleSize val="0"/>
        </c:dLbls>
        <c:gapWidth val="70"/>
        <c:overlap val="-27"/>
        <c:axId val="1297389776"/>
        <c:axId val="1297391696"/>
      </c:barChart>
      <c:catAx>
        <c:axId val="129738977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ontserrat" panose="00000500000000000000" pitchFamily="2" charset="0"/>
                <a:ea typeface="+mn-ea"/>
                <a:cs typeface="+mn-cs"/>
              </a:defRPr>
            </a:pPr>
            <a:endParaRPr lang="en-US"/>
          </a:p>
        </c:txPr>
        <c:crossAx val="1297391696"/>
        <c:crosses val="autoZero"/>
        <c:auto val="1"/>
        <c:lblAlgn val="ctr"/>
        <c:lblOffset val="100"/>
        <c:noMultiLvlLbl val="0"/>
      </c:catAx>
      <c:valAx>
        <c:axId val="1297391696"/>
        <c:scaling>
          <c:orientation val="minMax"/>
        </c:scaling>
        <c:delete val="1"/>
        <c:axPos val="l"/>
        <c:numFmt formatCode="General" sourceLinked="1"/>
        <c:majorTickMark val="out"/>
        <c:minorTickMark val="none"/>
        <c:tickLblPos val="nextTo"/>
        <c:crossAx val="12973897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0.2298</cdr:x>
      <cdr:y>0.40188</cdr:y>
    </cdr:from>
    <cdr:to>
      <cdr:x>0.47566</cdr:x>
      <cdr:y>0.62002</cdr:y>
    </cdr:to>
    <cdr:sp macro="" textlink="">
      <cdr:nvSpPr>
        <cdr:cNvPr id="2" name="TextBox 1">
          <a:extLst xmlns:a="http://schemas.openxmlformats.org/drawingml/2006/main">
            <a:ext uri="{FF2B5EF4-FFF2-40B4-BE49-F238E27FC236}">
              <a16:creationId xmlns:a16="http://schemas.microsoft.com/office/drawing/2014/main" id="{88D260A3-7626-87FE-0B54-5E9F1AC27D0E}"/>
            </a:ext>
          </a:extLst>
        </cdr:cNvPr>
        <cdr:cNvSpPr txBox="1"/>
      </cdr:nvSpPr>
      <cdr:spPr>
        <a:xfrm xmlns:a="http://schemas.openxmlformats.org/drawingml/2006/main">
          <a:off x="1140203" y="1057628"/>
          <a:ext cx="1219865" cy="57406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US" sz="1800" b="1" kern="1200" dirty="0">
              <a:solidFill>
                <a:srgbClr val="0F3D63"/>
              </a:solidFill>
            </a:rPr>
            <a:t>2,875</a:t>
          </a:r>
        </a:p>
        <a:p xmlns:a="http://schemas.openxmlformats.org/drawingml/2006/main">
          <a:pPr algn="ctr"/>
          <a:r>
            <a:rPr lang="en-US" kern="1200" dirty="0">
              <a:solidFill>
                <a:srgbClr val="0F3D63"/>
              </a:solidFill>
            </a:rPr>
            <a:t>Mentions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69663-A7D4-4BC9-8F89-32BA51B76897}" type="datetimeFigureOut">
              <a:rPr lang="en-US" smtClean="0"/>
              <a:t>15-Jul-26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F4F127-D13C-411D-AF0F-62BF2B488704}" type="slidenum">
              <a:rPr lang="en-US" smtClean="0"/>
              <a:t>‹#›</a:t>
            </a:fld>
            <a:endParaRPr lang="en-US"/>
          </a:p>
        </p:txBody>
      </p:sp>
    </p:spTree>
    <p:extLst>
      <p:ext uri="{BB962C8B-B14F-4D97-AF65-F5344CB8AC3E}">
        <p14:creationId xmlns:p14="http://schemas.microsoft.com/office/powerpoint/2010/main" val="2159257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C80F-B682-B1BB-B1C7-D3E6840306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5FE3BE-B506-4950-2A65-CA306F7291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94D2BB-828B-E64F-DAF8-87856B4DB045}"/>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93F45DE8-8A4C-3D1A-44B0-3443E939C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18AE3-6414-35F8-C864-0172272FE7CF}"/>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3739499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19470-FD8C-CDE4-9D06-6710F6E84B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ED397F-0B9E-587C-6A15-C18F3D37E4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4B8FE1-7303-D975-A6F2-83F8DF549E96}"/>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2BDF4A8A-2DB4-F206-CB2F-B9C3353D4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E43AA-89E6-0008-B081-5F19D1E1A80D}"/>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61585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74B95-AE88-2C1B-2606-67EF850711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66E46F-4615-839C-42F0-8376581260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34018B-7804-DEB4-4D32-6CB16D98D2A1}"/>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E41E0C3F-6B6B-2D8B-2FFD-19411536B6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939147-A7FC-6F36-0450-E2700808B202}"/>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714879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C225D-5418-12E6-74F9-58FB6AC224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F487CD-F36D-473E-60AB-D0636AAFA5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8F019EC-6679-C4CF-CB3F-ADE13FD2B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720A63-4B54-24CB-1152-B63D5070A3A5}"/>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089EF9EC-EF84-F624-750E-B7FF4D2FB2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0CAA5-75A6-84FE-9D67-E5E84AE5D05C}"/>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129685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797B9-901E-E214-F8C6-F7B31DB0A8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FEB566-9021-95B4-6559-584ACAF59D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77EFD6-A376-C6A3-24BC-77A2CB296E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31BAFA-B70C-9FA8-DC86-D15076A928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2C93B2-60C9-C4DF-9736-449BE4112B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DA2505-FE98-CC11-7511-7D8D7DD91BC8}"/>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8" name="Footer Placeholder 7">
            <a:extLst>
              <a:ext uri="{FF2B5EF4-FFF2-40B4-BE49-F238E27FC236}">
                <a16:creationId xmlns:a16="http://schemas.microsoft.com/office/drawing/2014/main" id="{7D4DBC50-CD4E-84A2-94ED-1C704E2EA9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F0CAB6-5B42-6C4C-AC0F-4FAEB9433339}"/>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490539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85219-B4EE-F7E4-5A5B-27AA0D7572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B7C7177-9CF3-0DD5-49AE-1BE8F991CDEE}"/>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4" name="Footer Placeholder 3">
            <a:extLst>
              <a:ext uri="{FF2B5EF4-FFF2-40B4-BE49-F238E27FC236}">
                <a16:creationId xmlns:a16="http://schemas.microsoft.com/office/drawing/2014/main" id="{02C06067-DA61-F790-33BD-C2852BD00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D49AAB-8C5C-4C53-560E-ED33BFFF1116}"/>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294937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09F232-5236-6E84-47B9-3F85346E8209}"/>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3" name="Footer Placeholder 2">
            <a:extLst>
              <a:ext uri="{FF2B5EF4-FFF2-40B4-BE49-F238E27FC236}">
                <a16:creationId xmlns:a16="http://schemas.microsoft.com/office/drawing/2014/main" id="{37E093A3-16B1-272F-3F87-2244B8C2B8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432E49-9756-0AFA-B88C-114A6455B653}"/>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066111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2A7C-5ACF-6BBD-64C9-727EDD21CA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782C12-14F7-C05E-5D15-7734976057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8F2804-E9C8-7DEB-5400-83F827408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242E37-6536-F712-D959-2CEEAF3B3989}"/>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4CAC4AD7-D3DE-7418-3441-890A49FB97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DF04AE-71C4-6BC1-CC73-42A45F256016}"/>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878191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AA81-736F-643A-30B0-26EE74D98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BE49984-6B2E-0B8C-48FF-7F30BB253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FE05B8-480D-F061-D63B-FB02B495A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E1C2DD-BB8F-3087-F15C-AA3522323EDB}"/>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6" name="Footer Placeholder 5">
            <a:extLst>
              <a:ext uri="{FF2B5EF4-FFF2-40B4-BE49-F238E27FC236}">
                <a16:creationId xmlns:a16="http://schemas.microsoft.com/office/drawing/2014/main" id="{E8C3AC08-3A2D-A251-C375-7C0ED8D309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9D540B-7722-7D18-5FA0-93C33948DDD2}"/>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2750431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FFA2D-425C-A385-E1D7-2E68F9C98D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F69D14-E7C6-E7E6-42D0-D6552A3A2B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71B4B6-9C84-E340-4F21-D0FF7B6575BE}"/>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87F05F4C-8F62-A35B-C690-699BA9E95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9E860-A7D0-DCBC-D94A-E12D36E76E2B}"/>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3453084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AA2E67-7BBA-C8D7-2E09-9F01F7CE8B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0EBE41-D90E-EE68-94D6-7BF86E7266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BFCBA4-BFCF-FF7B-7223-01666E49F07C}"/>
              </a:ext>
            </a:extLst>
          </p:cNvPr>
          <p:cNvSpPr>
            <a:spLocks noGrp="1"/>
          </p:cNvSpPr>
          <p:nvPr>
            <p:ph type="dt" sz="half" idx="10"/>
          </p:nvPr>
        </p:nvSpPr>
        <p:spPr/>
        <p:txBody>
          <a:body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684CBF94-1557-F429-22CA-3B14699B7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C2F12-1E9D-F24C-7AB5-6984A4C3300E}"/>
              </a:ext>
            </a:extLst>
          </p:cNvPr>
          <p:cNvSpPr>
            <a:spLocks noGrp="1"/>
          </p:cNvSpPr>
          <p:nvPr>
            <p:ph type="sldNum" sz="quarter" idx="12"/>
          </p:nvPr>
        </p:nvSpPr>
        <p:spPr/>
        <p:txBody>
          <a:bodyPr/>
          <a:lstStyle/>
          <a:p>
            <a:fld id="{32F97B5D-7784-481A-8005-01EFD7A8D110}" type="slidenum">
              <a:rPr lang="en-US" smtClean="0"/>
              <a:t>‹#›</a:t>
            </a:fld>
            <a:endParaRPr lang="en-US"/>
          </a:p>
        </p:txBody>
      </p:sp>
    </p:spTree>
    <p:extLst>
      <p:ext uri="{BB962C8B-B14F-4D97-AF65-F5344CB8AC3E}">
        <p14:creationId xmlns:p14="http://schemas.microsoft.com/office/powerpoint/2010/main" val="127030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7" name="Google Shape;350;p1">
            <a:extLst>
              <a:ext uri="{FF2B5EF4-FFF2-40B4-BE49-F238E27FC236}">
                <a16:creationId xmlns:a16="http://schemas.microsoft.com/office/drawing/2014/main" id="{D2F88EFE-4220-6F97-58FD-6A179DCE6D18}"/>
              </a:ext>
            </a:extLst>
          </p:cNvPr>
          <p:cNvSpPr/>
          <p:nvPr/>
        </p:nvSpPr>
        <p:spPr>
          <a:xfrm>
            <a:off x="304800" y="261575"/>
            <a:ext cx="11582400" cy="6334850"/>
          </a:xfrm>
          <a:prstGeom prst="roundRect">
            <a:avLst>
              <a:gd name="adj" fmla="val 1991"/>
            </a:avLst>
          </a:prstGeom>
          <a:solidFill>
            <a:srgbClr val="232C85"/>
          </a:solidFill>
          <a:ln>
            <a:noFill/>
          </a:ln>
        </p:spPr>
        <p:txBody>
          <a:bodyPr spcFirstLastPara="1" wrap="square" lIns="45700" tIns="45700" rIns="45700" bIns="4570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rtl="0">
              <a:lnSpc>
                <a:spcPct val="100000"/>
              </a:lnSpc>
              <a:spcBef>
                <a:spcPts val="0"/>
              </a:spcBef>
              <a:spcAft>
                <a:spcPts val="0"/>
              </a:spcAft>
              <a:buClr>
                <a:srgbClr val="FFFFFF"/>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8" name="Google Shape;372;p3" descr="Рисунок 60">
            <a:extLst>
              <a:ext uri="{FF2B5EF4-FFF2-40B4-BE49-F238E27FC236}">
                <a16:creationId xmlns:a16="http://schemas.microsoft.com/office/drawing/2014/main" id="{D510B2B7-8167-F6F1-8B6B-0268BA042D5F}"/>
              </a:ext>
            </a:extLst>
          </p:cNvPr>
          <p:cNvPicPr preferRelativeResize="0"/>
          <p:nvPr/>
        </p:nvPicPr>
        <p:blipFill rotWithShape="1">
          <a:blip r:embed="rId2">
            <a:alphaModFix/>
          </a:blip>
          <a:srcRect/>
          <a:stretch/>
        </p:blipFill>
        <p:spPr>
          <a:xfrm rot="10800000" flipH="1">
            <a:off x="5148679" y="261575"/>
            <a:ext cx="6738521" cy="5727745"/>
          </a:xfrm>
          <a:prstGeom prst="rect">
            <a:avLst/>
          </a:prstGeom>
          <a:noFill/>
          <a:ln>
            <a:noFill/>
          </a:ln>
        </p:spPr>
      </p:pic>
      <p:pic>
        <p:nvPicPr>
          <p:cNvPr id="9" name="Imagen 10" descr="Dibujo en blanco y negro&#10;&#10;Descripción generada automáticamente con confianza baja">
            <a:extLst>
              <a:ext uri="{FF2B5EF4-FFF2-40B4-BE49-F238E27FC236}">
                <a16:creationId xmlns:a16="http://schemas.microsoft.com/office/drawing/2014/main" id="{8E6F0D15-97B8-32C9-B7E3-4F6BD48671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269" y="491760"/>
            <a:ext cx="3171811" cy="506381"/>
          </a:xfrm>
          <a:prstGeom prst="rect">
            <a:avLst/>
          </a:prstGeom>
        </p:spPr>
      </p:pic>
      <p:sp>
        <p:nvSpPr>
          <p:cNvPr id="13" name="object 10">
            <a:extLst>
              <a:ext uri="{FF2B5EF4-FFF2-40B4-BE49-F238E27FC236}">
                <a16:creationId xmlns:a16="http://schemas.microsoft.com/office/drawing/2014/main" id="{50D1555A-F107-E62D-0E55-0604C9BC6004}"/>
              </a:ext>
            </a:extLst>
          </p:cNvPr>
          <p:cNvSpPr txBox="1"/>
          <p:nvPr/>
        </p:nvSpPr>
        <p:spPr>
          <a:xfrm>
            <a:off x="6180155" y="6265929"/>
            <a:ext cx="5407660" cy="228268"/>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sz="1400" b="0" i="0" u="none" strike="noStrike" kern="1200" cap="none" spc="-50" normalizeH="0" baseline="0" noProof="0">
                <a:ln>
                  <a:noFill/>
                </a:ln>
                <a:solidFill>
                  <a:schemeClr val="bg1"/>
                </a:solidFill>
                <a:effectLst/>
                <a:uLnTx/>
                <a:uFillTx/>
                <a:latin typeface="Montserrat" panose="00000500000000000000" pitchFamily="2" charset="0"/>
                <a:cs typeface="Aroania"/>
              </a:rPr>
              <a:t>Convert </a:t>
            </a:r>
            <a:r>
              <a:rPr kumimoji="0" sz="1400" b="0" i="0" u="none" strike="noStrike" kern="1200" cap="none" spc="-45" normalizeH="0" baseline="0" noProof="0">
                <a:ln>
                  <a:noFill/>
                </a:ln>
                <a:solidFill>
                  <a:schemeClr val="bg1"/>
                </a:solidFill>
                <a:effectLst/>
                <a:uLnTx/>
                <a:uFillTx/>
                <a:latin typeface="Montserrat" panose="00000500000000000000" pitchFamily="2" charset="0"/>
                <a:cs typeface="Aroania"/>
              </a:rPr>
              <a:t>Your </a:t>
            </a:r>
            <a:r>
              <a:rPr kumimoji="0" sz="1400" b="0" i="0" u="none" strike="noStrike" kern="1200" cap="none" spc="-80" normalizeH="0" baseline="0" noProof="0">
                <a:ln>
                  <a:noFill/>
                </a:ln>
                <a:solidFill>
                  <a:srgbClr val="009AFF"/>
                </a:solidFill>
                <a:effectLst/>
                <a:uLnTx/>
                <a:uFillTx/>
                <a:latin typeface="Montserrat" panose="00000500000000000000" pitchFamily="2" charset="0"/>
                <a:cs typeface="Aroania"/>
              </a:rPr>
              <a:t>Best </a:t>
            </a:r>
            <a:r>
              <a:rPr kumimoji="0" sz="1400" b="0" i="0" u="none" strike="noStrike" kern="1200" cap="none" spc="-30" normalizeH="0" baseline="0" noProof="0">
                <a:ln>
                  <a:noFill/>
                </a:ln>
                <a:solidFill>
                  <a:srgbClr val="009AFF"/>
                </a:solidFill>
                <a:effectLst/>
                <a:uLnTx/>
                <a:uFillTx/>
                <a:latin typeface="Montserrat" panose="00000500000000000000" pitchFamily="2" charset="0"/>
                <a:cs typeface="Aroania"/>
              </a:rPr>
              <a:t>Accounts</a:t>
            </a:r>
            <a:r>
              <a:rPr kumimoji="0" sz="1400" b="0" i="0" u="none" strike="noStrike" kern="1200" cap="none" spc="-235" normalizeH="0" baseline="0" noProof="0">
                <a:ln>
                  <a:noFill/>
                </a:ln>
                <a:solidFill>
                  <a:srgbClr val="009AFF"/>
                </a:solidFill>
                <a:effectLst/>
                <a:uLnTx/>
                <a:uFillTx/>
                <a:latin typeface="Montserrat" panose="00000500000000000000" pitchFamily="2" charset="0"/>
                <a:cs typeface="Aroania"/>
              </a:rPr>
              <a:t> </a:t>
            </a:r>
            <a:r>
              <a:rPr kumimoji="0" sz="1400" b="0" i="0" u="none" strike="noStrike" kern="1200" cap="none" spc="-60" normalizeH="0" baseline="0" noProof="0">
                <a:ln>
                  <a:noFill/>
                </a:ln>
                <a:solidFill>
                  <a:srgbClr val="009AFF"/>
                </a:solidFill>
                <a:effectLst/>
                <a:uLnTx/>
                <a:uFillTx/>
                <a:latin typeface="Montserrat" panose="00000500000000000000" pitchFamily="2" charset="0"/>
                <a:cs typeface="Aroania"/>
              </a:rPr>
              <a:t>Faster</a:t>
            </a:r>
            <a:endParaRPr kumimoji="0" sz="1400" b="0" i="0" u="none" strike="noStrike" kern="1200" cap="none" spc="0" normalizeH="0" baseline="0" noProof="0">
              <a:ln>
                <a:noFill/>
              </a:ln>
              <a:solidFill>
                <a:prstClr val="black"/>
              </a:solidFill>
              <a:effectLst/>
              <a:uLnTx/>
              <a:uFillTx/>
              <a:latin typeface="Montserrat" panose="00000500000000000000" pitchFamily="2" charset="0"/>
              <a:cs typeface="Aroania"/>
            </a:endParaRPr>
          </a:p>
        </p:txBody>
      </p:sp>
      <p:sp>
        <p:nvSpPr>
          <p:cNvPr id="3" name="Text Placeholder 2">
            <a:extLst>
              <a:ext uri="{FF2B5EF4-FFF2-40B4-BE49-F238E27FC236}">
                <a16:creationId xmlns:a16="http://schemas.microsoft.com/office/drawing/2014/main" id="{6F335450-46AB-1D00-F33B-AE1CB9301F4B}"/>
              </a:ext>
            </a:extLst>
          </p:cNvPr>
          <p:cNvSpPr>
            <a:spLocks noGrp="1"/>
          </p:cNvSpPr>
          <p:nvPr>
            <p:ph type="body" sz="quarter" idx="10" hasCustomPrompt="1"/>
          </p:nvPr>
        </p:nvSpPr>
        <p:spPr>
          <a:xfrm>
            <a:off x="516268" y="2366201"/>
            <a:ext cx="7032625" cy="884237"/>
          </a:xfrm>
        </p:spPr>
        <p:txBody>
          <a:bodyPr anchor="ctr">
            <a:normAutofit/>
          </a:bodyPr>
          <a:lstStyle>
            <a:lvl1pPr marL="0" indent="0">
              <a:buNone/>
              <a:defRPr sz="4000" b="1">
                <a:solidFill>
                  <a:schemeClr val="bg1"/>
                </a:solidFill>
                <a:latin typeface="+mn-lt"/>
              </a:defRPr>
            </a:lvl1pPr>
          </a:lstStyle>
          <a:p>
            <a:pPr lvl="0"/>
            <a:r>
              <a:rPr lang="en-US" sz="4000">
                <a:latin typeface="+mn-lt"/>
              </a:rPr>
              <a:t>This is a Title Slide</a:t>
            </a:r>
            <a:endParaRPr lang="en-US"/>
          </a:p>
        </p:txBody>
      </p:sp>
      <p:sp>
        <p:nvSpPr>
          <p:cNvPr id="14" name="Text Placeholder 13">
            <a:extLst>
              <a:ext uri="{FF2B5EF4-FFF2-40B4-BE49-F238E27FC236}">
                <a16:creationId xmlns:a16="http://schemas.microsoft.com/office/drawing/2014/main" id="{D1083791-8869-CE7D-3AB5-AB2E590D087A}"/>
              </a:ext>
            </a:extLst>
          </p:cNvPr>
          <p:cNvSpPr>
            <a:spLocks noGrp="1"/>
          </p:cNvSpPr>
          <p:nvPr>
            <p:ph type="body" sz="quarter" idx="11" hasCustomPrompt="1"/>
          </p:nvPr>
        </p:nvSpPr>
        <p:spPr>
          <a:xfrm>
            <a:off x="515938" y="3670073"/>
            <a:ext cx="7032625" cy="336665"/>
          </a:xfrm>
        </p:spPr>
        <p:txBody>
          <a:bodyPr anchor="ctr"/>
          <a:lstStyle>
            <a:lvl1pPr marL="0" indent="0">
              <a:buNone/>
              <a:defRPr sz="1800" b="1">
                <a:solidFill>
                  <a:schemeClr val="bg1"/>
                </a:solidFill>
              </a:defRPr>
            </a:lvl1pPr>
          </a:lstStyle>
          <a:p>
            <a:pPr lvl="0"/>
            <a:r>
              <a:rPr lang="en-US"/>
              <a:t>Subtitle goes here</a:t>
            </a:r>
          </a:p>
        </p:txBody>
      </p:sp>
      <p:sp>
        <p:nvSpPr>
          <p:cNvPr id="16" name="Text Placeholder 15">
            <a:extLst>
              <a:ext uri="{FF2B5EF4-FFF2-40B4-BE49-F238E27FC236}">
                <a16:creationId xmlns:a16="http://schemas.microsoft.com/office/drawing/2014/main" id="{BBB92501-45C2-39E1-FF32-69FF3B8BCA43}"/>
              </a:ext>
            </a:extLst>
          </p:cNvPr>
          <p:cNvSpPr>
            <a:spLocks noGrp="1"/>
          </p:cNvSpPr>
          <p:nvPr>
            <p:ph type="body" sz="quarter" idx="12" hasCustomPrompt="1"/>
          </p:nvPr>
        </p:nvSpPr>
        <p:spPr>
          <a:xfrm>
            <a:off x="515938" y="4173225"/>
            <a:ext cx="7032625" cy="465138"/>
          </a:xfrm>
        </p:spPr>
        <p:txBody>
          <a:bodyPr anchor="ctr">
            <a:normAutofit/>
          </a:bodyPr>
          <a:lstStyle>
            <a:lvl1pPr marL="0" indent="0">
              <a:buNone/>
              <a:defRPr sz="1600">
                <a:solidFill>
                  <a:schemeClr val="bg1"/>
                </a:solidFill>
              </a:defRPr>
            </a:lvl1pPr>
          </a:lstStyle>
          <a:p>
            <a:pPr lvl="0"/>
            <a:r>
              <a:rPr lang="en-US"/>
              <a:t>Additional content goes here</a:t>
            </a:r>
          </a:p>
        </p:txBody>
      </p:sp>
      <p:sp>
        <p:nvSpPr>
          <p:cNvPr id="2" name="TextBox 1">
            <a:extLst>
              <a:ext uri="{FF2B5EF4-FFF2-40B4-BE49-F238E27FC236}">
                <a16:creationId xmlns:a16="http://schemas.microsoft.com/office/drawing/2014/main" id="{E40CE024-5E9B-1477-DEF1-0509A37611CD}"/>
              </a:ext>
            </a:extLst>
          </p:cNvPr>
          <p:cNvSpPr txBox="1"/>
          <p:nvPr/>
        </p:nvSpPr>
        <p:spPr>
          <a:xfrm>
            <a:off x="398913" y="6247976"/>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1693252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Agenda Slide">
    <p:spTree>
      <p:nvGrpSpPr>
        <p:cNvPr id="1" name=""/>
        <p:cNvGrpSpPr/>
        <p:nvPr/>
      </p:nvGrpSpPr>
      <p:grpSpPr>
        <a:xfrm>
          <a:off x="0" y="0"/>
          <a:ext cx="0" cy="0"/>
          <a:chOff x="0" y="0"/>
          <a:chExt cx="0" cy="0"/>
        </a:xfrm>
      </p:grpSpPr>
      <p:sp>
        <p:nvSpPr>
          <p:cNvPr id="3" name="Google Shape;364;p2">
            <a:extLst>
              <a:ext uri="{FF2B5EF4-FFF2-40B4-BE49-F238E27FC236}">
                <a16:creationId xmlns:a16="http://schemas.microsoft.com/office/drawing/2014/main" id="{2362ECD9-28D8-046F-AB8C-E2B42DF9CA92}"/>
              </a:ext>
            </a:extLst>
          </p:cNvPr>
          <p:cNvSpPr/>
          <p:nvPr/>
        </p:nvSpPr>
        <p:spPr>
          <a:xfrm>
            <a:off x="351037" y="457200"/>
            <a:ext cx="4580002" cy="5802313"/>
          </a:xfrm>
          <a:prstGeom prst="roundRect">
            <a:avLst>
              <a:gd name="adj" fmla="val 3870"/>
            </a:avLst>
          </a:prstGeom>
          <a:solidFill>
            <a:srgbClr val="232C85"/>
          </a:solidFill>
          <a:ln>
            <a:noFill/>
          </a:ln>
        </p:spPr>
        <p:txBody>
          <a:bodyPr spcFirstLastPara="1" wrap="square" lIns="45697" tIns="45697" rIns="45697" bIns="45697" anchor="ctr" anchorCtr="0">
            <a:noAutofit/>
          </a:bodyPr>
          <a:lstStyle/>
          <a:p>
            <a:pPr algn="ctr" defTabSz="914358">
              <a:buClr>
                <a:srgbClr val="FFFFFF"/>
              </a:buClr>
              <a:buSzPts val="1400"/>
            </a:pPr>
            <a:endParaRPr>
              <a:solidFill>
                <a:srgbClr val="FFFFFF"/>
              </a:solidFill>
            </a:endParaRPr>
          </a:p>
        </p:txBody>
      </p:sp>
      <p:pic>
        <p:nvPicPr>
          <p:cNvPr id="4" name="Google Shape;365;p2">
            <a:extLst>
              <a:ext uri="{FF2B5EF4-FFF2-40B4-BE49-F238E27FC236}">
                <a16:creationId xmlns:a16="http://schemas.microsoft.com/office/drawing/2014/main" id="{5DA4607E-00F6-108C-CEDD-A1076974995E}"/>
              </a:ext>
            </a:extLst>
          </p:cNvPr>
          <p:cNvPicPr preferRelativeResize="0"/>
          <p:nvPr/>
        </p:nvPicPr>
        <p:blipFill>
          <a:blip r:embed="rId2">
            <a:alphaModFix/>
          </a:blip>
          <a:stretch>
            <a:fillRect/>
          </a:stretch>
        </p:blipFill>
        <p:spPr>
          <a:xfrm>
            <a:off x="688080" y="2676946"/>
            <a:ext cx="4198331" cy="3568575"/>
          </a:xfrm>
          <a:prstGeom prst="rect">
            <a:avLst/>
          </a:prstGeom>
          <a:noFill/>
          <a:ln>
            <a:noFill/>
          </a:ln>
        </p:spPr>
      </p:pic>
      <p:pic>
        <p:nvPicPr>
          <p:cNvPr id="7" name="Picture 6" descr="Logo&#10;&#10;Description automatically generated">
            <a:extLst>
              <a:ext uri="{FF2B5EF4-FFF2-40B4-BE49-F238E27FC236}">
                <a16:creationId xmlns:a16="http://schemas.microsoft.com/office/drawing/2014/main" id="{EF769541-A3C5-DA56-2D65-F7FE21A3D8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49042" y="6176963"/>
            <a:ext cx="1947035" cy="595793"/>
          </a:xfrm>
          <a:prstGeom prst="rect">
            <a:avLst/>
          </a:prstGeom>
        </p:spPr>
      </p:pic>
      <p:sp>
        <p:nvSpPr>
          <p:cNvPr id="10" name="Text Placeholder 9">
            <a:extLst>
              <a:ext uri="{FF2B5EF4-FFF2-40B4-BE49-F238E27FC236}">
                <a16:creationId xmlns:a16="http://schemas.microsoft.com/office/drawing/2014/main" id="{3209D838-1DD0-778F-5E1B-BA76D431A84B}"/>
              </a:ext>
            </a:extLst>
          </p:cNvPr>
          <p:cNvSpPr>
            <a:spLocks noGrp="1"/>
          </p:cNvSpPr>
          <p:nvPr>
            <p:ph type="body" sz="quarter" idx="10"/>
          </p:nvPr>
        </p:nvSpPr>
        <p:spPr>
          <a:xfrm>
            <a:off x="5511338" y="457200"/>
            <a:ext cx="6329825" cy="5802313"/>
          </a:xfrm>
        </p:spPr>
        <p:txBody>
          <a:bodyPr anchor="ct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BB54504F-C55E-3830-BAD6-9FF832661707}"/>
              </a:ext>
            </a:extLst>
          </p:cNvPr>
          <p:cNvSpPr>
            <a:spLocks noGrp="1"/>
          </p:cNvSpPr>
          <p:nvPr>
            <p:ph type="body" sz="quarter" idx="11" hasCustomPrompt="1"/>
          </p:nvPr>
        </p:nvSpPr>
        <p:spPr>
          <a:xfrm>
            <a:off x="350838" y="2593975"/>
            <a:ext cx="4579937" cy="773113"/>
          </a:xfrm>
        </p:spPr>
        <p:txBody>
          <a:bodyPr anchor="ctr">
            <a:normAutofit/>
          </a:bodyPr>
          <a:lstStyle>
            <a:lvl1pPr marL="0" indent="0" algn="ctr">
              <a:buNone/>
              <a:defRPr sz="4000" b="1">
                <a:solidFill>
                  <a:schemeClr val="bg1"/>
                </a:solidFill>
              </a:defRPr>
            </a:lvl1pPr>
          </a:lstStyle>
          <a:p>
            <a:pPr lvl="0"/>
            <a:r>
              <a:rPr lang="en-US"/>
              <a:t>Header</a:t>
            </a:r>
          </a:p>
        </p:txBody>
      </p:sp>
      <p:sp>
        <p:nvSpPr>
          <p:cNvPr id="2" name="TextBox 1">
            <a:extLst>
              <a:ext uri="{FF2B5EF4-FFF2-40B4-BE49-F238E27FC236}">
                <a16:creationId xmlns:a16="http://schemas.microsoft.com/office/drawing/2014/main" id="{D65009FF-91EF-ED66-E7E9-EF4E4158D281}"/>
              </a:ext>
            </a:extLst>
          </p:cNvPr>
          <p:cNvSpPr txBox="1"/>
          <p:nvPr/>
        </p:nvSpPr>
        <p:spPr>
          <a:xfrm>
            <a:off x="319538" y="6351749"/>
            <a:ext cx="4700137" cy="246221"/>
          </a:xfrm>
          <a:prstGeom prst="rect">
            <a:avLst/>
          </a:prstGeom>
          <a:noFill/>
        </p:spPr>
        <p:txBody>
          <a:bodyPr wrap="square" rtlCol="0">
            <a:spAutoFit/>
          </a:bodyPr>
          <a:lstStyle/>
          <a:p>
            <a:r>
              <a:rPr lang="en-US" sz="1000">
                <a:solidFill>
                  <a:schemeClr val="tx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658517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genda Slide 3">
    <p:spTree>
      <p:nvGrpSpPr>
        <p:cNvPr id="1" name=""/>
        <p:cNvGrpSpPr/>
        <p:nvPr/>
      </p:nvGrpSpPr>
      <p:grpSpPr>
        <a:xfrm>
          <a:off x="0" y="0"/>
          <a:ext cx="0" cy="0"/>
          <a:chOff x="0" y="0"/>
          <a:chExt cx="0" cy="0"/>
        </a:xfrm>
      </p:grpSpPr>
      <p:sp>
        <p:nvSpPr>
          <p:cNvPr id="3" name="Google Shape;731;g1011178bde0_0_0">
            <a:extLst>
              <a:ext uri="{FF2B5EF4-FFF2-40B4-BE49-F238E27FC236}">
                <a16:creationId xmlns:a16="http://schemas.microsoft.com/office/drawing/2014/main" id="{2E277072-4C2C-B59B-C42C-0BD0B2F55866}"/>
              </a:ext>
            </a:extLst>
          </p:cNvPr>
          <p:cNvSpPr/>
          <p:nvPr/>
        </p:nvSpPr>
        <p:spPr>
          <a:xfrm>
            <a:off x="428" y="241"/>
            <a:ext cx="6095572" cy="6857759"/>
          </a:xfrm>
          <a:prstGeom prst="roundRect">
            <a:avLst>
              <a:gd name="adj" fmla="val 0"/>
            </a:avLst>
          </a:prstGeom>
          <a:solidFill>
            <a:srgbClr val="262E81"/>
          </a:solidFill>
          <a:ln>
            <a:noFill/>
          </a:ln>
        </p:spPr>
        <p:txBody>
          <a:bodyPr spcFirstLastPara="1" wrap="square" lIns="45697" tIns="45697" rIns="45697" bIns="45697" anchor="ctr" anchorCtr="0">
            <a:noAutofit/>
          </a:bodyPr>
          <a:lstStyle/>
          <a:p>
            <a:pPr algn="ctr">
              <a:buClr>
                <a:srgbClr val="FFFFFF"/>
              </a:buClr>
              <a:buSzPts val="1400"/>
            </a:pPr>
            <a:endParaRPr>
              <a:solidFill>
                <a:srgbClr val="FFFFFF"/>
              </a:solidFill>
            </a:endParaRPr>
          </a:p>
        </p:txBody>
      </p:sp>
      <p:sp>
        <p:nvSpPr>
          <p:cNvPr id="7" name="TextBox 6">
            <a:extLst>
              <a:ext uri="{FF2B5EF4-FFF2-40B4-BE49-F238E27FC236}">
                <a16:creationId xmlns:a16="http://schemas.microsoft.com/office/drawing/2014/main" id="{A3E78269-7C3F-577C-9D98-DBDF9866B640}"/>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
        <p:nvSpPr>
          <p:cNvPr id="2" name="Text Placeholder 7">
            <a:extLst>
              <a:ext uri="{FF2B5EF4-FFF2-40B4-BE49-F238E27FC236}">
                <a16:creationId xmlns:a16="http://schemas.microsoft.com/office/drawing/2014/main" id="{E06A58BA-A6F4-E65B-3293-77E214898396}"/>
              </a:ext>
            </a:extLst>
          </p:cNvPr>
          <p:cNvSpPr>
            <a:spLocks noGrp="1"/>
          </p:cNvSpPr>
          <p:nvPr>
            <p:ph type="body" sz="quarter" idx="10" hasCustomPrompt="1"/>
          </p:nvPr>
        </p:nvSpPr>
        <p:spPr>
          <a:xfrm>
            <a:off x="214" y="2996406"/>
            <a:ext cx="6096000" cy="865187"/>
          </a:xfrm>
        </p:spPr>
        <p:txBody>
          <a:bodyPr anchor="ctr">
            <a:normAutofit/>
          </a:bodyPr>
          <a:lstStyle>
            <a:lvl1pPr marL="0" indent="0" algn="ctr">
              <a:buNone/>
              <a:defRPr sz="4000" b="1">
                <a:solidFill>
                  <a:schemeClr val="bg1"/>
                </a:solidFill>
              </a:defRPr>
            </a:lvl1pPr>
          </a:lstStyle>
          <a:p>
            <a:pPr lvl="0"/>
            <a:r>
              <a:rPr lang="en-US"/>
              <a:t>Header</a:t>
            </a:r>
          </a:p>
        </p:txBody>
      </p:sp>
      <p:sp>
        <p:nvSpPr>
          <p:cNvPr id="8" name="Text Placeholder 10">
            <a:extLst>
              <a:ext uri="{FF2B5EF4-FFF2-40B4-BE49-F238E27FC236}">
                <a16:creationId xmlns:a16="http://schemas.microsoft.com/office/drawing/2014/main" id="{9E9399B0-026D-B0FD-84FF-0112C6A5381C}"/>
              </a:ext>
            </a:extLst>
          </p:cNvPr>
          <p:cNvSpPr>
            <a:spLocks noGrp="1"/>
          </p:cNvSpPr>
          <p:nvPr>
            <p:ph type="body" sz="quarter" idx="11"/>
          </p:nvPr>
        </p:nvSpPr>
        <p:spPr>
          <a:xfrm>
            <a:off x="6442363" y="465138"/>
            <a:ext cx="5589299" cy="5837237"/>
          </a:xfrm>
        </p:spPr>
        <p:txBody>
          <a:bodyPr anchor="ct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bject 20">
            <a:extLst>
              <a:ext uri="{FF2B5EF4-FFF2-40B4-BE49-F238E27FC236}">
                <a16:creationId xmlns:a16="http://schemas.microsoft.com/office/drawing/2014/main" id="{ADABB9F8-347B-555D-C5C2-18807E23847E}"/>
              </a:ext>
            </a:extLst>
          </p:cNvPr>
          <p:cNvSpPr/>
          <p:nvPr/>
        </p:nvSpPr>
        <p:spPr>
          <a:xfrm>
            <a:off x="10076775" y="6340572"/>
            <a:ext cx="1955525" cy="313753"/>
          </a:xfrm>
          <a:prstGeom prst="rect">
            <a:avLst/>
          </a:prstGeom>
          <a:blipFill>
            <a:blip r:embed="rId2"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52366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itle and Content 3">
    <p:bg>
      <p:bgPr>
        <a:solidFill>
          <a:schemeClr val="tx2"/>
        </a:solidFill>
        <a:effectLst/>
      </p:bgPr>
    </p:bg>
    <p:spTree>
      <p:nvGrpSpPr>
        <p:cNvPr id="1" name=""/>
        <p:cNvGrpSpPr/>
        <p:nvPr/>
      </p:nvGrpSpPr>
      <p:grpSpPr>
        <a:xfrm>
          <a:off x="0" y="0"/>
          <a:ext cx="0" cy="0"/>
          <a:chOff x="0" y="0"/>
          <a:chExt cx="0" cy="0"/>
        </a:xfrm>
      </p:grpSpPr>
      <p:sp>
        <p:nvSpPr>
          <p:cNvPr id="5" name="Rectángulo 3">
            <a:extLst>
              <a:ext uri="{FF2B5EF4-FFF2-40B4-BE49-F238E27FC236}">
                <a16:creationId xmlns:a16="http://schemas.microsoft.com/office/drawing/2014/main" id="{F0C8A3E3-37DD-4ECF-9305-59ACFD66CA92}"/>
              </a:ext>
            </a:extLst>
          </p:cNvPr>
          <p:cNvSpPr/>
          <p:nvPr/>
        </p:nvSpPr>
        <p:spPr>
          <a:xfrm>
            <a:off x="0" y="0"/>
            <a:ext cx="12192000" cy="12917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TextBox 6">
            <a:extLst>
              <a:ext uri="{FF2B5EF4-FFF2-40B4-BE49-F238E27FC236}">
                <a16:creationId xmlns:a16="http://schemas.microsoft.com/office/drawing/2014/main" id="{FF2EC356-C91E-07AA-D5FA-E34A78AF0EEF}"/>
              </a:ext>
            </a:extLst>
          </p:cNvPr>
          <p:cNvSpPr txBox="1"/>
          <p:nvPr/>
        </p:nvSpPr>
        <p:spPr>
          <a:xfrm>
            <a:off x="319538" y="6351749"/>
            <a:ext cx="3642862"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pic>
        <p:nvPicPr>
          <p:cNvPr id="2" name="Google Shape;734;g1011178bde0_0_0" descr="Google Shape;459;p1">
            <a:extLst>
              <a:ext uri="{FF2B5EF4-FFF2-40B4-BE49-F238E27FC236}">
                <a16:creationId xmlns:a16="http://schemas.microsoft.com/office/drawing/2014/main" id="{EE00AB39-A388-C95B-3597-7FD939CF9B44}"/>
              </a:ext>
            </a:extLst>
          </p:cNvPr>
          <p:cNvPicPr preferRelativeResize="0"/>
          <p:nvPr/>
        </p:nvPicPr>
        <p:blipFill rotWithShape="1">
          <a:blip r:embed="rId2">
            <a:alphaModFix/>
          </a:blip>
          <a:srcRect/>
          <a:stretch/>
        </p:blipFill>
        <p:spPr>
          <a:xfrm>
            <a:off x="10076775" y="6335123"/>
            <a:ext cx="1954665" cy="313179"/>
          </a:xfrm>
          <a:prstGeom prst="rect">
            <a:avLst/>
          </a:prstGeom>
          <a:noFill/>
          <a:ln>
            <a:noFill/>
          </a:ln>
        </p:spPr>
      </p:pic>
      <p:sp>
        <p:nvSpPr>
          <p:cNvPr id="4" name="Text Placeholder 7">
            <a:extLst>
              <a:ext uri="{FF2B5EF4-FFF2-40B4-BE49-F238E27FC236}">
                <a16:creationId xmlns:a16="http://schemas.microsoft.com/office/drawing/2014/main" id="{2B19EBD7-9DED-484B-B923-A77CF51A1DD8}"/>
              </a:ext>
            </a:extLst>
          </p:cNvPr>
          <p:cNvSpPr>
            <a:spLocks noGrp="1"/>
          </p:cNvSpPr>
          <p:nvPr>
            <p:ph type="body" sz="quarter" idx="10" hasCustomPrompt="1"/>
          </p:nvPr>
        </p:nvSpPr>
        <p:spPr>
          <a:xfrm>
            <a:off x="319538" y="274638"/>
            <a:ext cx="11285087" cy="689638"/>
          </a:xfrm>
        </p:spPr>
        <p:txBody>
          <a:bodyPr anchor="ctr">
            <a:normAutofit/>
          </a:bodyPr>
          <a:lstStyle>
            <a:lvl1pPr marL="0" indent="0">
              <a:buNone/>
              <a:defRPr sz="4000" b="1">
                <a:solidFill>
                  <a:schemeClr val="tx2"/>
                </a:solidFill>
              </a:defRPr>
            </a:lvl1pPr>
          </a:lstStyle>
          <a:p>
            <a:pPr lvl="0"/>
            <a:r>
              <a:rPr lang="en-US"/>
              <a:t>Header</a:t>
            </a:r>
          </a:p>
        </p:txBody>
      </p:sp>
      <p:sp>
        <p:nvSpPr>
          <p:cNvPr id="8" name="Content Placeholder 9">
            <a:extLst>
              <a:ext uri="{FF2B5EF4-FFF2-40B4-BE49-F238E27FC236}">
                <a16:creationId xmlns:a16="http://schemas.microsoft.com/office/drawing/2014/main" id="{59FBA9AE-A00A-4327-C8A8-BD6EFA7F10CE}"/>
              </a:ext>
            </a:extLst>
          </p:cNvPr>
          <p:cNvSpPr>
            <a:spLocks noGrp="1"/>
          </p:cNvSpPr>
          <p:nvPr>
            <p:ph sz="quarter" idx="11"/>
          </p:nvPr>
        </p:nvSpPr>
        <p:spPr>
          <a:xfrm>
            <a:off x="319088" y="1579563"/>
            <a:ext cx="11712575" cy="46878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86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and Sub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BC81-7F5B-5C16-81A2-E171BCB9627A}"/>
              </a:ext>
            </a:extLst>
          </p:cNvPr>
          <p:cNvSpPr>
            <a:spLocks noGrp="1"/>
          </p:cNvSpPr>
          <p:nvPr>
            <p:ph type="title"/>
          </p:nvPr>
        </p:nvSpPr>
        <p:spPr/>
        <p:txBody>
          <a:bodyPr/>
          <a:lstStyle>
            <a:lvl1pPr>
              <a:defRPr b="1">
                <a:latin typeface="+mn-lt"/>
              </a:defRPr>
            </a:lvl1pPr>
          </a:lstStyle>
          <a:p>
            <a:r>
              <a:rPr lang="en-US"/>
              <a:t>Click to edit Master title style</a:t>
            </a:r>
          </a:p>
        </p:txBody>
      </p:sp>
      <p:sp>
        <p:nvSpPr>
          <p:cNvPr id="6" name="object 20">
            <a:extLst>
              <a:ext uri="{FF2B5EF4-FFF2-40B4-BE49-F238E27FC236}">
                <a16:creationId xmlns:a16="http://schemas.microsoft.com/office/drawing/2014/main" id="{00DFEE32-F1FE-4563-A64C-482027F985D5}"/>
              </a:ext>
            </a:extLst>
          </p:cNvPr>
          <p:cNvSpPr/>
          <p:nvPr/>
        </p:nvSpPr>
        <p:spPr>
          <a:xfrm>
            <a:off x="10076775" y="6340572"/>
            <a:ext cx="1955525" cy="313753"/>
          </a:xfrm>
          <a:prstGeom prst="rect">
            <a:avLst/>
          </a:prstGeom>
          <a:blipFill>
            <a:blip r:embed="rId2"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
        <p:nvSpPr>
          <p:cNvPr id="7" name="TextBox 6">
            <a:extLst>
              <a:ext uri="{FF2B5EF4-FFF2-40B4-BE49-F238E27FC236}">
                <a16:creationId xmlns:a16="http://schemas.microsoft.com/office/drawing/2014/main" id="{CC286590-A902-2A34-1582-2FEC237ED0E1}"/>
              </a:ext>
            </a:extLst>
          </p:cNvPr>
          <p:cNvSpPr txBox="1"/>
          <p:nvPr/>
        </p:nvSpPr>
        <p:spPr>
          <a:xfrm>
            <a:off x="319538" y="6351749"/>
            <a:ext cx="3604762" cy="246221"/>
          </a:xfrm>
          <a:prstGeom prst="rect">
            <a:avLst/>
          </a:prstGeom>
          <a:noFill/>
        </p:spPr>
        <p:txBody>
          <a:bodyPr wrap="square" rtlCol="0">
            <a:spAutoFit/>
          </a:bodyPr>
          <a:lstStyle/>
          <a:p>
            <a:r>
              <a:rPr lang="en-US" sz="1000">
                <a:latin typeface="Montserrat" panose="00000500000000000000" pitchFamily="50" charset="0"/>
              </a:rPr>
              <a:t>MADISON LOGIC CONFIDENTIAL. All rights reserved.</a:t>
            </a:r>
          </a:p>
        </p:txBody>
      </p:sp>
      <p:sp>
        <p:nvSpPr>
          <p:cNvPr id="4" name="Text Placeholder 3">
            <a:extLst>
              <a:ext uri="{FF2B5EF4-FFF2-40B4-BE49-F238E27FC236}">
                <a16:creationId xmlns:a16="http://schemas.microsoft.com/office/drawing/2014/main" id="{28E6D500-B52C-D365-84DA-F039601B755B}"/>
              </a:ext>
            </a:extLst>
          </p:cNvPr>
          <p:cNvSpPr>
            <a:spLocks noGrp="1"/>
          </p:cNvSpPr>
          <p:nvPr>
            <p:ph type="body" sz="quarter" idx="10"/>
          </p:nvPr>
        </p:nvSpPr>
        <p:spPr>
          <a:xfrm>
            <a:off x="838200" y="1803400"/>
            <a:ext cx="10515600" cy="590550"/>
          </a:xfrm>
        </p:spPr>
        <p:txBody>
          <a:bodyPr anchor="ctr">
            <a:normAutofit/>
          </a:bodyPr>
          <a:lstStyle>
            <a:lvl1pPr marL="0" indent="0">
              <a:buNone/>
              <a:defRPr sz="2400">
                <a:solidFill>
                  <a:schemeClr val="bg2"/>
                </a:solidFill>
              </a:defRPr>
            </a:lvl1pPr>
            <a:lvl2pPr marL="457200" indent="0">
              <a:buNone/>
              <a:defRPr/>
            </a:lvl2pPr>
          </a:lstStyle>
          <a:p>
            <a:pPr lvl="0"/>
            <a:r>
              <a:rPr lang="en-US"/>
              <a:t>Click to edit Master text styles</a:t>
            </a:r>
          </a:p>
        </p:txBody>
      </p:sp>
      <p:pic>
        <p:nvPicPr>
          <p:cNvPr id="5" name="Google Shape;405;p4" descr="Рисунок 12">
            <a:extLst>
              <a:ext uri="{FF2B5EF4-FFF2-40B4-BE49-F238E27FC236}">
                <a16:creationId xmlns:a16="http://schemas.microsoft.com/office/drawing/2014/main" id="{09FE7831-C3AC-FE99-E20C-F2E748B42FD6}"/>
              </a:ext>
            </a:extLst>
          </p:cNvPr>
          <p:cNvPicPr preferRelativeResize="0"/>
          <p:nvPr/>
        </p:nvPicPr>
        <p:blipFill rotWithShape="1">
          <a:blip r:embed="rId3">
            <a:alphaModFix/>
          </a:blip>
          <a:srcRect/>
          <a:stretch/>
        </p:blipFill>
        <p:spPr>
          <a:xfrm>
            <a:off x="6583600" y="-18925"/>
            <a:ext cx="5608400" cy="4374241"/>
          </a:xfrm>
          <a:prstGeom prst="rect">
            <a:avLst/>
          </a:prstGeom>
          <a:noFill/>
          <a:ln>
            <a:noFill/>
          </a:ln>
        </p:spPr>
      </p:pic>
    </p:spTree>
    <p:extLst>
      <p:ext uri="{BB962C8B-B14F-4D97-AF65-F5344CB8AC3E}">
        <p14:creationId xmlns:p14="http://schemas.microsoft.com/office/powerpoint/2010/main" val="2300876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ection Break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oogle Shape;734;g1011178bde0_0_0" descr="Google Shape;459;p1">
            <a:extLst>
              <a:ext uri="{FF2B5EF4-FFF2-40B4-BE49-F238E27FC236}">
                <a16:creationId xmlns:a16="http://schemas.microsoft.com/office/drawing/2014/main" id="{130A5D57-B778-E7A2-75EC-95D49A57E854}"/>
              </a:ext>
            </a:extLst>
          </p:cNvPr>
          <p:cNvPicPr preferRelativeResize="0"/>
          <p:nvPr/>
        </p:nvPicPr>
        <p:blipFill rotWithShape="1">
          <a:blip r:embed="rId3">
            <a:alphaModFix/>
          </a:blip>
          <a:srcRect/>
          <a:stretch/>
        </p:blipFill>
        <p:spPr>
          <a:xfrm>
            <a:off x="441848" y="413442"/>
            <a:ext cx="1954665" cy="313179"/>
          </a:xfrm>
          <a:prstGeom prst="rect">
            <a:avLst/>
          </a:prstGeom>
          <a:noFill/>
          <a:ln>
            <a:noFill/>
          </a:ln>
        </p:spPr>
      </p:pic>
      <p:sp>
        <p:nvSpPr>
          <p:cNvPr id="2" name="Text Placeholder 7">
            <a:extLst>
              <a:ext uri="{FF2B5EF4-FFF2-40B4-BE49-F238E27FC236}">
                <a16:creationId xmlns:a16="http://schemas.microsoft.com/office/drawing/2014/main" id="{4104E22A-27B4-C4FD-5BB3-C0E490F770F9}"/>
              </a:ext>
            </a:extLst>
          </p:cNvPr>
          <p:cNvSpPr>
            <a:spLocks noGrp="1"/>
          </p:cNvSpPr>
          <p:nvPr>
            <p:ph type="body" sz="quarter" idx="10" hasCustomPrompt="1"/>
          </p:nvPr>
        </p:nvSpPr>
        <p:spPr>
          <a:xfrm>
            <a:off x="4405745" y="4434508"/>
            <a:ext cx="7786255" cy="865187"/>
          </a:xfrm>
        </p:spPr>
        <p:txBody>
          <a:bodyPr anchor="ctr">
            <a:normAutofit/>
          </a:bodyPr>
          <a:lstStyle>
            <a:lvl1pPr marL="0" indent="0" algn="ctr">
              <a:buNone/>
              <a:defRPr sz="4000" b="1">
                <a:solidFill>
                  <a:schemeClr val="bg1"/>
                </a:solidFill>
              </a:defRPr>
            </a:lvl1pPr>
          </a:lstStyle>
          <a:p>
            <a:pPr lvl="0"/>
            <a:r>
              <a:rPr lang="en-US"/>
              <a:t>Section Header</a:t>
            </a:r>
          </a:p>
        </p:txBody>
      </p:sp>
      <p:sp>
        <p:nvSpPr>
          <p:cNvPr id="3" name="TextBox 2">
            <a:extLst>
              <a:ext uri="{FF2B5EF4-FFF2-40B4-BE49-F238E27FC236}">
                <a16:creationId xmlns:a16="http://schemas.microsoft.com/office/drawing/2014/main" id="{11C2CB25-A2FF-13B2-2565-F71DE3C40ED1}"/>
              </a:ext>
            </a:extLst>
          </p:cNvPr>
          <p:cNvSpPr txBox="1"/>
          <p:nvPr/>
        </p:nvSpPr>
        <p:spPr>
          <a:xfrm>
            <a:off x="8482463" y="6351749"/>
            <a:ext cx="3642862"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0970541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Section Breaker">
    <p:bg>
      <p:bgPr>
        <a:solidFill>
          <a:schemeClr val="tx2"/>
        </a:solidFill>
        <a:effectLst/>
      </p:bgPr>
    </p:bg>
    <p:spTree>
      <p:nvGrpSpPr>
        <p:cNvPr id="1" name=""/>
        <p:cNvGrpSpPr/>
        <p:nvPr/>
      </p:nvGrpSpPr>
      <p:grpSpPr>
        <a:xfrm>
          <a:off x="0" y="0"/>
          <a:ext cx="0" cy="0"/>
          <a:chOff x="0" y="0"/>
          <a:chExt cx="0" cy="0"/>
        </a:xfrm>
      </p:grpSpPr>
      <p:pic>
        <p:nvPicPr>
          <p:cNvPr id="4" name="Google Shape;732;g1011178bde0_0_0" descr="Рисунок 7">
            <a:extLst>
              <a:ext uri="{FF2B5EF4-FFF2-40B4-BE49-F238E27FC236}">
                <a16:creationId xmlns:a16="http://schemas.microsoft.com/office/drawing/2014/main" id="{1B5DB0D7-2088-BE3C-C01D-7062635FCA2E}"/>
              </a:ext>
            </a:extLst>
          </p:cNvPr>
          <p:cNvPicPr preferRelativeResize="0"/>
          <p:nvPr/>
        </p:nvPicPr>
        <p:blipFill rotWithShape="1">
          <a:blip r:embed="rId2">
            <a:alphaModFix/>
          </a:blip>
          <a:srcRect/>
          <a:stretch/>
        </p:blipFill>
        <p:spPr>
          <a:xfrm rot="10800000">
            <a:off x="8545" y="28304"/>
            <a:ext cx="5614348" cy="4772199"/>
          </a:xfrm>
          <a:prstGeom prst="rect">
            <a:avLst/>
          </a:prstGeom>
          <a:noFill/>
          <a:ln>
            <a:noFill/>
          </a:ln>
        </p:spPr>
      </p:pic>
      <p:pic>
        <p:nvPicPr>
          <p:cNvPr id="5" name="Google Shape;734;g1011178bde0_0_0" descr="Google Shape;459;p1">
            <a:extLst>
              <a:ext uri="{FF2B5EF4-FFF2-40B4-BE49-F238E27FC236}">
                <a16:creationId xmlns:a16="http://schemas.microsoft.com/office/drawing/2014/main" id="{76B0E373-5A51-EF6A-8107-1BE9A0488485}"/>
              </a:ext>
            </a:extLst>
          </p:cNvPr>
          <p:cNvPicPr preferRelativeResize="0"/>
          <p:nvPr/>
        </p:nvPicPr>
        <p:blipFill rotWithShape="1">
          <a:blip r:embed="rId3">
            <a:alphaModFix/>
          </a:blip>
          <a:srcRect/>
          <a:stretch/>
        </p:blipFill>
        <p:spPr>
          <a:xfrm>
            <a:off x="9910045" y="6265602"/>
            <a:ext cx="1954665" cy="313179"/>
          </a:xfrm>
          <a:prstGeom prst="rect">
            <a:avLst/>
          </a:prstGeom>
          <a:noFill/>
          <a:ln>
            <a:noFill/>
          </a:ln>
        </p:spPr>
      </p:pic>
      <p:sp>
        <p:nvSpPr>
          <p:cNvPr id="3" name="Text Placeholder 2">
            <a:extLst>
              <a:ext uri="{FF2B5EF4-FFF2-40B4-BE49-F238E27FC236}">
                <a16:creationId xmlns:a16="http://schemas.microsoft.com/office/drawing/2014/main" id="{141C2881-E7B0-4EDB-B801-4A6FCF573B04}"/>
              </a:ext>
            </a:extLst>
          </p:cNvPr>
          <p:cNvSpPr>
            <a:spLocks noGrp="1"/>
          </p:cNvSpPr>
          <p:nvPr>
            <p:ph type="body" sz="quarter" idx="10" hasCustomPrompt="1"/>
          </p:nvPr>
        </p:nvSpPr>
        <p:spPr>
          <a:xfrm>
            <a:off x="7938" y="3657600"/>
            <a:ext cx="12176125" cy="1143000"/>
          </a:xfrm>
        </p:spPr>
        <p:txBody>
          <a:bodyPr anchor="ctr">
            <a:normAutofit/>
          </a:bodyPr>
          <a:lstStyle>
            <a:lvl1pPr marL="0" indent="0" algn="ctr">
              <a:buNone/>
              <a:defRPr sz="4000" b="1">
                <a:solidFill>
                  <a:schemeClr val="bg1"/>
                </a:solidFill>
              </a:defRPr>
            </a:lvl1pPr>
          </a:lstStyle>
          <a:p>
            <a:pPr lvl="0"/>
            <a:r>
              <a:rPr lang="en-US"/>
              <a:t>Section Header</a:t>
            </a:r>
          </a:p>
        </p:txBody>
      </p:sp>
      <p:sp>
        <p:nvSpPr>
          <p:cNvPr id="2" name="TextBox 1">
            <a:extLst>
              <a:ext uri="{FF2B5EF4-FFF2-40B4-BE49-F238E27FC236}">
                <a16:creationId xmlns:a16="http://schemas.microsoft.com/office/drawing/2014/main" id="{E8B7BCE2-C952-537E-3AC7-67196C1ADA69}"/>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3423776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Agenda Slide 2">
    <p:spTree>
      <p:nvGrpSpPr>
        <p:cNvPr id="1" name=""/>
        <p:cNvGrpSpPr/>
        <p:nvPr/>
      </p:nvGrpSpPr>
      <p:grpSpPr>
        <a:xfrm>
          <a:off x="0" y="0"/>
          <a:ext cx="0" cy="0"/>
          <a:chOff x="0" y="0"/>
          <a:chExt cx="0" cy="0"/>
        </a:xfrm>
      </p:grpSpPr>
      <p:sp>
        <p:nvSpPr>
          <p:cNvPr id="3" name="Google Shape;731;g1011178bde0_0_0">
            <a:extLst>
              <a:ext uri="{FF2B5EF4-FFF2-40B4-BE49-F238E27FC236}">
                <a16:creationId xmlns:a16="http://schemas.microsoft.com/office/drawing/2014/main" id="{2E277072-4C2C-B59B-C42C-0BD0B2F55866}"/>
              </a:ext>
            </a:extLst>
          </p:cNvPr>
          <p:cNvSpPr/>
          <p:nvPr userDrawn="1"/>
        </p:nvSpPr>
        <p:spPr>
          <a:xfrm>
            <a:off x="428" y="241"/>
            <a:ext cx="6095572" cy="6857759"/>
          </a:xfrm>
          <a:prstGeom prst="roundRect">
            <a:avLst>
              <a:gd name="adj" fmla="val 0"/>
            </a:avLst>
          </a:prstGeom>
          <a:solidFill>
            <a:srgbClr val="262E81"/>
          </a:solidFill>
          <a:ln>
            <a:noFill/>
          </a:ln>
        </p:spPr>
        <p:txBody>
          <a:bodyPr spcFirstLastPara="1" wrap="square" lIns="45697" tIns="45697" rIns="45697" bIns="45697" anchor="ctr" anchorCtr="0">
            <a:noAutofit/>
          </a:bodyPr>
          <a:lstStyle/>
          <a:p>
            <a:pPr algn="ctr">
              <a:buClr>
                <a:srgbClr val="FFFFFF"/>
              </a:buClr>
              <a:buSzPts val="1400"/>
            </a:pPr>
            <a:endParaRPr>
              <a:solidFill>
                <a:srgbClr val="FFFFFF"/>
              </a:solidFill>
            </a:endParaRPr>
          </a:p>
        </p:txBody>
      </p:sp>
      <p:pic>
        <p:nvPicPr>
          <p:cNvPr id="9" name="Picture 8" descr="A picture containing text, device, meter, gauge&#10;&#10;Description automatically generated">
            <a:extLst>
              <a:ext uri="{FF2B5EF4-FFF2-40B4-BE49-F238E27FC236}">
                <a16:creationId xmlns:a16="http://schemas.microsoft.com/office/drawing/2014/main" id="{28937AC7-3606-8A93-1911-448A657C89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20689"/>
            <a:ext cx="6095998" cy="3428999"/>
          </a:xfrm>
          <a:prstGeom prst="rect">
            <a:avLst/>
          </a:prstGeom>
        </p:spPr>
      </p:pic>
      <p:sp>
        <p:nvSpPr>
          <p:cNvPr id="7" name="TextBox 6">
            <a:extLst>
              <a:ext uri="{FF2B5EF4-FFF2-40B4-BE49-F238E27FC236}">
                <a16:creationId xmlns:a16="http://schemas.microsoft.com/office/drawing/2014/main" id="{A3E78269-7C3F-577C-9D98-DBDF9866B640}"/>
              </a:ext>
            </a:extLst>
          </p:cNvPr>
          <p:cNvSpPr txBox="1"/>
          <p:nvPr userDrawn="1"/>
        </p:nvSpPr>
        <p:spPr>
          <a:xfrm>
            <a:off x="319538" y="6351749"/>
            <a:ext cx="37095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
        <p:nvSpPr>
          <p:cNvPr id="8" name="Text Placeholder 7">
            <a:extLst>
              <a:ext uri="{FF2B5EF4-FFF2-40B4-BE49-F238E27FC236}">
                <a16:creationId xmlns:a16="http://schemas.microsoft.com/office/drawing/2014/main" id="{C4C0B4F0-F763-7A25-C0FD-7FA45C65B755}"/>
              </a:ext>
            </a:extLst>
          </p:cNvPr>
          <p:cNvSpPr>
            <a:spLocks noGrp="1"/>
          </p:cNvSpPr>
          <p:nvPr>
            <p:ph type="body" sz="quarter" idx="10" hasCustomPrompt="1"/>
          </p:nvPr>
        </p:nvSpPr>
        <p:spPr>
          <a:xfrm>
            <a:off x="0" y="1671638"/>
            <a:ext cx="6096000" cy="865187"/>
          </a:xfrm>
        </p:spPr>
        <p:txBody>
          <a:bodyPr anchor="ctr">
            <a:normAutofit/>
          </a:bodyPr>
          <a:lstStyle>
            <a:lvl1pPr marL="0" indent="0" algn="ctr">
              <a:buNone/>
              <a:defRPr sz="4000" b="1">
                <a:solidFill>
                  <a:schemeClr val="bg1"/>
                </a:solidFill>
              </a:defRPr>
            </a:lvl1pPr>
          </a:lstStyle>
          <a:p>
            <a:pPr lvl="0"/>
            <a:r>
              <a:rPr lang="en-US"/>
              <a:t>Header</a:t>
            </a:r>
          </a:p>
        </p:txBody>
      </p:sp>
      <p:sp>
        <p:nvSpPr>
          <p:cNvPr id="11" name="Text Placeholder 10">
            <a:extLst>
              <a:ext uri="{FF2B5EF4-FFF2-40B4-BE49-F238E27FC236}">
                <a16:creationId xmlns:a16="http://schemas.microsoft.com/office/drawing/2014/main" id="{6671E82D-5346-11F5-D6A6-6E6F62A962D9}"/>
              </a:ext>
            </a:extLst>
          </p:cNvPr>
          <p:cNvSpPr>
            <a:spLocks noGrp="1"/>
          </p:cNvSpPr>
          <p:nvPr>
            <p:ph type="body" sz="quarter" idx="11"/>
          </p:nvPr>
        </p:nvSpPr>
        <p:spPr>
          <a:xfrm>
            <a:off x="6442363" y="465138"/>
            <a:ext cx="5589299" cy="5837237"/>
          </a:xfrm>
        </p:spPr>
        <p:txBody>
          <a:bodyPr anchor="ct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object 20">
            <a:extLst>
              <a:ext uri="{FF2B5EF4-FFF2-40B4-BE49-F238E27FC236}">
                <a16:creationId xmlns:a16="http://schemas.microsoft.com/office/drawing/2014/main" id="{29D8D6B2-CA4E-4CC7-209E-C7EEB8BC32E7}"/>
              </a:ext>
            </a:extLst>
          </p:cNvPr>
          <p:cNvSpPr/>
          <p:nvPr userDrawn="1"/>
        </p:nvSpPr>
        <p:spPr>
          <a:xfrm>
            <a:off x="10076775" y="6340572"/>
            <a:ext cx="1955525" cy="313753"/>
          </a:xfrm>
          <a:prstGeom prst="rect">
            <a:avLst/>
          </a:prstGeom>
          <a:blipFill>
            <a:blip r:embed="rId3" cstate="print"/>
            <a:stretch>
              <a:fillRect/>
            </a:stretch>
          </a:blipFill>
        </p:spPr>
        <p:txBody>
          <a:bodyPr wrap="square" lIns="0" tIns="0" rIns="0" bIns="0" rtlCol="0"/>
          <a:lstStyle/>
          <a:p>
            <a:pPr defTabSz="554466">
              <a:defRPr/>
            </a:pPr>
            <a:endParaRPr sz="1092">
              <a:solidFill>
                <a:prstClr val="black"/>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990616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eam Slide">
    <p:bg>
      <p:bgPr>
        <a:solidFill>
          <a:schemeClr val="tx2"/>
        </a:solidFill>
        <a:effectLst/>
      </p:bgPr>
    </p:bg>
    <p:spTree>
      <p:nvGrpSpPr>
        <p:cNvPr id="1" name=""/>
        <p:cNvGrpSpPr/>
        <p:nvPr/>
      </p:nvGrpSpPr>
      <p:grpSpPr>
        <a:xfrm>
          <a:off x="0" y="0"/>
          <a:ext cx="0" cy="0"/>
          <a:chOff x="0" y="0"/>
          <a:chExt cx="0" cy="0"/>
        </a:xfrm>
      </p:grpSpPr>
      <p:pic>
        <p:nvPicPr>
          <p:cNvPr id="27" name="Google Shape;732;g1011178bde0_0_0" descr="Рисунок 7">
            <a:extLst>
              <a:ext uri="{FF2B5EF4-FFF2-40B4-BE49-F238E27FC236}">
                <a16:creationId xmlns:a16="http://schemas.microsoft.com/office/drawing/2014/main" id="{CC52B05E-A60D-323B-A1C3-86D09D825737}"/>
              </a:ext>
            </a:extLst>
          </p:cNvPr>
          <p:cNvPicPr preferRelativeResize="0"/>
          <p:nvPr/>
        </p:nvPicPr>
        <p:blipFill rotWithShape="1">
          <a:blip r:embed="rId2">
            <a:alphaModFix/>
          </a:blip>
          <a:srcRect/>
          <a:stretch/>
        </p:blipFill>
        <p:spPr>
          <a:xfrm rot="10800000" flipH="1">
            <a:off x="6571270" y="9351"/>
            <a:ext cx="5614348" cy="4772199"/>
          </a:xfrm>
          <a:prstGeom prst="rect">
            <a:avLst/>
          </a:prstGeom>
          <a:noFill/>
          <a:ln>
            <a:noFill/>
          </a:ln>
        </p:spPr>
      </p:pic>
      <p:pic>
        <p:nvPicPr>
          <p:cNvPr id="5" name="Google Shape;734;g1011178bde0_0_0" descr="Google Shape;459;p1">
            <a:extLst>
              <a:ext uri="{FF2B5EF4-FFF2-40B4-BE49-F238E27FC236}">
                <a16:creationId xmlns:a16="http://schemas.microsoft.com/office/drawing/2014/main" id="{76B0E373-5A51-EF6A-8107-1BE9A0488485}"/>
              </a:ext>
            </a:extLst>
          </p:cNvPr>
          <p:cNvPicPr preferRelativeResize="0"/>
          <p:nvPr/>
        </p:nvPicPr>
        <p:blipFill rotWithShape="1">
          <a:blip r:embed="rId3">
            <a:alphaModFix/>
          </a:blip>
          <a:srcRect/>
          <a:stretch/>
        </p:blipFill>
        <p:spPr>
          <a:xfrm>
            <a:off x="9910045" y="6265602"/>
            <a:ext cx="1954665" cy="313179"/>
          </a:xfrm>
          <a:prstGeom prst="rect">
            <a:avLst/>
          </a:prstGeom>
          <a:noFill/>
          <a:ln>
            <a:noFill/>
          </a:ln>
        </p:spPr>
      </p:pic>
      <p:sp>
        <p:nvSpPr>
          <p:cNvPr id="2" name="Text Placeholder 7">
            <a:extLst>
              <a:ext uri="{FF2B5EF4-FFF2-40B4-BE49-F238E27FC236}">
                <a16:creationId xmlns:a16="http://schemas.microsoft.com/office/drawing/2014/main" id="{D28C94EB-F974-38E2-D66B-FC7C99F94C00}"/>
              </a:ext>
            </a:extLst>
          </p:cNvPr>
          <p:cNvSpPr>
            <a:spLocks noGrp="1"/>
          </p:cNvSpPr>
          <p:nvPr>
            <p:ph type="body" sz="quarter" idx="10" hasCustomPrompt="1"/>
          </p:nvPr>
        </p:nvSpPr>
        <p:spPr>
          <a:xfrm>
            <a:off x="319538" y="274638"/>
            <a:ext cx="11285087" cy="689638"/>
          </a:xfrm>
        </p:spPr>
        <p:txBody>
          <a:bodyPr anchor="ctr">
            <a:normAutofit/>
          </a:bodyPr>
          <a:lstStyle>
            <a:lvl1pPr marL="0" indent="0">
              <a:buNone/>
              <a:defRPr sz="4000" b="1">
                <a:solidFill>
                  <a:schemeClr val="bg1"/>
                </a:solidFill>
              </a:defRPr>
            </a:lvl1pPr>
          </a:lstStyle>
          <a:p>
            <a:pPr lvl="0"/>
            <a:r>
              <a:rPr lang="en-US"/>
              <a:t>Your Team Headline Here</a:t>
            </a:r>
          </a:p>
        </p:txBody>
      </p:sp>
      <p:sp>
        <p:nvSpPr>
          <p:cNvPr id="12" name="Picture Placeholder 11">
            <a:extLst>
              <a:ext uri="{FF2B5EF4-FFF2-40B4-BE49-F238E27FC236}">
                <a16:creationId xmlns:a16="http://schemas.microsoft.com/office/drawing/2014/main" id="{4FDC31F1-71A5-3351-DCDB-81A1564F1E60}"/>
              </a:ext>
            </a:extLst>
          </p:cNvPr>
          <p:cNvSpPr>
            <a:spLocks noGrp="1"/>
          </p:cNvSpPr>
          <p:nvPr>
            <p:ph type="pic" sz="quarter" idx="11" hasCustomPrompt="1"/>
          </p:nvPr>
        </p:nvSpPr>
        <p:spPr>
          <a:xfrm>
            <a:off x="87630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4" name="Picture Placeholder 11">
            <a:extLst>
              <a:ext uri="{FF2B5EF4-FFF2-40B4-BE49-F238E27FC236}">
                <a16:creationId xmlns:a16="http://schemas.microsoft.com/office/drawing/2014/main" id="{0911CF29-AD97-F69E-2B40-092891117411}"/>
              </a:ext>
            </a:extLst>
          </p:cNvPr>
          <p:cNvSpPr>
            <a:spLocks noGrp="1"/>
          </p:cNvSpPr>
          <p:nvPr>
            <p:ph type="pic" sz="quarter" idx="12" hasCustomPrompt="1"/>
          </p:nvPr>
        </p:nvSpPr>
        <p:spPr>
          <a:xfrm>
            <a:off x="36576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5" name="Picture Placeholder 11">
            <a:extLst>
              <a:ext uri="{FF2B5EF4-FFF2-40B4-BE49-F238E27FC236}">
                <a16:creationId xmlns:a16="http://schemas.microsoft.com/office/drawing/2014/main" id="{C57A5E74-817E-6F2A-630E-185B8659411C}"/>
              </a:ext>
            </a:extLst>
          </p:cNvPr>
          <p:cNvSpPr>
            <a:spLocks noGrp="1"/>
          </p:cNvSpPr>
          <p:nvPr>
            <p:ph type="pic" sz="quarter" idx="13" hasCustomPrompt="1"/>
          </p:nvPr>
        </p:nvSpPr>
        <p:spPr>
          <a:xfrm>
            <a:off x="6210300" y="2286000"/>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6" name="Picture Placeholder 11">
            <a:extLst>
              <a:ext uri="{FF2B5EF4-FFF2-40B4-BE49-F238E27FC236}">
                <a16:creationId xmlns:a16="http://schemas.microsoft.com/office/drawing/2014/main" id="{E800F39E-63B9-89F7-B6F0-7B7FED5A0703}"/>
              </a:ext>
            </a:extLst>
          </p:cNvPr>
          <p:cNvSpPr>
            <a:spLocks noGrp="1"/>
          </p:cNvSpPr>
          <p:nvPr>
            <p:ph type="pic" sz="quarter" idx="14" hasCustomPrompt="1"/>
          </p:nvPr>
        </p:nvSpPr>
        <p:spPr>
          <a:xfrm>
            <a:off x="1104900" y="2257425"/>
            <a:ext cx="1828800" cy="1828800"/>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lvl1pPr marL="0" indent="0" algn="ctr">
              <a:buNone/>
              <a:defRPr sz="1600" b="1">
                <a:solidFill>
                  <a:schemeClr val="tx1"/>
                </a:solidFill>
              </a:defRPr>
            </a:lvl1pPr>
          </a:lstStyle>
          <a:p>
            <a:r>
              <a:rPr lang="en-US"/>
              <a:t>Click to Insert Picture</a:t>
            </a:r>
          </a:p>
        </p:txBody>
      </p:sp>
      <p:sp>
        <p:nvSpPr>
          <p:cNvPr id="18" name="Text Placeholder 17">
            <a:extLst>
              <a:ext uri="{FF2B5EF4-FFF2-40B4-BE49-F238E27FC236}">
                <a16:creationId xmlns:a16="http://schemas.microsoft.com/office/drawing/2014/main" id="{03E423FD-6C72-BF92-A55E-BF1ABDB66CBD}"/>
              </a:ext>
            </a:extLst>
          </p:cNvPr>
          <p:cNvSpPr>
            <a:spLocks noGrp="1"/>
          </p:cNvSpPr>
          <p:nvPr>
            <p:ph type="body" sz="quarter" idx="15" hasCustomPrompt="1"/>
          </p:nvPr>
        </p:nvSpPr>
        <p:spPr>
          <a:xfrm>
            <a:off x="11049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0" name="Text Placeholder 19">
            <a:extLst>
              <a:ext uri="{FF2B5EF4-FFF2-40B4-BE49-F238E27FC236}">
                <a16:creationId xmlns:a16="http://schemas.microsoft.com/office/drawing/2014/main" id="{9002B9DA-683A-9202-0023-F0CCD6F86DD2}"/>
              </a:ext>
            </a:extLst>
          </p:cNvPr>
          <p:cNvSpPr>
            <a:spLocks noGrp="1"/>
          </p:cNvSpPr>
          <p:nvPr>
            <p:ph type="body" sz="quarter" idx="16" hasCustomPrompt="1"/>
          </p:nvPr>
        </p:nvSpPr>
        <p:spPr>
          <a:xfrm>
            <a:off x="11049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1" name="Text Placeholder 17">
            <a:extLst>
              <a:ext uri="{FF2B5EF4-FFF2-40B4-BE49-F238E27FC236}">
                <a16:creationId xmlns:a16="http://schemas.microsoft.com/office/drawing/2014/main" id="{79CAFE42-F851-2D70-A1C7-034DB05B2662}"/>
              </a:ext>
            </a:extLst>
          </p:cNvPr>
          <p:cNvSpPr>
            <a:spLocks noGrp="1"/>
          </p:cNvSpPr>
          <p:nvPr>
            <p:ph type="body" sz="quarter" idx="17" hasCustomPrompt="1"/>
          </p:nvPr>
        </p:nvSpPr>
        <p:spPr>
          <a:xfrm>
            <a:off x="36576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2" name="Text Placeholder 19">
            <a:extLst>
              <a:ext uri="{FF2B5EF4-FFF2-40B4-BE49-F238E27FC236}">
                <a16:creationId xmlns:a16="http://schemas.microsoft.com/office/drawing/2014/main" id="{CD6A6551-C706-F77B-D38F-B6C95BEF1B8C}"/>
              </a:ext>
            </a:extLst>
          </p:cNvPr>
          <p:cNvSpPr>
            <a:spLocks noGrp="1"/>
          </p:cNvSpPr>
          <p:nvPr>
            <p:ph type="body" sz="quarter" idx="18" hasCustomPrompt="1"/>
          </p:nvPr>
        </p:nvSpPr>
        <p:spPr>
          <a:xfrm>
            <a:off x="36576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3" name="Text Placeholder 17">
            <a:extLst>
              <a:ext uri="{FF2B5EF4-FFF2-40B4-BE49-F238E27FC236}">
                <a16:creationId xmlns:a16="http://schemas.microsoft.com/office/drawing/2014/main" id="{0EB6B899-749B-E210-D587-75B7A83FB5B5}"/>
              </a:ext>
            </a:extLst>
          </p:cNvPr>
          <p:cNvSpPr>
            <a:spLocks noGrp="1"/>
          </p:cNvSpPr>
          <p:nvPr>
            <p:ph type="body" sz="quarter" idx="19" hasCustomPrompt="1"/>
          </p:nvPr>
        </p:nvSpPr>
        <p:spPr>
          <a:xfrm>
            <a:off x="62103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4" name="Text Placeholder 19">
            <a:extLst>
              <a:ext uri="{FF2B5EF4-FFF2-40B4-BE49-F238E27FC236}">
                <a16:creationId xmlns:a16="http://schemas.microsoft.com/office/drawing/2014/main" id="{1435A58C-3861-C5BF-96A5-5D126DD37C41}"/>
              </a:ext>
            </a:extLst>
          </p:cNvPr>
          <p:cNvSpPr>
            <a:spLocks noGrp="1"/>
          </p:cNvSpPr>
          <p:nvPr>
            <p:ph type="body" sz="quarter" idx="20" hasCustomPrompt="1"/>
          </p:nvPr>
        </p:nvSpPr>
        <p:spPr>
          <a:xfrm>
            <a:off x="62103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25" name="Text Placeholder 17">
            <a:extLst>
              <a:ext uri="{FF2B5EF4-FFF2-40B4-BE49-F238E27FC236}">
                <a16:creationId xmlns:a16="http://schemas.microsoft.com/office/drawing/2014/main" id="{E0EFE778-BF84-6322-5A64-BBA6FAA84216}"/>
              </a:ext>
            </a:extLst>
          </p:cNvPr>
          <p:cNvSpPr>
            <a:spLocks noGrp="1"/>
          </p:cNvSpPr>
          <p:nvPr>
            <p:ph type="body" sz="quarter" idx="21" hasCustomPrompt="1"/>
          </p:nvPr>
        </p:nvSpPr>
        <p:spPr>
          <a:xfrm>
            <a:off x="8763000" y="4210050"/>
            <a:ext cx="1828800" cy="295275"/>
          </a:xfrm>
        </p:spPr>
        <p:txBody>
          <a:bodyPr>
            <a:noAutofit/>
          </a:bodyPr>
          <a:lstStyle>
            <a:lvl1pPr marL="0" indent="0" algn="ctr">
              <a:buNone/>
              <a:defRPr sz="1600" b="1">
                <a:solidFill>
                  <a:schemeClr val="bg1"/>
                </a:solidFill>
              </a:defRPr>
            </a:lvl1pPr>
          </a:lstStyle>
          <a:p>
            <a:pPr lvl="0"/>
            <a:r>
              <a:rPr lang="en-US"/>
              <a:t>Name</a:t>
            </a:r>
          </a:p>
        </p:txBody>
      </p:sp>
      <p:sp>
        <p:nvSpPr>
          <p:cNvPr id="26" name="Text Placeholder 19">
            <a:extLst>
              <a:ext uri="{FF2B5EF4-FFF2-40B4-BE49-F238E27FC236}">
                <a16:creationId xmlns:a16="http://schemas.microsoft.com/office/drawing/2014/main" id="{1620FF29-CFC1-4F0A-C421-4E1D2490E832}"/>
              </a:ext>
            </a:extLst>
          </p:cNvPr>
          <p:cNvSpPr>
            <a:spLocks noGrp="1"/>
          </p:cNvSpPr>
          <p:nvPr>
            <p:ph type="body" sz="quarter" idx="22" hasCustomPrompt="1"/>
          </p:nvPr>
        </p:nvSpPr>
        <p:spPr>
          <a:xfrm>
            <a:off x="8763000" y="4600575"/>
            <a:ext cx="1828800" cy="381000"/>
          </a:xfrm>
        </p:spPr>
        <p:txBody>
          <a:bodyPr anchor="ctr">
            <a:normAutofit/>
          </a:bodyPr>
          <a:lstStyle>
            <a:lvl1pPr marL="0" indent="0" algn="ctr">
              <a:buNone/>
              <a:defRPr sz="1600" b="0">
                <a:solidFill>
                  <a:schemeClr val="bg1"/>
                </a:solidFill>
              </a:defRPr>
            </a:lvl1pPr>
          </a:lstStyle>
          <a:p>
            <a:pPr lvl="0"/>
            <a:r>
              <a:rPr lang="en-US" b="0"/>
              <a:t>Title</a:t>
            </a:r>
            <a:endParaRPr lang="en-US"/>
          </a:p>
        </p:txBody>
      </p:sp>
      <p:sp>
        <p:nvSpPr>
          <p:cNvPr id="3" name="TextBox 2">
            <a:extLst>
              <a:ext uri="{FF2B5EF4-FFF2-40B4-BE49-F238E27FC236}">
                <a16:creationId xmlns:a16="http://schemas.microsoft.com/office/drawing/2014/main" id="{1E3C957F-5D12-A7C9-69FE-8240D48A5176}"/>
              </a:ext>
            </a:extLst>
          </p:cNvPr>
          <p:cNvSpPr txBox="1"/>
          <p:nvPr/>
        </p:nvSpPr>
        <p:spPr>
          <a:xfrm>
            <a:off x="319538" y="6351749"/>
            <a:ext cx="3633337" cy="246221"/>
          </a:xfrm>
          <a:prstGeom prst="rect">
            <a:avLst/>
          </a:prstGeom>
          <a:noFill/>
        </p:spPr>
        <p:txBody>
          <a:bodyPr wrap="square" rtlCol="0">
            <a:spAutoFit/>
          </a:bodyPr>
          <a:lstStyle/>
          <a:p>
            <a:r>
              <a:rPr lang="en-US" sz="1000">
                <a:solidFill>
                  <a:schemeClr val="bg1"/>
                </a:solidFill>
                <a:latin typeface="Montserrat" panose="00000500000000000000" pitchFamily="50" charset="0"/>
              </a:rPr>
              <a:t>MADISON LOGIC CONFIDENTIAL. All rights reserved.</a:t>
            </a:r>
          </a:p>
        </p:txBody>
      </p:sp>
    </p:spTree>
    <p:extLst>
      <p:ext uri="{BB962C8B-B14F-4D97-AF65-F5344CB8AC3E}">
        <p14:creationId xmlns:p14="http://schemas.microsoft.com/office/powerpoint/2010/main" val="3610332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EE7003-E3F5-3869-DB18-C04CFFB8ED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501C5-EE0D-BF7A-6619-57CFF118B4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54613-3DF6-2C8A-483F-B7B79B1A57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B3163E-F649-4DB5-8064-529B49A45158}" type="datetimeFigureOut">
              <a:rPr lang="en-US" smtClean="0"/>
              <a:t>15-Jul-26</a:t>
            </a:fld>
            <a:endParaRPr lang="en-US"/>
          </a:p>
        </p:txBody>
      </p:sp>
      <p:sp>
        <p:nvSpPr>
          <p:cNvPr id="5" name="Footer Placeholder 4">
            <a:extLst>
              <a:ext uri="{FF2B5EF4-FFF2-40B4-BE49-F238E27FC236}">
                <a16:creationId xmlns:a16="http://schemas.microsoft.com/office/drawing/2014/main" id="{9E92917D-2A8B-CC77-4021-A1FCC6FBBE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0CC5FA-FEE8-285D-A117-B3344228F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F97B5D-7784-481A-8005-01EFD7A8D110}" type="slidenum">
              <a:rPr lang="en-US" smtClean="0"/>
              <a:t>‹#›</a:t>
            </a:fld>
            <a:endParaRPr lang="en-US"/>
          </a:p>
        </p:txBody>
      </p:sp>
    </p:spTree>
    <p:extLst>
      <p:ext uri="{BB962C8B-B14F-4D97-AF65-F5344CB8AC3E}">
        <p14:creationId xmlns:p14="http://schemas.microsoft.com/office/powerpoint/2010/main" val="1579342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Report"/>
          <p:cNvSpPr>
            <a:spLocks noGrp="1"/>
          </p:cNvSpPr>
          <p:nvPr>
            <p:ph type="body" sz="quarter" idx="10"/>
          </p:nvPr>
        </p:nvSpPr>
        <p:spPr/>
        <p:txBody>
          <a:bodyPr wrap="square">
            <a:normAutofit fontScale="92500" lnSpcReduction="10000"/>
          </a:bodyPr>
          <a:lstStyle/>
          <a:p>
            <a:pPr algn="l"/>
            <a:r>
              <a:rPr sz="3400" b="1" i="0" dirty="0">
                <a:solidFill>
                  <a:srgbClr val="FFFFFF"/>
                </a:solidFill>
                <a:latin typeface="Montserrat" panose="00000500000000000000" pitchFamily="2" charset="0"/>
              </a:rPr>
              <a:t>H1 2026 Quarterly Business Review</a:t>
            </a:r>
          </a:p>
        </p:txBody>
      </p:sp>
      <p:sp>
        <p:nvSpPr>
          <p:cNvPr id="3" name="SUBTITLE_Report"/>
          <p:cNvSpPr>
            <a:spLocks noGrp="1"/>
          </p:cNvSpPr>
          <p:nvPr>
            <p:ph type="body" sz="quarter" idx="11"/>
          </p:nvPr>
        </p:nvSpPr>
        <p:spPr/>
        <p:txBody>
          <a:bodyPr wrap="square">
            <a:normAutofit fontScale="92500"/>
          </a:bodyPr>
          <a:lstStyle/>
          <a:p>
            <a:pPr algn="l"/>
            <a:r>
              <a:rPr sz="1600" b="0" i="0" dirty="0">
                <a:solidFill>
                  <a:srgbClr val="E8E8E8"/>
                </a:solidFill>
                <a:latin typeface="Montserrat" panose="00000500000000000000" pitchFamily="2" charset="0"/>
              </a:rPr>
              <a:t>Campaign Performance, Comparative Analysis &amp; Value-Add Impact</a:t>
            </a:r>
          </a:p>
        </p:txBody>
      </p:sp>
      <p:sp>
        <p:nvSpPr>
          <p:cNvPr id="4" name="PERIOD_Report"/>
          <p:cNvSpPr>
            <a:spLocks noGrp="1"/>
          </p:cNvSpPr>
          <p:nvPr>
            <p:ph type="body" sz="quarter" idx="12"/>
          </p:nvPr>
        </p:nvSpPr>
        <p:spPr/>
        <p:txBody>
          <a:bodyPr wrap="square"/>
          <a:lstStyle/>
          <a:p>
            <a:pPr algn="l"/>
            <a:r>
              <a:rPr sz="1350" b="1" i="0" dirty="0">
                <a:solidFill>
                  <a:srgbClr val="1C6AFE"/>
                </a:solidFill>
                <a:latin typeface="Montserrat" panose="00000500000000000000" pitchFamily="2" charset="0"/>
              </a:rPr>
              <a:t>Q1 2026 – Q2 2026  |  10 Jan 2026 – 2 Jul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wrap="square"/>
          <a:lstStyle/>
          <a:p>
            <a:pPr marL="0" indent="0">
              <a:spcAft>
                <a:spcPts val="1600"/>
              </a:spcAft>
              <a:buNone/>
            </a:pPr>
            <a:r>
              <a:rPr sz="1600" b="1" dirty="0">
                <a:solidFill>
                  <a:srgbClr val="1C6AFE"/>
                </a:solidFill>
                <a:latin typeface="Montserrat Medium" panose="00000600000000000000" pitchFamily="2" charset="0"/>
              </a:rPr>
              <a:t>01   </a:t>
            </a:r>
            <a:r>
              <a:rPr sz="1600" dirty="0">
                <a:solidFill>
                  <a:srgbClr val="0E2841"/>
                </a:solidFill>
                <a:latin typeface="Montserrat Medium" panose="00000600000000000000" pitchFamily="2" charset="0"/>
              </a:rPr>
              <a:t>Executive Summary</a:t>
            </a:r>
          </a:p>
          <a:p>
            <a:pPr marL="0" indent="0">
              <a:spcAft>
                <a:spcPts val="1600"/>
              </a:spcAft>
              <a:buNone/>
            </a:pPr>
            <a:r>
              <a:rPr sz="1600" b="1" dirty="0">
                <a:solidFill>
                  <a:srgbClr val="1C6AFE"/>
                </a:solidFill>
                <a:latin typeface="Montserrat Medium" panose="00000600000000000000" pitchFamily="2" charset="0"/>
              </a:rPr>
              <a:t>02   </a:t>
            </a:r>
            <a:r>
              <a:rPr sz="1600" dirty="0">
                <a:solidFill>
                  <a:srgbClr val="0E2841"/>
                </a:solidFill>
                <a:latin typeface="Montserrat Medium" panose="00000600000000000000" pitchFamily="2" charset="0"/>
              </a:rPr>
              <a:t>Campaign Snapshot</a:t>
            </a:r>
          </a:p>
          <a:p>
            <a:pPr marL="0" indent="0">
              <a:spcAft>
                <a:spcPts val="1600"/>
              </a:spcAft>
              <a:buNone/>
            </a:pPr>
            <a:r>
              <a:rPr sz="1600" b="1" dirty="0">
                <a:solidFill>
                  <a:srgbClr val="1C6AFE"/>
                </a:solidFill>
                <a:latin typeface="Montserrat Medium" panose="00000600000000000000" pitchFamily="2" charset="0"/>
              </a:rPr>
              <a:t>03   </a:t>
            </a:r>
            <a:r>
              <a:rPr sz="1600" dirty="0">
                <a:solidFill>
                  <a:srgbClr val="0E2841"/>
                </a:solidFill>
                <a:latin typeface="Montserrat Medium" panose="00000600000000000000" pitchFamily="2" charset="0"/>
              </a:rPr>
              <a:t>Q1 2026 Performance</a:t>
            </a:r>
          </a:p>
          <a:p>
            <a:pPr marL="0" indent="0">
              <a:spcAft>
                <a:spcPts val="1600"/>
              </a:spcAft>
              <a:buNone/>
            </a:pPr>
            <a:r>
              <a:rPr sz="1600" b="1" dirty="0">
                <a:solidFill>
                  <a:srgbClr val="1C6AFE"/>
                </a:solidFill>
                <a:latin typeface="Montserrat Medium" panose="00000600000000000000" pitchFamily="2" charset="0"/>
              </a:rPr>
              <a:t>04   </a:t>
            </a:r>
            <a:r>
              <a:rPr sz="1600" dirty="0">
                <a:solidFill>
                  <a:srgbClr val="0E2841"/>
                </a:solidFill>
                <a:latin typeface="Montserrat Medium" panose="00000600000000000000" pitchFamily="2" charset="0"/>
              </a:rPr>
              <a:t>Q2 2026 Performance</a:t>
            </a:r>
          </a:p>
          <a:p>
            <a:pPr marL="0" indent="0">
              <a:spcAft>
                <a:spcPts val="1600"/>
              </a:spcAft>
              <a:buNone/>
            </a:pPr>
            <a:r>
              <a:rPr sz="1600" b="1" dirty="0">
                <a:solidFill>
                  <a:srgbClr val="1C6AFE"/>
                </a:solidFill>
                <a:latin typeface="Montserrat Medium" panose="00000600000000000000" pitchFamily="2" charset="0"/>
              </a:rPr>
              <a:t>05   </a:t>
            </a:r>
            <a:r>
              <a:rPr sz="1600" dirty="0">
                <a:solidFill>
                  <a:srgbClr val="0E2841"/>
                </a:solidFill>
                <a:latin typeface="Montserrat Medium" panose="00000600000000000000" pitchFamily="2" charset="0"/>
              </a:rPr>
              <a:t>Quarter-over-Quarter Comparative Analysis</a:t>
            </a:r>
          </a:p>
          <a:p>
            <a:pPr marL="0" indent="0">
              <a:spcAft>
                <a:spcPts val="1600"/>
              </a:spcAft>
              <a:buNone/>
            </a:pPr>
            <a:r>
              <a:rPr sz="1600" b="1" dirty="0">
                <a:solidFill>
                  <a:srgbClr val="1C6AFE"/>
                </a:solidFill>
                <a:latin typeface="Montserrat Medium" panose="00000600000000000000" pitchFamily="2" charset="0"/>
              </a:rPr>
              <a:t>06   </a:t>
            </a:r>
            <a:r>
              <a:rPr sz="1600" dirty="0">
                <a:solidFill>
                  <a:srgbClr val="0E2841"/>
                </a:solidFill>
                <a:latin typeface="Montserrat Medium" panose="00000600000000000000" pitchFamily="2" charset="0"/>
              </a:rPr>
              <a:t>Content, Audience &amp; Intent Insights</a:t>
            </a:r>
          </a:p>
          <a:p>
            <a:pPr marL="0" indent="0">
              <a:spcAft>
                <a:spcPts val="1600"/>
              </a:spcAft>
              <a:buNone/>
            </a:pPr>
            <a:r>
              <a:rPr sz="1600" b="1" dirty="0">
                <a:solidFill>
                  <a:srgbClr val="1C6AFE"/>
                </a:solidFill>
                <a:latin typeface="Montserrat Medium" panose="00000600000000000000" pitchFamily="2" charset="0"/>
              </a:rPr>
              <a:t>07   </a:t>
            </a:r>
            <a:r>
              <a:rPr sz="1600" dirty="0">
                <a:solidFill>
                  <a:srgbClr val="0E2841"/>
                </a:solidFill>
                <a:latin typeface="Montserrat Medium" panose="00000600000000000000" pitchFamily="2" charset="0"/>
              </a:rPr>
              <a:t>Key Learnings &amp; Optimization Highlights</a:t>
            </a:r>
          </a:p>
          <a:p>
            <a:pPr marL="0" indent="0">
              <a:spcAft>
                <a:spcPts val="1600"/>
              </a:spcAft>
              <a:buNone/>
            </a:pPr>
            <a:r>
              <a:rPr sz="1600" b="1" dirty="0">
                <a:solidFill>
                  <a:srgbClr val="1C6AFE"/>
                </a:solidFill>
                <a:latin typeface="Montserrat Medium" panose="00000600000000000000" pitchFamily="2" charset="0"/>
              </a:rPr>
              <a:t>08   </a:t>
            </a:r>
            <a:r>
              <a:rPr sz="1600" dirty="0">
                <a:solidFill>
                  <a:srgbClr val="0E2841"/>
                </a:solidFill>
                <a:latin typeface="Montserrat Medium" panose="00000600000000000000" pitchFamily="2" charset="0"/>
              </a:rPr>
              <a:t>Momentum &amp; 2026 Outlook</a:t>
            </a:r>
          </a:p>
          <a:p>
            <a:pPr marL="0" indent="0">
              <a:spcAft>
                <a:spcPts val="1600"/>
              </a:spcAft>
              <a:buNone/>
            </a:pPr>
            <a:r>
              <a:rPr sz="1600" b="1" dirty="0">
                <a:solidFill>
                  <a:srgbClr val="1C6AFE"/>
                </a:solidFill>
                <a:latin typeface="Montserrat Medium" panose="00000600000000000000" pitchFamily="2" charset="0"/>
              </a:rPr>
              <a:t>09   </a:t>
            </a:r>
            <a:r>
              <a:rPr sz="1600" dirty="0">
                <a:solidFill>
                  <a:srgbClr val="0E2841"/>
                </a:solidFill>
                <a:latin typeface="Montserrat Medium" panose="00000600000000000000" pitchFamily="2" charset="0"/>
              </a:rPr>
              <a:t>Value-Add Lead Impact Summary</a:t>
            </a:r>
          </a:p>
        </p:txBody>
      </p:sp>
      <p:sp>
        <p:nvSpPr>
          <p:cNvPr id="3" name="Text Placeholder 2"/>
          <p:cNvSpPr>
            <a:spLocks noGrp="1"/>
          </p:cNvSpPr>
          <p:nvPr>
            <p:ph type="body" sz="quarter" idx="11"/>
          </p:nvPr>
        </p:nvSpPr>
        <p:spPr>
          <a:xfrm>
            <a:off x="1484694" y="2776855"/>
            <a:ext cx="2374073" cy="773113"/>
          </a:xfrm>
        </p:spPr>
        <p:txBody>
          <a:bodyPr wrap="square">
            <a:noAutofit/>
          </a:bodyPr>
          <a:lstStyle/>
          <a:p>
            <a:pPr algn="l"/>
            <a:r>
              <a:rPr sz="3400" b="1" i="0" dirty="0">
                <a:solidFill>
                  <a:srgbClr val="FFFFFF"/>
                </a:solidFill>
                <a:latin typeface="Montserrat" panose="00000500000000000000" pitchFamily="2"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ExecutiveSummary"/>
          <p:cNvSpPr>
            <a:spLocks noGrp="1"/>
          </p:cNvSpPr>
          <p:nvPr>
            <p:ph type="body" sz="quarter" idx="10"/>
          </p:nvPr>
        </p:nvSpPr>
        <p:spPr>
          <a:xfrm>
            <a:off x="214" y="2996406"/>
            <a:ext cx="6095786" cy="865187"/>
          </a:xfrm>
        </p:spPr>
        <p:txBody>
          <a:bodyPr wrap="square" lIns="365760" rIns="274320">
            <a:noAutofit/>
          </a:bodyPr>
          <a:lstStyle/>
          <a:p>
            <a:pPr algn="l">
              <a:lnSpc>
                <a:spcPct val="105000"/>
              </a:lnSpc>
            </a:pPr>
            <a:r>
              <a:rPr sz="3400" b="1" i="0" dirty="0">
                <a:solidFill>
                  <a:srgbClr val="FFFFFF"/>
                </a:solidFill>
                <a:latin typeface="Montserrat" panose="00000500000000000000" pitchFamily="2" charset="0"/>
              </a:rPr>
              <a:t>H1 2026: broad-based growth in reach</a:t>
            </a:r>
          </a:p>
        </p:txBody>
      </p:sp>
      <p:sp>
        <p:nvSpPr>
          <p:cNvPr id="3" name="AI_ExecutiveSummary"/>
          <p:cNvSpPr>
            <a:spLocks noGrp="1"/>
          </p:cNvSpPr>
          <p:nvPr>
            <p:ph type="body" sz="quarter" idx="11"/>
          </p:nvPr>
        </p:nvSpPr>
        <p:spPr/>
        <p:txBody>
          <a:bodyPr wrap="square"/>
          <a:lstStyle/>
          <a:p>
            <a:pPr marL="0" indent="0">
              <a:spcAft>
                <a:spcPts val="1400"/>
              </a:spcAft>
              <a:buNone/>
            </a:pPr>
            <a:r>
              <a:rPr sz="3000" b="1" dirty="0">
                <a:solidFill>
                  <a:schemeClr val="accent1"/>
                </a:solidFill>
                <a:latin typeface="Montserrat" panose="00000500000000000000" pitchFamily="2" charset="0"/>
              </a:rPr>
              <a:t>Executive Summary</a:t>
            </a:r>
          </a:p>
          <a:p>
            <a:pPr marL="0" indent="0">
              <a:spcAft>
                <a:spcPts val="200"/>
              </a:spcAft>
              <a:buNone/>
            </a:pPr>
            <a:r>
              <a:rPr sz="2000" b="1" dirty="0">
                <a:solidFill>
                  <a:srgbClr val="1C6AFE"/>
                </a:solidFill>
                <a:latin typeface="Montserrat" panose="00000500000000000000" pitchFamily="2" charset="0"/>
              </a:rPr>
              <a:t>1,621  </a:t>
            </a:r>
            <a:r>
              <a:rPr sz="1400" b="1" dirty="0">
                <a:solidFill>
                  <a:srgbClr val="0E2841"/>
                </a:solidFill>
                <a:latin typeface="Montserrat" panose="00000500000000000000" pitchFamily="2" charset="0"/>
              </a:rPr>
              <a:t>Total Leads (H1)</a:t>
            </a:r>
          </a:p>
          <a:p>
            <a:pPr marL="0" indent="0">
              <a:spcAft>
                <a:spcPts val="1400"/>
              </a:spcAft>
              <a:buNone/>
            </a:pPr>
            <a:r>
              <a:rPr sz="1400" dirty="0">
                <a:solidFill>
                  <a:srgbClr val="555B6E"/>
                </a:solidFill>
                <a:latin typeface="Montserrat Medium" panose="00000600000000000000" pitchFamily="2" charset="0"/>
              </a:rPr>
              <a:t>+0.75% QoQ  (799 → 805)</a:t>
            </a:r>
          </a:p>
          <a:p>
            <a:pPr marL="0" indent="0">
              <a:spcAft>
                <a:spcPts val="200"/>
              </a:spcAft>
              <a:buNone/>
            </a:pPr>
            <a:r>
              <a:rPr sz="2000" b="1" dirty="0">
                <a:solidFill>
                  <a:srgbClr val="1C6AFE"/>
                </a:solidFill>
                <a:latin typeface="Montserrat" panose="00000500000000000000" pitchFamily="2" charset="0"/>
              </a:rPr>
              <a:t>647  </a:t>
            </a:r>
            <a:r>
              <a:rPr sz="1400" b="1" dirty="0">
                <a:solidFill>
                  <a:srgbClr val="0E2841"/>
                </a:solidFill>
                <a:latin typeface="Montserrat" panose="00000500000000000000" pitchFamily="2" charset="0"/>
              </a:rPr>
              <a:t>Unique Accounts (H1)</a:t>
            </a:r>
          </a:p>
          <a:p>
            <a:pPr marL="0" indent="0">
              <a:spcAft>
                <a:spcPts val="1400"/>
              </a:spcAft>
              <a:buNone/>
            </a:pPr>
            <a:r>
              <a:rPr sz="1400" dirty="0">
                <a:solidFill>
                  <a:srgbClr val="555B6E"/>
                </a:solidFill>
                <a:latin typeface="Montserrat Medium" panose="00000600000000000000" pitchFamily="2" charset="0"/>
              </a:rPr>
              <a:t>+18.58% QoQ  (393 → 466)</a:t>
            </a:r>
          </a:p>
          <a:p>
            <a:pPr marL="0" indent="0">
              <a:spcAft>
                <a:spcPts val="200"/>
              </a:spcAft>
              <a:buNone/>
            </a:pPr>
            <a:r>
              <a:rPr sz="2000" b="1" dirty="0">
                <a:solidFill>
                  <a:srgbClr val="1C6AFE"/>
                </a:solidFill>
                <a:latin typeface="Montserrat" panose="00000500000000000000" pitchFamily="2" charset="0"/>
              </a:rPr>
              <a:t>4  </a:t>
            </a:r>
            <a:r>
              <a:rPr sz="1400" b="1" dirty="0">
                <a:solidFill>
                  <a:srgbClr val="0E2841"/>
                </a:solidFill>
                <a:latin typeface="Montserrat" panose="00000500000000000000" pitchFamily="2" charset="0"/>
              </a:rPr>
              <a:t>Assets in Market</a:t>
            </a:r>
          </a:p>
          <a:p>
            <a:pPr marL="0" indent="0">
              <a:spcAft>
                <a:spcPts val="1400"/>
              </a:spcAft>
              <a:buNone/>
            </a:pPr>
            <a:r>
              <a:rPr sz="1400" dirty="0">
                <a:solidFill>
                  <a:srgbClr val="555B6E"/>
                </a:solidFill>
                <a:latin typeface="Montserrat Medium" panose="00000600000000000000" pitchFamily="2" charset="0"/>
              </a:rPr>
              <a:t>No change – consistent content investment</a:t>
            </a:r>
          </a:p>
          <a:p>
            <a:pPr marL="0" indent="0">
              <a:spcAft>
                <a:spcPts val="200"/>
              </a:spcAft>
              <a:buNone/>
            </a:pPr>
            <a:r>
              <a:rPr sz="2000" b="1" dirty="0">
                <a:solidFill>
                  <a:srgbClr val="1C6AFE"/>
                </a:solidFill>
                <a:latin typeface="Montserrat" panose="00000500000000000000" pitchFamily="2" charset="0"/>
              </a:rPr>
              <a:t>19  </a:t>
            </a:r>
            <a:r>
              <a:rPr sz="1400" b="1" dirty="0">
                <a:solidFill>
                  <a:srgbClr val="0E2841"/>
                </a:solidFill>
                <a:latin typeface="Montserrat" panose="00000500000000000000" pitchFamily="2" charset="0"/>
              </a:rPr>
              <a:t>Trending Topics Tracked</a:t>
            </a:r>
          </a:p>
          <a:p>
            <a:pPr marL="0" indent="0">
              <a:spcAft>
                <a:spcPts val="1400"/>
              </a:spcAft>
              <a:buNone/>
            </a:pPr>
            <a:r>
              <a:rPr sz="1400" dirty="0">
                <a:solidFill>
                  <a:srgbClr val="555B6E"/>
                </a:solidFill>
                <a:latin typeface="Montserrat Medium" panose="00000600000000000000" pitchFamily="2" charset="0"/>
              </a:rPr>
              <a:t>Across 5 categories of buyer interest</a:t>
            </a:r>
          </a:p>
          <a:p>
            <a:pPr marL="0" indent="0">
              <a:spcAft>
                <a:spcPts val="1400"/>
              </a:spcAft>
              <a:buNone/>
            </a:pPr>
            <a:r>
              <a:rPr sz="1400" dirty="0">
                <a:solidFill>
                  <a:srgbClr val="555B6E"/>
                </a:solidFill>
                <a:latin typeface="Montserrat Medium" panose="00000600000000000000" pitchFamily="2" charset="0"/>
              </a:rPr>
              <a:t>Lead volume held stable while unique account reach expanded sharply – the campaign is converting a wider base of healthcare organizations, not just repeat engagement from the same accounts.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A_CampaignDescription"/>
          <p:cNvSpPr>
            <a:spLocks noGrp="1"/>
          </p:cNvSpPr>
          <p:nvPr>
            <p:ph type="body" sz="quarter" idx="10"/>
          </p:nvPr>
        </p:nvSpPr>
        <p:spPr>
          <a:xfrm>
            <a:off x="853440" y="1401064"/>
            <a:ext cx="10515600" cy="590550"/>
          </a:xfrm>
        </p:spPr>
        <p:txBody>
          <a:bodyPr wrap="square"/>
          <a:lstStyle/>
          <a:p>
            <a:pPr algn="l"/>
            <a:r>
              <a:rPr sz="1500" b="0" i="0" dirty="0">
                <a:solidFill>
                  <a:srgbClr val="555B6E"/>
                </a:solidFill>
                <a:latin typeface="Montserrat" panose="00000500000000000000" pitchFamily="2" charset="0"/>
              </a:rPr>
              <a:t>10 Jan 2026 – 2 Jul 2026  ·  Single-market healthcare payments campaign</a:t>
            </a:r>
          </a:p>
        </p:txBody>
      </p:sp>
      <p:sp>
        <p:nvSpPr>
          <p:cNvPr id="4" name="Rectangle 3"/>
          <p:cNvSpPr/>
          <p:nvPr/>
        </p:nvSpPr>
        <p:spPr>
          <a:xfrm>
            <a:off x="838200" y="2203704"/>
            <a:ext cx="5257800" cy="502920"/>
          </a:xfrm>
          <a:prstGeom prst="rect">
            <a:avLst/>
          </a:prstGeom>
          <a:solidFill>
            <a:srgbClr val="26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5" name="Rectangle 4"/>
          <p:cNvSpPr/>
          <p:nvPr/>
        </p:nvSpPr>
        <p:spPr>
          <a:xfrm>
            <a:off x="6096000" y="2203704"/>
            <a:ext cx="5257800" cy="502920"/>
          </a:xfrm>
          <a:prstGeom prst="rect">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PERIOD_Q1"/>
          <p:cNvSpPr txBox="1"/>
          <p:nvPr/>
        </p:nvSpPr>
        <p:spPr>
          <a:xfrm>
            <a:off x="838200" y="2355136"/>
            <a:ext cx="5257800" cy="200055"/>
          </a:xfrm>
          <a:prstGeom prst="rect">
            <a:avLst/>
          </a:prstGeom>
          <a:noFill/>
        </p:spPr>
        <p:txBody>
          <a:bodyPr wrap="square" lIns="0" tIns="0" rIns="0" bIns="0" anchor="ctr">
            <a:spAutoFit/>
          </a:bodyPr>
          <a:lstStyle/>
          <a:p>
            <a:pPr algn="ctr"/>
            <a:r>
              <a:rPr sz="1300" b="1" i="0" dirty="0">
                <a:solidFill>
                  <a:srgbClr val="FFFFFF"/>
                </a:solidFill>
                <a:latin typeface="Montserrat" panose="00000500000000000000" pitchFamily="2" charset="0"/>
              </a:rPr>
              <a:t>Q1 2026  ·  Jan 10 – Mar 31</a:t>
            </a:r>
          </a:p>
        </p:txBody>
      </p:sp>
      <p:sp>
        <p:nvSpPr>
          <p:cNvPr id="7" name="PERIOD_Q2"/>
          <p:cNvSpPr txBox="1"/>
          <p:nvPr/>
        </p:nvSpPr>
        <p:spPr>
          <a:xfrm>
            <a:off x="6096000" y="2355136"/>
            <a:ext cx="5257800" cy="200055"/>
          </a:xfrm>
          <a:prstGeom prst="rect">
            <a:avLst/>
          </a:prstGeom>
          <a:noFill/>
        </p:spPr>
        <p:txBody>
          <a:bodyPr wrap="square" lIns="0" tIns="0" rIns="0" bIns="0" anchor="ctr">
            <a:spAutoFit/>
          </a:bodyPr>
          <a:lstStyle/>
          <a:p>
            <a:pPr algn="ctr"/>
            <a:r>
              <a:rPr sz="1300" b="1" i="0" dirty="0">
                <a:solidFill>
                  <a:srgbClr val="FFFFFF"/>
                </a:solidFill>
                <a:latin typeface="Montserrat" panose="00000500000000000000" pitchFamily="2" charset="0"/>
              </a:rPr>
              <a:t>Q2 2026  ·  Apr 1 – Jul 2</a:t>
            </a:r>
          </a:p>
        </p:txBody>
      </p:sp>
      <p:sp>
        <p:nvSpPr>
          <p:cNvPr id="8" name="Rounded Rectangle 7"/>
          <p:cNvSpPr/>
          <p:nvPr/>
        </p:nvSpPr>
        <p:spPr>
          <a:xfrm>
            <a:off x="972159"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2" name="Rounded Rectangle 11"/>
          <p:cNvSpPr/>
          <p:nvPr/>
        </p:nvSpPr>
        <p:spPr>
          <a:xfrm>
            <a:off x="6239103"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4" name="Rounded Rectangle 13"/>
          <p:cNvSpPr/>
          <p:nvPr/>
        </p:nvSpPr>
        <p:spPr>
          <a:xfrm>
            <a:off x="8872575" y="3026664"/>
            <a:ext cx="2377440" cy="1417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latin typeface="Montserrat" panose="00000500000000000000" pitchFamily="2" charset="0"/>
            </a:endParaRPr>
          </a:p>
        </p:txBody>
      </p:sp>
      <p:sp>
        <p:nvSpPr>
          <p:cNvPr id="16" name="AI_CampaignSnapshot"/>
          <p:cNvSpPr txBox="1"/>
          <p:nvPr/>
        </p:nvSpPr>
        <p:spPr>
          <a:xfrm>
            <a:off x="838200" y="4855464"/>
            <a:ext cx="10515600" cy="425822"/>
          </a:xfrm>
          <a:prstGeom prst="rect">
            <a:avLst/>
          </a:prstGeom>
          <a:noFill/>
        </p:spPr>
        <p:txBody>
          <a:bodyPr wrap="square" lIns="0" tIns="0" rIns="0" bIns="0" anchor="t">
            <a:spAutoFit/>
          </a:bodyPr>
          <a:lstStyle/>
          <a:p>
            <a:pPr algn="l">
              <a:lnSpc>
                <a:spcPct val="120000"/>
              </a:lnSpc>
            </a:pPr>
            <a:r>
              <a:rPr sz="1200" b="1" i="1" dirty="0">
                <a:solidFill>
                  <a:srgbClr val="555B6E"/>
                </a:solidFill>
                <a:latin typeface="Montserrat" panose="00000500000000000000" pitchFamily="2" charset="0"/>
              </a:rPr>
              <a:t>A focused, single-market H1 program: four content assets sustained across both quarters, expanding from 10 to 12 total job titles reached – setting up a broader persona base heading into H2.</a:t>
            </a:r>
          </a:p>
        </p:txBody>
      </p:sp>
      <p:grpSp>
        <p:nvGrpSpPr>
          <p:cNvPr id="21" name="CARD_AssetsUsed">
            <a:extLst>
              <a:ext uri="{FF2B5EF4-FFF2-40B4-BE49-F238E27FC236}">
                <a16:creationId xmlns:a16="http://schemas.microsoft.com/office/drawing/2014/main" id="{E528FFED-70BC-7000-3DA2-5EB10E701F9B}"/>
              </a:ext>
            </a:extLst>
          </p:cNvPr>
          <p:cNvGrpSpPr/>
          <p:nvPr/>
        </p:nvGrpSpPr>
        <p:grpSpPr>
          <a:xfrm>
            <a:off x="1203884" y="3118104"/>
            <a:ext cx="1913990" cy="1130546"/>
            <a:chOff x="847497" y="2506662"/>
            <a:chExt cx="1913990" cy="1130546"/>
          </a:xfrm>
        </p:grpSpPr>
        <p:sp>
          <p:nvSpPr>
            <p:cNvPr id="22" name="Rectangle: Rounded Corners 21">
              <a:extLst>
                <a:ext uri="{FF2B5EF4-FFF2-40B4-BE49-F238E27FC236}">
                  <a16:creationId xmlns:a16="http://schemas.microsoft.com/office/drawing/2014/main" id="{4610DF6E-EFF3-014E-DFE6-E59876592BB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ontserrat" panose="00000500000000000000" pitchFamily="2" charset="0"/>
              </a:endParaRPr>
            </a:p>
          </p:txBody>
        </p:sp>
        <p:sp>
          <p:nvSpPr>
            <p:cNvPr id="23" name="TextBox 22">
              <a:extLst>
                <a:ext uri="{FF2B5EF4-FFF2-40B4-BE49-F238E27FC236}">
                  <a16:creationId xmlns:a16="http://schemas.microsoft.com/office/drawing/2014/main" id="{7096BFA0-0616-0CDC-5812-55C48A8DEFF8}"/>
                </a:ext>
              </a:extLst>
            </p:cNvPr>
            <p:cNvSpPr txBox="1"/>
            <p:nvPr/>
          </p:nvSpPr>
          <p:spPr>
            <a:xfrm>
              <a:off x="1594214" y="2647042"/>
              <a:ext cx="420555"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4</a:t>
              </a:r>
            </a:p>
          </p:txBody>
        </p:sp>
        <p:sp>
          <p:nvSpPr>
            <p:cNvPr id="24" name="TextBox 23">
              <a:extLst>
                <a:ext uri="{FF2B5EF4-FFF2-40B4-BE49-F238E27FC236}">
                  <a16:creationId xmlns:a16="http://schemas.microsoft.com/office/drawing/2014/main" id="{63E8D4A3-B765-1B5F-1606-EB6D5F48EF2B}"/>
                </a:ext>
              </a:extLst>
            </p:cNvPr>
            <p:cNvSpPr txBox="1"/>
            <p:nvPr/>
          </p:nvSpPr>
          <p:spPr>
            <a:xfrm>
              <a:off x="967327" y="3090393"/>
              <a:ext cx="1709046" cy="369332"/>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Assets Used</a:t>
              </a:r>
            </a:p>
          </p:txBody>
        </p:sp>
      </p:grpSp>
      <p:grpSp>
        <p:nvGrpSpPr>
          <p:cNvPr id="25" name="CARD_JobTitles">
            <a:extLst>
              <a:ext uri="{FF2B5EF4-FFF2-40B4-BE49-F238E27FC236}">
                <a16:creationId xmlns:a16="http://schemas.microsoft.com/office/drawing/2014/main" id="{30909CF4-2703-7F2C-F6E1-D7EF4B7B332A}"/>
              </a:ext>
            </a:extLst>
          </p:cNvPr>
          <p:cNvGrpSpPr/>
          <p:nvPr/>
        </p:nvGrpSpPr>
        <p:grpSpPr>
          <a:xfrm>
            <a:off x="3680796" y="3118104"/>
            <a:ext cx="2070904" cy="1145332"/>
            <a:chOff x="783532" y="2506662"/>
            <a:chExt cx="2070904" cy="1145332"/>
          </a:xfrm>
        </p:grpSpPr>
        <p:sp>
          <p:nvSpPr>
            <p:cNvPr id="26" name="Rectangle: Rounded Corners 25">
              <a:extLst>
                <a:ext uri="{FF2B5EF4-FFF2-40B4-BE49-F238E27FC236}">
                  <a16:creationId xmlns:a16="http://schemas.microsoft.com/office/drawing/2014/main" id="{50A44DAF-DFCC-1F2F-E1DD-864365ACD7C0}"/>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ontserrat" panose="00000500000000000000" pitchFamily="2" charset="0"/>
              </a:endParaRPr>
            </a:p>
          </p:txBody>
        </p:sp>
        <p:sp>
          <p:nvSpPr>
            <p:cNvPr id="27" name="TextBox 26">
              <a:extLst>
                <a:ext uri="{FF2B5EF4-FFF2-40B4-BE49-F238E27FC236}">
                  <a16:creationId xmlns:a16="http://schemas.microsoft.com/office/drawing/2014/main" id="{CB1B4A0F-9B65-2DAF-3F05-68F7619661B4}"/>
                </a:ext>
              </a:extLst>
            </p:cNvPr>
            <p:cNvSpPr txBox="1"/>
            <p:nvPr/>
          </p:nvSpPr>
          <p:spPr>
            <a:xfrm>
              <a:off x="1447855" y="2579556"/>
              <a:ext cx="713274"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12</a:t>
              </a:r>
            </a:p>
          </p:txBody>
        </p:sp>
        <p:sp>
          <p:nvSpPr>
            <p:cNvPr id="28" name="TextBox 27">
              <a:extLst>
                <a:ext uri="{FF2B5EF4-FFF2-40B4-BE49-F238E27FC236}">
                  <a16:creationId xmlns:a16="http://schemas.microsoft.com/office/drawing/2014/main" id="{B924A9E6-0099-613B-1F8D-9DD9E1076AEA}"/>
                </a:ext>
              </a:extLst>
            </p:cNvPr>
            <p:cNvSpPr txBox="1"/>
            <p:nvPr/>
          </p:nvSpPr>
          <p:spPr>
            <a:xfrm>
              <a:off x="783532" y="3005663"/>
              <a:ext cx="2070904" cy="646331"/>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Job Titles Reached</a:t>
              </a:r>
            </a:p>
          </p:txBody>
        </p:sp>
      </p:grpSp>
      <p:grpSp>
        <p:nvGrpSpPr>
          <p:cNvPr id="29" name="CARD_Country">
            <a:extLst>
              <a:ext uri="{FF2B5EF4-FFF2-40B4-BE49-F238E27FC236}">
                <a16:creationId xmlns:a16="http://schemas.microsoft.com/office/drawing/2014/main" id="{BB9CB845-8A18-602A-87D2-1A298416287D}"/>
              </a:ext>
            </a:extLst>
          </p:cNvPr>
          <p:cNvGrpSpPr/>
          <p:nvPr/>
        </p:nvGrpSpPr>
        <p:grpSpPr>
          <a:xfrm>
            <a:off x="6259109" y="3118104"/>
            <a:ext cx="1913990" cy="1130546"/>
            <a:chOff x="847497" y="2506662"/>
            <a:chExt cx="1913990" cy="1130546"/>
          </a:xfrm>
        </p:grpSpPr>
        <p:sp>
          <p:nvSpPr>
            <p:cNvPr id="30" name="Rectangle: Rounded Corners 29">
              <a:extLst>
                <a:ext uri="{FF2B5EF4-FFF2-40B4-BE49-F238E27FC236}">
                  <a16:creationId xmlns:a16="http://schemas.microsoft.com/office/drawing/2014/main" id="{5101E78B-B383-DE5A-8C24-1C80D8B265C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ontserrat" panose="00000500000000000000" pitchFamily="2" charset="0"/>
              </a:endParaRPr>
            </a:p>
          </p:txBody>
        </p:sp>
        <p:sp>
          <p:nvSpPr>
            <p:cNvPr id="31" name="TextBox 30">
              <a:extLst>
                <a:ext uri="{FF2B5EF4-FFF2-40B4-BE49-F238E27FC236}">
                  <a16:creationId xmlns:a16="http://schemas.microsoft.com/office/drawing/2014/main" id="{1C514B65-A905-C2C0-CF4E-3E3DCA0B6C24}"/>
                </a:ext>
              </a:extLst>
            </p:cNvPr>
            <p:cNvSpPr txBox="1"/>
            <p:nvPr/>
          </p:nvSpPr>
          <p:spPr>
            <a:xfrm>
              <a:off x="1594159" y="2670680"/>
              <a:ext cx="713274"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1</a:t>
              </a:r>
            </a:p>
          </p:txBody>
        </p:sp>
        <p:sp>
          <p:nvSpPr>
            <p:cNvPr id="32" name="TextBox 31">
              <a:extLst>
                <a:ext uri="{FF2B5EF4-FFF2-40B4-BE49-F238E27FC236}">
                  <a16:creationId xmlns:a16="http://schemas.microsoft.com/office/drawing/2014/main" id="{DFA48D75-BB24-37D4-4451-F191DD4F1CC6}"/>
                </a:ext>
              </a:extLst>
            </p:cNvPr>
            <p:cNvSpPr txBox="1"/>
            <p:nvPr/>
          </p:nvSpPr>
          <p:spPr>
            <a:xfrm>
              <a:off x="847497" y="3092310"/>
              <a:ext cx="1913990" cy="369332"/>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Country</a:t>
              </a:r>
            </a:p>
          </p:txBody>
        </p:sp>
      </p:grpSp>
      <p:grpSp>
        <p:nvGrpSpPr>
          <p:cNvPr id="33" name="CARD_WeeksInMarket">
            <a:extLst>
              <a:ext uri="{FF2B5EF4-FFF2-40B4-BE49-F238E27FC236}">
                <a16:creationId xmlns:a16="http://schemas.microsoft.com/office/drawing/2014/main" id="{5000829A-8757-EFEC-5A23-78A7C80B111F}"/>
              </a:ext>
            </a:extLst>
          </p:cNvPr>
          <p:cNvGrpSpPr/>
          <p:nvPr/>
        </p:nvGrpSpPr>
        <p:grpSpPr>
          <a:xfrm>
            <a:off x="8809938" y="3118104"/>
            <a:ext cx="1981123" cy="1130546"/>
            <a:chOff x="847497" y="2506662"/>
            <a:chExt cx="1981123" cy="1130546"/>
          </a:xfrm>
        </p:grpSpPr>
        <p:sp>
          <p:nvSpPr>
            <p:cNvPr id="34" name="Rectangle: Rounded Corners 33">
              <a:extLst>
                <a:ext uri="{FF2B5EF4-FFF2-40B4-BE49-F238E27FC236}">
                  <a16:creationId xmlns:a16="http://schemas.microsoft.com/office/drawing/2014/main" id="{6202ED90-6E48-A1EC-7B63-535771D02CDB}"/>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latin typeface="Montserrat" panose="00000500000000000000" pitchFamily="2" charset="0"/>
              </a:endParaRPr>
            </a:p>
          </p:txBody>
        </p:sp>
        <p:sp>
          <p:nvSpPr>
            <p:cNvPr id="35" name="TextBox 34">
              <a:extLst>
                <a:ext uri="{FF2B5EF4-FFF2-40B4-BE49-F238E27FC236}">
                  <a16:creationId xmlns:a16="http://schemas.microsoft.com/office/drawing/2014/main" id="{C01D204A-F9BD-07A0-74E3-5607FA7207D7}"/>
                </a:ext>
              </a:extLst>
            </p:cNvPr>
            <p:cNvSpPr txBox="1"/>
            <p:nvPr/>
          </p:nvSpPr>
          <p:spPr>
            <a:xfrm>
              <a:off x="1361007" y="2548904"/>
              <a:ext cx="1045847" cy="584775"/>
            </a:xfrm>
            <a:prstGeom prst="rect">
              <a:avLst/>
            </a:prstGeom>
            <a:noFill/>
          </p:spPr>
          <p:txBody>
            <a:bodyPr wrap="square" rtlCol="0">
              <a:spAutoFit/>
            </a:bodyPr>
            <a:lstStyle/>
            <a:p>
              <a:r>
                <a:rPr lang="en-US" sz="3200" b="1" dirty="0">
                  <a:solidFill>
                    <a:srgbClr val="0F3D63"/>
                  </a:solidFill>
                  <a:latin typeface="Montserrat" panose="00000500000000000000" pitchFamily="2" charset="0"/>
                </a:rPr>
                <a:t>~24</a:t>
              </a:r>
            </a:p>
          </p:txBody>
        </p:sp>
        <p:sp>
          <p:nvSpPr>
            <p:cNvPr id="36" name="TextBox 35">
              <a:extLst>
                <a:ext uri="{FF2B5EF4-FFF2-40B4-BE49-F238E27FC236}">
                  <a16:creationId xmlns:a16="http://schemas.microsoft.com/office/drawing/2014/main" id="{234427D6-F0D1-C64F-D8E4-A3B2AFF429E0}"/>
                </a:ext>
              </a:extLst>
            </p:cNvPr>
            <p:cNvSpPr txBox="1"/>
            <p:nvPr/>
          </p:nvSpPr>
          <p:spPr>
            <a:xfrm>
              <a:off x="847497" y="2972098"/>
              <a:ext cx="1981123" cy="646331"/>
            </a:xfrm>
            <a:prstGeom prst="rect">
              <a:avLst/>
            </a:prstGeom>
            <a:noFill/>
          </p:spPr>
          <p:txBody>
            <a:bodyPr wrap="square" rtlCol="0">
              <a:spAutoFit/>
            </a:bodyPr>
            <a:lstStyle/>
            <a:p>
              <a:pPr algn="ctr"/>
              <a:r>
                <a:rPr lang="en-US" dirty="0">
                  <a:solidFill>
                    <a:schemeClr val="bg1">
                      <a:lumMod val="50000"/>
                    </a:schemeClr>
                  </a:solidFill>
                  <a:latin typeface="Montserrat" panose="00000500000000000000" pitchFamily="2" charset="0"/>
                </a:rPr>
                <a:t>Weeks in Market (H1)</a:t>
              </a:r>
            </a:p>
          </p:txBody>
        </p:sp>
      </p:grpSp>
      <p:sp>
        <p:nvSpPr>
          <p:cNvPr id="39" name="TITLE_CampaignSnapshot">
            <a:extLst>
              <a:ext uri="{FF2B5EF4-FFF2-40B4-BE49-F238E27FC236}">
                <a16:creationId xmlns:a16="http://schemas.microsoft.com/office/drawing/2014/main" id="{8D69791D-317B-08DA-124B-14D485D615A5}"/>
              </a:ext>
            </a:extLst>
          </p:cNvPr>
          <p:cNvSpPr>
            <a:spLocks noGrp="1"/>
          </p:cNvSpPr>
          <p:nvPr>
            <p:ph type="title"/>
          </p:nvPr>
        </p:nvSpPr>
        <p:spPr>
          <a:xfrm>
            <a:off x="640080" y="-45403"/>
            <a:ext cx="10515600" cy="1325563"/>
          </a:xfrm>
        </p:spPr>
        <p:txBody>
          <a:bodyPr wrap="square">
            <a:normAutofit/>
          </a:bodyPr>
          <a:lstStyle/>
          <a:p>
            <a:pPr algn="l"/>
            <a:r>
              <a:rPr lang="en-US" sz="3000" b="1" i="0" dirty="0">
                <a:solidFill>
                  <a:schemeClr val="accent1"/>
                </a:solidFill>
                <a:latin typeface="Montserrat" panose="00000500000000000000" pitchFamily="2" charset="0"/>
              </a:rPr>
              <a:t>Campaign Snapshot</a:t>
            </a:r>
            <a:endParaRPr sz="3000" b="1" i="0" dirty="0">
              <a:solidFill>
                <a:schemeClr val="accent1"/>
              </a:solidFill>
              <a:latin typeface="Montserrat"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Q1"/>
          <p:cNvSpPr>
            <a:spLocks noGrp="1"/>
          </p:cNvSpPr>
          <p:nvPr>
            <p:ph type="body" sz="quarter" idx="10"/>
          </p:nvPr>
        </p:nvSpPr>
        <p:spPr/>
        <p:txBody>
          <a:bodyPr wrap="square">
            <a:normAutofit/>
          </a:bodyPr>
          <a:lstStyle/>
          <a:p>
            <a:pPr marL="0" indent="0">
              <a:buNone/>
            </a:pPr>
            <a:r>
              <a:rPr sz="3400" b="1" dirty="0">
                <a:solidFill>
                  <a:srgbClr val="FFFFFF"/>
                </a:solidFill>
                <a:latin typeface="Montserrat" panose="00000500000000000000" pitchFamily="2" charset="0"/>
              </a:rPr>
              <a:t>Q1 2026 Performance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ERIOD_Q1"/>
          <p:cNvSpPr>
            <a:spLocks noGrp="1"/>
          </p:cNvSpPr>
          <p:nvPr>
            <p:ph type="body" sz="quarter" idx="10"/>
          </p:nvPr>
        </p:nvSpPr>
        <p:spPr>
          <a:xfrm>
            <a:off x="746760" y="1483360"/>
            <a:ext cx="10515600" cy="590550"/>
          </a:xfrm>
        </p:spPr>
        <p:txBody>
          <a:bodyPr wrap="square"/>
          <a:lstStyle/>
          <a:p>
            <a:pPr algn="l"/>
            <a:r>
              <a:rPr sz="1500" b="0" i="0" dirty="0">
                <a:solidFill>
                  <a:srgbClr val="555B6E"/>
                </a:solidFill>
                <a:latin typeface="Montserrat" panose="00000500000000000000" pitchFamily="2" charset="0"/>
              </a:rPr>
              <a:t>Jan 10 – Mar 31, 2026</a:t>
            </a:r>
          </a:p>
        </p:txBody>
      </p:sp>
      <p:grpSp>
        <p:nvGrpSpPr>
          <p:cNvPr id="43" name="Group 42">
            <a:extLst>
              <a:ext uri="{FF2B5EF4-FFF2-40B4-BE49-F238E27FC236}">
                <a16:creationId xmlns:a16="http://schemas.microsoft.com/office/drawing/2014/main" id="{235E4C68-BE63-3DA3-BB31-9DDB551779FD}"/>
              </a:ext>
            </a:extLst>
          </p:cNvPr>
          <p:cNvGrpSpPr/>
          <p:nvPr/>
        </p:nvGrpSpPr>
        <p:grpSpPr>
          <a:xfrm>
            <a:off x="882319" y="3649445"/>
            <a:ext cx="10469880" cy="1417320"/>
            <a:chOff x="731520" y="3657599"/>
            <a:chExt cx="10469880" cy="1417320"/>
          </a:xfrm>
        </p:grpSpPr>
        <p:sp>
          <p:nvSpPr>
            <p:cNvPr id="14" name="Rounded Rectangle 13"/>
            <p:cNvSpPr/>
            <p:nvPr/>
          </p:nvSpPr>
          <p:spPr>
            <a:xfrm>
              <a:off x="731520" y="3657599"/>
              <a:ext cx="507492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Q1_TopAsset"/>
            <p:cNvSpPr txBox="1"/>
            <p:nvPr/>
          </p:nvSpPr>
          <p:spPr>
            <a:xfrm>
              <a:off x="1005840" y="3822191"/>
              <a:ext cx="4572000" cy="848053"/>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PERFORMING ASSET</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gn="l">
                <a:lnSpc>
                  <a:spcPct val="105000"/>
                </a:lnSpc>
                <a:spcAft>
                  <a:spcPts val="0"/>
                </a:spcAft>
              </a:pPr>
              <a:r>
                <a:rPr sz="1400" i="0" dirty="0">
                  <a:solidFill>
                    <a:srgbClr val="0E2841"/>
                  </a:solidFill>
                  <a:latin typeface="Montserrat Medium" panose="00000600000000000000" pitchFamily="2" charset="0"/>
                </a:rPr>
                <a:t>The Role of Third-Party Financing in the Health and Wellness Payment Landscape</a:t>
              </a:r>
            </a:p>
          </p:txBody>
        </p:sp>
        <p:sp>
          <p:nvSpPr>
            <p:cNvPr id="16" name="Rounded Rectangle 15"/>
            <p:cNvSpPr/>
            <p:nvPr/>
          </p:nvSpPr>
          <p:spPr>
            <a:xfrm>
              <a:off x="6080760" y="3657599"/>
              <a:ext cx="512064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7" name="AI_Q1_TrendingTopic"/>
            <p:cNvSpPr txBox="1"/>
            <p:nvPr/>
          </p:nvSpPr>
          <p:spPr>
            <a:xfrm>
              <a:off x="6355080" y="3822191"/>
              <a:ext cx="4572000" cy="621837"/>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TRENDING TOPIC</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nSpc>
                  <a:spcPct val="105000"/>
                </a:lnSpc>
              </a:pPr>
              <a:r>
                <a:rPr sz="1400" dirty="0">
                  <a:solidFill>
                    <a:srgbClr val="0E2841"/>
                  </a:solidFill>
                  <a:latin typeface="Montserrat Medium" panose="00000600000000000000" pitchFamily="2" charset="0"/>
                </a:rPr>
                <a:t>patient payments</a:t>
              </a:r>
            </a:p>
          </p:txBody>
        </p:sp>
      </p:grpSp>
      <p:sp>
        <p:nvSpPr>
          <p:cNvPr id="18" name="AI_Q1_Insight"/>
          <p:cNvSpPr txBox="1"/>
          <p:nvPr/>
        </p:nvSpPr>
        <p:spPr>
          <a:xfrm>
            <a:off x="756057" y="5399042"/>
            <a:ext cx="10515600" cy="425822"/>
          </a:xfrm>
          <a:prstGeom prst="rect">
            <a:avLst/>
          </a:prstGeom>
          <a:noFill/>
        </p:spPr>
        <p:txBody>
          <a:bodyPr wrap="square" lIns="0" tIns="0" rIns="0" bIns="0" anchor="t">
            <a:spAutoFit/>
          </a:bodyPr>
          <a:lstStyle/>
          <a:p>
            <a:pPr algn="l">
              <a:lnSpc>
                <a:spcPct val="120000"/>
              </a:lnSpc>
            </a:pPr>
            <a:r>
              <a:rPr sz="1200" b="1" i="1" dirty="0">
                <a:solidFill>
                  <a:srgbClr val="555B6E"/>
                </a:solidFill>
                <a:latin typeface="Montserrat" panose="00000500000000000000" pitchFamily="2" charset="0"/>
              </a:rPr>
              <a:t>Q1 established a strong baseline – nearly 800 leads from 393 distinct healthcare accounts, with financing and payment-related content leading engagement.</a:t>
            </a:r>
          </a:p>
        </p:txBody>
      </p:sp>
      <p:grpSp>
        <p:nvGrpSpPr>
          <p:cNvPr id="26" name="CARD_Q1_TotalLeads">
            <a:extLst>
              <a:ext uri="{FF2B5EF4-FFF2-40B4-BE49-F238E27FC236}">
                <a16:creationId xmlns:a16="http://schemas.microsoft.com/office/drawing/2014/main" id="{8D5AD58F-BB6E-C204-3BD8-D3988B9CE986}"/>
              </a:ext>
            </a:extLst>
          </p:cNvPr>
          <p:cNvGrpSpPr/>
          <p:nvPr/>
        </p:nvGrpSpPr>
        <p:grpSpPr>
          <a:xfrm>
            <a:off x="756057" y="2186622"/>
            <a:ext cx="1913990" cy="1130546"/>
            <a:chOff x="847497" y="2506662"/>
            <a:chExt cx="1913990" cy="1130546"/>
          </a:xfrm>
        </p:grpSpPr>
        <p:sp>
          <p:nvSpPr>
            <p:cNvPr id="22" name="Rectangle: Rounded Corners 21">
              <a:extLst>
                <a:ext uri="{FF2B5EF4-FFF2-40B4-BE49-F238E27FC236}">
                  <a16:creationId xmlns:a16="http://schemas.microsoft.com/office/drawing/2014/main" id="{79470827-6DFE-C9D7-26A1-FB4A8FD2425E}"/>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3" name="TextBox 22">
              <a:extLst>
                <a:ext uri="{FF2B5EF4-FFF2-40B4-BE49-F238E27FC236}">
                  <a16:creationId xmlns:a16="http://schemas.microsoft.com/office/drawing/2014/main" id="{685C9A4A-5678-0266-7024-7DE3BB014EE3}"/>
                </a:ext>
              </a:extLst>
            </p:cNvPr>
            <p:cNvSpPr txBox="1"/>
            <p:nvPr/>
          </p:nvSpPr>
          <p:spPr>
            <a:xfrm>
              <a:off x="1420513" y="2649326"/>
              <a:ext cx="880770"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799</a:t>
              </a:r>
            </a:p>
          </p:txBody>
        </p:sp>
        <p:sp>
          <p:nvSpPr>
            <p:cNvPr id="24" name="TextBox 23">
              <a:extLst>
                <a:ext uri="{FF2B5EF4-FFF2-40B4-BE49-F238E27FC236}">
                  <a16:creationId xmlns:a16="http://schemas.microsoft.com/office/drawing/2014/main" id="{DBF7174E-475B-4880-D12C-ADDEAFD0AF3B}"/>
                </a:ext>
              </a:extLst>
            </p:cNvPr>
            <p:cNvSpPr txBox="1"/>
            <p:nvPr/>
          </p:nvSpPr>
          <p:spPr>
            <a:xfrm>
              <a:off x="967327" y="3090393"/>
              <a:ext cx="1674330"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Total Leads</a:t>
              </a:r>
            </a:p>
          </p:txBody>
        </p:sp>
      </p:grpSp>
      <p:grpSp>
        <p:nvGrpSpPr>
          <p:cNvPr id="27" name="CARD_Q1_Accounts">
            <a:extLst>
              <a:ext uri="{FF2B5EF4-FFF2-40B4-BE49-F238E27FC236}">
                <a16:creationId xmlns:a16="http://schemas.microsoft.com/office/drawing/2014/main" id="{E0CB93D2-BE9F-034C-6281-3D4C6C8C420D}"/>
              </a:ext>
            </a:extLst>
          </p:cNvPr>
          <p:cNvGrpSpPr/>
          <p:nvPr/>
        </p:nvGrpSpPr>
        <p:grpSpPr>
          <a:xfrm>
            <a:off x="2956561" y="2186622"/>
            <a:ext cx="1913990" cy="1130546"/>
            <a:chOff x="847497" y="2506662"/>
            <a:chExt cx="1913990" cy="1130546"/>
          </a:xfrm>
        </p:grpSpPr>
        <p:sp>
          <p:nvSpPr>
            <p:cNvPr id="28" name="Rectangle: Rounded Corners 27">
              <a:extLst>
                <a:ext uri="{FF2B5EF4-FFF2-40B4-BE49-F238E27FC236}">
                  <a16:creationId xmlns:a16="http://schemas.microsoft.com/office/drawing/2014/main" id="{AFCF1585-0583-5C54-CBFA-C591219781C5}"/>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9" name="TextBox 28">
              <a:extLst>
                <a:ext uri="{FF2B5EF4-FFF2-40B4-BE49-F238E27FC236}">
                  <a16:creationId xmlns:a16="http://schemas.microsoft.com/office/drawing/2014/main" id="{2417EFA9-5A7E-F4AD-6966-9C5D45D5E5DE}"/>
                </a:ext>
              </a:extLst>
            </p:cNvPr>
            <p:cNvSpPr txBox="1"/>
            <p:nvPr/>
          </p:nvSpPr>
          <p:spPr>
            <a:xfrm>
              <a:off x="1420513" y="2646557"/>
              <a:ext cx="883970"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393</a:t>
              </a:r>
            </a:p>
          </p:txBody>
        </p:sp>
        <p:sp>
          <p:nvSpPr>
            <p:cNvPr id="30" name="TextBox 29">
              <a:extLst>
                <a:ext uri="{FF2B5EF4-FFF2-40B4-BE49-F238E27FC236}">
                  <a16:creationId xmlns:a16="http://schemas.microsoft.com/office/drawing/2014/main" id="{3A078727-EF42-EE18-E84B-812372A51661}"/>
                </a:ext>
              </a:extLst>
            </p:cNvPr>
            <p:cNvSpPr txBox="1"/>
            <p:nvPr/>
          </p:nvSpPr>
          <p:spPr>
            <a:xfrm>
              <a:off x="968797" y="3043528"/>
              <a:ext cx="1709046" cy="584775"/>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Unique Accounts</a:t>
              </a:r>
            </a:p>
          </p:txBody>
        </p:sp>
      </p:grpSp>
      <p:grpSp>
        <p:nvGrpSpPr>
          <p:cNvPr id="31" name="CARD_Q1_Assets">
            <a:extLst>
              <a:ext uri="{FF2B5EF4-FFF2-40B4-BE49-F238E27FC236}">
                <a16:creationId xmlns:a16="http://schemas.microsoft.com/office/drawing/2014/main" id="{C8EF8E4E-3ADE-DBCF-2638-A90B477D201C}"/>
              </a:ext>
            </a:extLst>
          </p:cNvPr>
          <p:cNvGrpSpPr/>
          <p:nvPr/>
        </p:nvGrpSpPr>
        <p:grpSpPr>
          <a:xfrm>
            <a:off x="5160265" y="2186137"/>
            <a:ext cx="1913990" cy="1130546"/>
            <a:chOff x="847497" y="2506662"/>
            <a:chExt cx="1913990" cy="1130546"/>
          </a:xfrm>
        </p:grpSpPr>
        <p:sp>
          <p:nvSpPr>
            <p:cNvPr id="32" name="Rectangle: Rounded Corners 31">
              <a:extLst>
                <a:ext uri="{FF2B5EF4-FFF2-40B4-BE49-F238E27FC236}">
                  <a16:creationId xmlns:a16="http://schemas.microsoft.com/office/drawing/2014/main" id="{A95E9170-43E7-754B-C571-BE036C6730B0}"/>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3" name="TextBox 32">
              <a:extLst>
                <a:ext uri="{FF2B5EF4-FFF2-40B4-BE49-F238E27FC236}">
                  <a16:creationId xmlns:a16="http://schemas.microsoft.com/office/drawing/2014/main" id="{78E445A0-FA65-9DB1-BAE2-00EB3A4F8C87}"/>
                </a:ext>
              </a:extLst>
            </p:cNvPr>
            <p:cNvSpPr txBox="1"/>
            <p:nvPr/>
          </p:nvSpPr>
          <p:spPr>
            <a:xfrm>
              <a:off x="1594214" y="2647042"/>
              <a:ext cx="420555"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a:t>
              </a:r>
            </a:p>
          </p:txBody>
        </p:sp>
        <p:sp>
          <p:nvSpPr>
            <p:cNvPr id="34" name="TextBox 33">
              <a:extLst>
                <a:ext uri="{FF2B5EF4-FFF2-40B4-BE49-F238E27FC236}">
                  <a16:creationId xmlns:a16="http://schemas.microsoft.com/office/drawing/2014/main" id="{39846BDF-60BD-DAE8-0790-747DA4709AED}"/>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Assets Used</a:t>
              </a:r>
            </a:p>
          </p:txBody>
        </p:sp>
      </p:grpSp>
      <p:grpSp>
        <p:nvGrpSpPr>
          <p:cNvPr id="35" name="CARD_Q1_JobTitles">
            <a:extLst>
              <a:ext uri="{FF2B5EF4-FFF2-40B4-BE49-F238E27FC236}">
                <a16:creationId xmlns:a16="http://schemas.microsoft.com/office/drawing/2014/main" id="{04FF9973-F440-1318-5E9F-DDFF129F7B69}"/>
              </a:ext>
            </a:extLst>
          </p:cNvPr>
          <p:cNvGrpSpPr/>
          <p:nvPr/>
        </p:nvGrpSpPr>
        <p:grpSpPr>
          <a:xfrm>
            <a:off x="7360769" y="2186137"/>
            <a:ext cx="1913990" cy="1130546"/>
            <a:chOff x="847497" y="2506662"/>
            <a:chExt cx="1913990" cy="1130546"/>
          </a:xfrm>
        </p:grpSpPr>
        <p:sp>
          <p:nvSpPr>
            <p:cNvPr id="36" name="Rectangle: Rounded Corners 35">
              <a:extLst>
                <a:ext uri="{FF2B5EF4-FFF2-40B4-BE49-F238E27FC236}">
                  <a16:creationId xmlns:a16="http://schemas.microsoft.com/office/drawing/2014/main" id="{C9088D9B-3756-3918-46F9-35EA129E0C5F}"/>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7" name="TextBox 36">
              <a:extLst>
                <a:ext uri="{FF2B5EF4-FFF2-40B4-BE49-F238E27FC236}">
                  <a16:creationId xmlns:a16="http://schemas.microsoft.com/office/drawing/2014/main" id="{F7690D71-C1A9-03B4-AA35-62E6CB3B51D0}"/>
                </a:ext>
              </a:extLst>
            </p:cNvPr>
            <p:cNvSpPr txBox="1"/>
            <p:nvPr/>
          </p:nvSpPr>
          <p:spPr>
            <a:xfrm>
              <a:off x="1447855" y="2658325"/>
              <a:ext cx="713274"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10</a:t>
              </a:r>
            </a:p>
          </p:txBody>
        </p:sp>
        <p:sp>
          <p:nvSpPr>
            <p:cNvPr id="38" name="TextBox 37">
              <a:extLst>
                <a:ext uri="{FF2B5EF4-FFF2-40B4-BE49-F238E27FC236}">
                  <a16:creationId xmlns:a16="http://schemas.microsoft.com/office/drawing/2014/main" id="{9AA4D855-F610-B2AF-EBB9-2F67818A747B}"/>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Job Titles</a:t>
              </a:r>
            </a:p>
          </p:txBody>
        </p:sp>
      </p:grpSp>
      <p:grpSp>
        <p:nvGrpSpPr>
          <p:cNvPr id="39" name="CARD_Q1_Country">
            <a:extLst>
              <a:ext uri="{FF2B5EF4-FFF2-40B4-BE49-F238E27FC236}">
                <a16:creationId xmlns:a16="http://schemas.microsoft.com/office/drawing/2014/main" id="{7DB85ED0-0D69-3850-395C-505AE6E25E4F}"/>
              </a:ext>
            </a:extLst>
          </p:cNvPr>
          <p:cNvGrpSpPr/>
          <p:nvPr/>
        </p:nvGrpSpPr>
        <p:grpSpPr>
          <a:xfrm>
            <a:off x="9561273" y="2186137"/>
            <a:ext cx="1913990" cy="1130546"/>
            <a:chOff x="847497" y="2506662"/>
            <a:chExt cx="1913990" cy="1130546"/>
          </a:xfrm>
        </p:grpSpPr>
        <p:sp>
          <p:nvSpPr>
            <p:cNvPr id="40" name="Rectangle: Rounded Corners 39">
              <a:extLst>
                <a:ext uri="{FF2B5EF4-FFF2-40B4-BE49-F238E27FC236}">
                  <a16:creationId xmlns:a16="http://schemas.microsoft.com/office/drawing/2014/main" id="{4A286A9D-0F69-1A44-C035-3D841AAA53A8}"/>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1" name="TextBox 40">
              <a:extLst>
                <a:ext uri="{FF2B5EF4-FFF2-40B4-BE49-F238E27FC236}">
                  <a16:creationId xmlns:a16="http://schemas.microsoft.com/office/drawing/2014/main" id="{7382BAD6-059D-E914-22CA-0DDC5E63915B}"/>
                </a:ext>
              </a:extLst>
            </p:cNvPr>
            <p:cNvSpPr txBox="1"/>
            <p:nvPr/>
          </p:nvSpPr>
          <p:spPr>
            <a:xfrm>
              <a:off x="1562642" y="2658325"/>
              <a:ext cx="518416"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a:t>
              </a:r>
            </a:p>
          </p:txBody>
        </p:sp>
        <p:sp>
          <p:nvSpPr>
            <p:cNvPr id="42" name="TextBox 41">
              <a:extLst>
                <a:ext uri="{FF2B5EF4-FFF2-40B4-BE49-F238E27FC236}">
                  <a16:creationId xmlns:a16="http://schemas.microsoft.com/office/drawing/2014/main" id="{6E41ED2E-1868-C6C0-C556-EC2942BA9678}"/>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Country</a:t>
              </a:r>
            </a:p>
          </p:txBody>
        </p:sp>
      </p:grpSp>
      <p:sp>
        <p:nvSpPr>
          <p:cNvPr id="46" name="TITLE_Q1Performance">
            <a:extLst>
              <a:ext uri="{FF2B5EF4-FFF2-40B4-BE49-F238E27FC236}">
                <a16:creationId xmlns:a16="http://schemas.microsoft.com/office/drawing/2014/main" id="{84A83947-590F-AFEB-53F5-667FD6224C9C}"/>
              </a:ext>
            </a:extLst>
          </p:cNvPr>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a:t>
            </a:r>
            <a:r>
              <a:rPr lang="en-US" sz="3000" b="1" i="0" dirty="0">
                <a:solidFill>
                  <a:schemeClr val="accent1"/>
                </a:solidFill>
                <a:latin typeface="Montserrat" panose="00000500000000000000" pitchFamily="2" charset="0"/>
              </a:rPr>
              <a:t>1 2026</a:t>
            </a:r>
            <a:r>
              <a:rPr sz="3000" b="1" i="0" dirty="0">
                <a:solidFill>
                  <a:schemeClr val="accent1"/>
                </a:solidFill>
                <a:latin typeface="Montserrat" panose="00000500000000000000" pitchFamily="2" charset="0"/>
              </a:rPr>
              <a:t>: </a:t>
            </a:r>
            <a:r>
              <a:rPr lang="en-US" sz="3000" b="1" i="0" dirty="0">
                <a:solidFill>
                  <a:schemeClr val="accent1"/>
                </a:solidFill>
                <a:latin typeface="Montserrat" panose="00000500000000000000" pitchFamily="2" charset="0"/>
              </a:rPr>
              <a:t>Performance Review</a:t>
            </a:r>
            <a:endParaRPr sz="3000" b="1" i="0" dirty="0">
              <a:solidFill>
                <a:schemeClr val="accent1"/>
              </a:solidFill>
              <a:latin typeface="Montserrat"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CTION_Q2"/>
          <p:cNvSpPr>
            <a:spLocks noGrp="1"/>
          </p:cNvSpPr>
          <p:nvPr>
            <p:ph type="body" sz="quarter" idx="10"/>
          </p:nvPr>
        </p:nvSpPr>
        <p:spPr>
          <a:xfrm>
            <a:off x="15875" y="2857500"/>
            <a:ext cx="12176125" cy="1143000"/>
          </a:xfrm>
        </p:spPr>
        <p:txBody>
          <a:bodyPr wrap="square"/>
          <a:lstStyle/>
          <a:p>
            <a:pPr marL="0" indent="0">
              <a:buNone/>
            </a:pPr>
            <a:r>
              <a:rPr sz="3400" b="1" dirty="0">
                <a:solidFill>
                  <a:srgbClr val="FFFFFF"/>
                </a:solidFill>
                <a:latin typeface="Montserrat" panose="00000500000000000000" pitchFamily="2" charset="0"/>
              </a:rPr>
              <a:t>Q2 2026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6687-0D0B-9575-13DA-17E2AA1B023E}"/>
            </a:ext>
          </a:extLst>
        </p:cNvPr>
        <p:cNvGrpSpPr/>
        <p:nvPr/>
      </p:nvGrpSpPr>
      <p:grpSpPr>
        <a:xfrm>
          <a:off x="0" y="0"/>
          <a:ext cx="0" cy="0"/>
          <a:chOff x="0" y="0"/>
          <a:chExt cx="0" cy="0"/>
        </a:xfrm>
      </p:grpSpPr>
      <p:sp>
        <p:nvSpPr>
          <p:cNvPr id="3" name="PERIOD_Q2">
            <a:extLst>
              <a:ext uri="{FF2B5EF4-FFF2-40B4-BE49-F238E27FC236}">
                <a16:creationId xmlns:a16="http://schemas.microsoft.com/office/drawing/2014/main" id="{09E12591-4EC7-199E-B017-56B1BD1A0388}"/>
              </a:ext>
            </a:extLst>
          </p:cNvPr>
          <p:cNvSpPr>
            <a:spLocks noGrp="1"/>
          </p:cNvSpPr>
          <p:nvPr>
            <p:ph type="body" sz="quarter" idx="10"/>
          </p:nvPr>
        </p:nvSpPr>
        <p:spPr>
          <a:xfrm>
            <a:off x="716737" y="1427004"/>
            <a:ext cx="10515600" cy="590550"/>
          </a:xfrm>
        </p:spPr>
        <p:txBody>
          <a:bodyPr wrap="square"/>
          <a:lstStyle/>
          <a:p>
            <a:pPr algn="l"/>
            <a:r>
              <a:rPr sz="1500" b="0" i="0" dirty="0">
                <a:solidFill>
                  <a:srgbClr val="555B6E"/>
                </a:solidFill>
                <a:latin typeface="Montserrat" panose="00000500000000000000" pitchFamily="2" charset="0"/>
              </a:rPr>
              <a:t>Jan 10 – Mar 31, 2026</a:t>
            </a:r>
          </a:p>
        </p:txBody>
      </p:sp>
      <p:grpSp>
        <p:nvGrpSpPr>
          <p:cNvPr id="4" name="Group 3">
            <a:extLst>
              <a:ext uri="{FF2B5EF4-FFF2-40B4-BE49-F238E27FC236}">
                <a16:creationId xmlns:a16="http://schemas.microsoft.com/office/drawing/2014/main" id="{2AF24B8D-C888-4336-4BE9-30125879AF57}"/>
              </a:ext>
            </a:extLst>
          </p:cNvPr>
          <p:cNvGrpSpPr/>
          <p:nvPr/>
        </p:nvGrpSpPr>
        <p:grpSpPr>
          <a:xfrm>
            <a:off x="845864" y="3607788"/>
            <a:ext cx="10469880" cy="1417320"/>
            <a:chOff x="920269" y="3649445"/>
            <a:chExt cx="10469880" cy="1417320"/>
          </a:xfrm>
        </p:grpSpPr>
        <p:sp>
          <p:nvSpPr>
            <p:cNvPr id="14" name="Rounded Rectangle 13">
              <a:extLst>
                <a:ext uri="{FF2B5EF4-FFF2-40B4-BE49-F238E27FC236}">
                  <a16:creationId xmlns:a16="http://schemas.microsoft.com/office/drawing/2014/main" id="{BC45A687-A802-4056-CAE3-E605BB680E2B}"/>
                </a:ext>
              </a:extLst>
            </p:cNvPr>
            <p:cNvSpPr/>
            <p:nvPr/>
          </p:nvSpPr>
          <p:spPr>
            <a:xfrm>
              <a:off x="920269" y="3649445"/>
              <a:ext cx="507492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Q2_TopAsset">
              <a:extLst>
                <a:ext uri="{FF2B5EF4-FFF2-40B4-BE49-F238E27FC236}">
                  <a16:creationId xmlns:a16="http://schemas.microsoft.com/office/drawing/2014/main" id="{44EFCDE3-ED06-A061-9153-ED354F978FE6}"/>
                </a:ext>
              </a:extLst>
            </p:cNvPr>
            <p:cNvSpPr txBox="1"/>
            <p:nvPr/>
          </p:nvSpPr>
          <p:spPr>
            <a:xfrm>
              <a:off x="1194589" y="3814037"/>
              <a:ext cx="4572000" cy="621837"/>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PERFORMING ASSET</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nSpc>
                  <a:spcPct val="105000"/>
                </a:lnSpc>
              </a:pPr>
              <a:r>
                <a:rPr lang="en-US" sz="1400" dirty="0">
                  <a:solidFill>
                    <a:srgbClr val="0E2841"/>
                  </a:solidFill>
                  <a:latin typeface="Montserrat Medium" panose="00000600000000000000" pitchFamily="2" charset="0"/>
                </a:rPr>
                <a:t>Lifetime of Healthcare Costs in the U.S.</a:t>
              </a:r>
              <a:endParaRPr sz="1400" i="0" dirty="0">
                <a:solidFill>
                  <a:srgbClr val="0E2841"/>
                </a:solidFill>
                <a:latin typeface="Montserrat Medium" panose="00000600000000000000" pitchFamily="2" charset="0"/>
              </a:endParaRPr>
            </a:p>
          </p:txBody>
        </p:sp>
        <p:sp>
          <p:nvSpPr>
            <p:cNvPr id="16" name="Rounded Rectangle 15">
              <a:extLst>
                <a:ext uri="{FF2B5EF4-FFF2-40B4-BE49-F238E27FC236}">
                  <a16:creationId xmlns:a16="http://schemas.microsoft.com/office/drawing/2014/main" id="{6A5A0954-CCD5-6ADD-6334-8ECE6B6D1252}"/>
                </a:ext>
              </a:extLst>
            </p:cNvPr>
            <p:cNvSpPr/>
            <p:nvPr/>
          </p:nvSpPr>
          <p:spPr>
            <a:xfrm>
              <a:off x="6269509" y="3649445"/>
              <a:ext cx="5120640" cy="14173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7" name="AI_Q2_TrendingTopic">
              <a:extLst>
                <a:ext uri="{FF2B5EF4-FFF2-40B4-BE49-F238E27FC236}">
                  <a16:creationId xmlns:a16="http://schemas.microsoft.com/office/drawing/2014/main" id="{D109FC89-0776-A15A-18D7-7027FD111D28}"/>
                </a:ext>
              </a:extLst>
            </p:cNvPr>
            <p:cNvSpPr txBox="1"/>
            <p:nvPr/>
          </p:nvSpPr>
          <p:spPr>
            <a:xfrm>
              <a:off x="6543829" y="3814037"/>
              <a:ext cx="4572000" cy="623248"/>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TRENDING TOPIC</a:t>
              </a:r>
              <a:endParaRPr lang="en-US" sz="1600" b="1" i="0" dirty="0">
                <a:solidFill>
                  <a:srgbClr val="1C6AFE"/>
                </a:solidFill>
                <a:latin typeface="Montserrat" panose="00000500000000000000" pitchFamily="2" charset="0"/>
              </a:endParaRPr>
            </a:p>
            <a:p>
              <a:pPr algn="l"/>
              <a:endParaRPr sz="1050" b="1" i="0" dirty="0">
                <a:solidFill>
                  <a:srgbClr val="1C6AFE"/>
                </a:solidFill>
                <a:latin typeface="Montserrat" panose="00000500000000000000" pitchFamily="2" charset="0"/>
              </a:endParaRPr>
            </a:p>
            <a:p>
              <a:pPr algn="l">
                <a:spcAft>
                  <a:spcPts val="0"/>
                </a:spcAft>
              </a:pPr>
              <a:r>
                <a:rPr sz="1400" i="0" dirty="0">
                  <a:solidFill>
                    <a:srgbClr val="0E2841"/>
                  </a:solidFill>
                  <a:latin typeface="Montserrat Medium" panose="00000600000000000000" pitchFamily="2" charset="0"/>
                </a:rPr>
                <a:t>patient payments</a:t>
              </a:r>
              <a:endParaRPr sz="1500" i="0" dirty="0">
                <a:solidFill>
                  <a:srgbClr val="0E2841"/>
                </a:solidFill>
                <a:latin typeface="Montserrat Medium" panose="00000600000000000000" pitchFamily="2" charset="0"/>
              </a:endParaRPr>
            </a:p>
          </p:txBody>
        </p:sp>
      </p:grpSp>
      <p:sp>
        <p:nvSpPr>
          <p:cNvPr id="18" name="AI_Q2_Insight">
            <a:extLst>
              <a:ext uri="{FF2B5EF4-FFF2-40B4-BE49-F238E27FC236}">
                <a16:creationId xmlns:a16="http://schemas.microsoft.com/office/drawing/2014/main" id="{A566B454-C11F-7EB5-F615-3FC77C1378C5}"/>
              </a:ext>
            </a:extLst>
          </p:cNvPr>
          <p:cNvSpPr txBox="1"/>
          <p:nvPr/>
        </p:nvSpPr>
        <p:spPr>
          <a:xfrm>
            <a:off x="792937" y="5372084"/>
            <a:ext cx="10515600" cy="425822"/>
          </a:xfrm>
          <a:prstGeom prst="rect">
            <a:avLst/>
          </a:prstGeom>
          <a:noFill/>
        </p:spPr>
        <p:txBody>
          <a:bodyPr wrap="square" lIns="0" tIns="0" rIns="0" bIns="0" anchor="t">
            <a:spAutoFit/>
          </a:bodyPr>
          <a:lstStyle/>
          <a:p>
            <a:pPr>
              <a:lnSpc>
                <a:spcPct val="120000"/>
              </a:lnSpc>
            </a:pPr>
            <a:r>
              <a:rPr lang="en-US" sz="1200" b="1" i="1" dirty="0">
                <a:solidFill>
                  <a:srgbClr val="555B6E"/>
                </a:solidFill>
                <a:latin typeface="Montserrat" panose="00000500000000000000" pitchFamily="2" charset="0"/>
              </a:rPr>
              <a:t>Q2 built directly on Q1’s foundation – leads held steady while unique accounts jumped 18.6%, and job title breadth grew from 10 to 11, widening the buying committee reached.</a:t>
            </a:r>
          </a:p>
        </p:txBody>
      </p:sp>
      <p:grpSp>
        <p:nvGrpSpPr>
          <p:cNvPr id="26" name="CARD_Q2_TotalLeads">
            <a:extLst>
              <a:ext uri="{FF2B5EF4-FFF2-40B4-BE49-F238E27FC236}">
                <a16:creationId xmlns:a16="http://schemas.microsoft.com/office/drawing/2014/main" id="{8C4BA95E-2DE6-8229-8D11-996E08B4946D}"/>
              </a:ext>
            </a:extLst>
          </p:cNvPr>
          <p:cNvGrpSpPr/>
          <p:nvPr/>
        </p:nvGrpSpPr>
        <p:grpSpPr>
          <a:xfrm>
            <a:off x="726034" y="2130266"/>
            <a:ext cx="1913990" cy="1130546"/>
            <a:chOff x="847497" y="2506662"/>
            <a:chExt cx="1913990" cy="1130546"/>
          </a:xfrm>
        </p:grpSpPr>
        <p:sp>
          <p:nvSpPr>
            <p:cNvPr id="22" name="Rectangle: Rounded Corners 21">
              <a:extLst>
                <a:ext uri="{FF2B5EF4-FFF2-40B4-BE49-F238E27FC236}">
                  <a16:creationId xmlns:a16="http://schemas.microsoft.com/office/drawing/2014/main" id="{78E0E4C0-9E5E-225C-06C2-8A9D6DF2E599}"/>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3" name="TextBox 22">
              <a:extLst>
                <a:ext uri="{FF2B5EF4-FFF2-40B4-BE49-F238E27FC236}">
                  <a16:creationId xmlns:a16="http://schemas.microsoft.com/office/drawing/2014/main" id="{1D62BCCF-9EE3-D0AB-D8B9-82C13092F7C5}"/>
                </a:ext>
              </a:extLst>
            </p:cNvPr>
            <p:cNvSpPr txBox="1"/>
            <p:nvPr/>
          </p:nvSpPr>
          <p:spPr>
            <a:xfrm>
              <a:off x="1420513" y="2649326"/>
              <a:ext cx="947059"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805</a:t>
              </a:r>
            </a:p>
          </p:txBody>
        </p:sp>
        <p:sp>
          <p:nvSpPr>
            <p:cNvPr id="24" name="TextBox 23">
              <a:extLst>
                <a:ext uri="{FF2B5EF4-FFF2-40B4-BE49-F238E27FC236}">
                  <a16:creationId xmlns:a16="http://schemas.microsoft.com/office/drawing/2014/main" id="{B10A2975-43C4-903B-CD83-11835E792AC8}"/>
                </a:ext>
              </a:extLst>
            </p:cNvPr>
            <p:cNvSpPr txBox="1"/>
            <p:nvPr/>
          </p:nvSpPr>
          <p:spPr>
            <a:xfrm>
              <a:off x="967327" y="3090393"/>
              <a:ext cx="1674330"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Total Leads</a:t>
              </a:r>
            </a:p>
          </p:txBody>
        </p:sp>
      </p:grpSp>
      <p:grpSp>
        <p:nvGrpSpPr>
          <p:cNvPr id="27" name="CARD_Q2_Accounts">
            <a:extLst>
              <a:ext uri="{FF2B5EF4-FFF2-40B4-BE49-F238E27FC236}">
                <a16:creationId xmlns:a16="http://schemas.microsoft.com/office/drawing/2014/main" id="{3EA872BC-EFB8-ED62-1B4D-1E9EBAC37301}"/>
              </a:ext>
            </a:extLst>
          </p:cNvPr>
          <p:cNvGrpSpPr/>
          <p:nvPr/>
        </p:nvGrpSpPr>
        <p:grpSpPr>
          <a:xfrm>
            <a:off x="2926538" y="2130266"/>
            <a:ext cx="1913990" cy="1130546"/>
            <a:chOff x="847497" y="2506662"/>
            <a:chExt cx="1913990" cy="1130546"/>
          </a:xfrm>
        </p:grpSpPr>
        <p:sp>
          <p:nvSpPr>
            <p:cNvPr id="28" name="Rectangle: Rounded Corners 27">
              <a:extLst>
                <a:ext uri="{FF2B5EF4-FFF2-40B4-BE49-F238E27FC236}">
                  <a16:creationId xmlns:a16="http://schemas.microsoft.com/office/drawing/2014/main" id="{699236A4-563D-C138-D16E-DC63D8467E25}"/>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29" name="TextBox 28">
              <a:extLst>
                <a:ext uri="{FF2B5EF4-FFF2-40B4-BE49-F238E27FC236}">
                  <a16:creationId xmlns:a16="http://schemas.microsoft.com/office/drawing/2014/main" id="{BFAC8186-8EF4-7F1D-ADE8-C0F47522FB50}"/>
                </a:ext>
              </a:extLst>
            </p:cNvPr>
            <p:cNvSpPr txBox="1"/>
            <p:nvPr/>
          </p:nvSpPr>
          <p:spPr>
            <a:xfrm>
              <a:off x="1420513" y="2642001"/>
              <a:ext cx="950259"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466</a:t>
              </a:r>
            </a:p>
          </p:txBody>
        </p:sp>
        <p:sp>
          <p:nvSpPr>
            <p:cNvPr id="30" name="TextBox 29">
              <a:extLst>
                <a:ext uri="{FF2B5EF4-FFF2-40B4-BE49-F238E27FC236}">
                  <a16:creationId xmlns:a16="http://schemas.microsoft.com/office/drawing/2014/main" id="{04BCE272-1BBE-02A6-8B55-7F109D3F1437}"/>
                </a:ext>
              </a:extLst>
            </p:cNvPr>
            <p:cNvSpPr txBox="1"/>
            <p:nvPr/>
          </p:nvSpPr>
          <p:spPr>
            <a:xfrm>
              <a:off x="994085" y="3037425"/>
              <a:ext cx="1709046" cy="584775"/>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Unique Accounts</a:t>
              </a:r>
            </a:p>
          </p:txBody>
        </p:sp>
      </p:grpSp>
      <p:grpSp>
        <p:nvGrpSpPr>
          <p:cNvPr id="31" name="CARD_Q2_Assets">
            <a:extLst>
              <a:ext uri="{FF2B5EF4-FFF2-40B4-BE49-F238E27FC236}">
                <a16:creationId xmlns:a16="http://schemas.microsoft.com/office/drawing/2014/main" id="{949EC1F1-FD73-7647-CAB5-24DBD5C4E3F5}"/>
              </a:ext>
            </a:extLst>
          </p:cNvPr>
          <p:cNvGrpSpPr/>
          <p:nvPr/>
        </p:nvGrpSpPr>
        <p:grpSpPr>
          <a:xfrm>
            <a:off x="5130242" y="2129781"/>
            <a:ext cx="1913990" cy="1130546"/>
            <a:chOff x="847497" y="2506662"/>
            <a:chExt cx="1913990" cy="1130546"/>
          </a:xfrm>
        </p:grpSpPr>
        <p:sp>
          <p:nvSpPr>
            <p:cNvPr id="32" name="Rectangle: Rounded Corners 31">
              <a:extLst>
                <a:ext uri="{FF2B5EF4-FFF2-40B4-BE49-F238E27FC236}">
                  <a16:creationId xmlns:a16="http://schemas.microsoft.com/office/drawing/2014/main" id="{12352837-123C-5D19-C3EB-3B02F329D497}"/>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3" name="TextBox 32">
              <a:extLst>
                <a:ext uri="{FF2B5EF4-FFF2-40B4-BE49-F238E27FC236}">
                  <a16:creationId xmlns:a16="http://schemas.microsoft.com/office/drawing/2014/main" id="{6160EC24-F4D2-1F27-74BF-8270C8C43709}"/>
                </a:ext>
              </a:extLst>
            </p:cNvPr>
            <p:cNvSpPr txBox="1"/>
            <p:nvPr/>
          </p:nvSpPr>
          <p:spPr>
            <a:xfrm>
              <a:off x="1594214" y="2647042"/>
              <a:ext cx="420555"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4</a:t>
              </a:r>
            </a:p>
          </p:txBody>
        </p:sp>
        <p:sp>
          <p:nvSpPr>
            <p:cNvPr id="34" name="TextBox 33">
              <a:extLst>
                <a:ext uri="{FF2B5EF4-FFF2-40B4-BE49-F238E27FC236}">
                  <a16:creationId xmlns:a16="http://schemas.microsoft.com/office/drawing/2014/main" id="{DFE96EB9-B487-305B-0EFB-F93B3AF65B15}"/>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Assets Used</a:t>
              </a:r>
            </a:p>
          </p:txBody>
        </p:sp>
      </p:grpSp>
      <p:grpSp>
        <p:nvGrpSpPr>
          <p:cNvPr id="35" name="CARD_Q2_JobTitles">
            <a:extLst>
              <a:ext uri="{FF2B5EF4-FFF2-40B4-BE49-F238E27FC236}">
                <a16:creationId xmlns:a16="http://schemas.microsoft.com/office/drawing/2014/main" id="{2B477F9F-1B10-A773-828A-C8FD8BD58A81}"/>
              </a:ext>
            </a:extLst>
          </p:cNvPr>
          <p:cNvGrpSpPr/>
          <p:nvPr/>
        </p:nvGrpSpPr>
        <p:grpSpPr>
          <a:xfrm>
            <a:off x="7330746" y="2129781"/>
            <a:ext cx="1913990" cy="1130546"/>
            <a:chOff x="847497" y="2506662"/>
            <a:chExt cx="1913990" cy="1130546"/>
          </a:xfrm>
        </p:grpSpPr>
        <p:sp>
          <p:nvSpPr>
            <p:cNvPr id="36" name="Rectangle: Rounded Corners 35">
              <a:extLst>
                <a:ext uri="{FF2B5EF4-FFF2-40B4-BE49-F238E27FC236}">
                  <a16:creationId xmlns:a16="http://schemas.microsoft.com/office/drawing/2014/main" id="{D8CD41D5-58CC-B8FF-9B8F-3AEDC9E07FE4}"/>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7" name="TextBox 36">
              <a:extLst>
                <a:ext uri="{FF2B5EF4-FFF2-40B4-BE49-F238E27FC236}">
                  <a16:creationId xmlns:a16="http://schemas.microsoft.com/office/drawing/2014/main" id="{FA537AE6-EDCC-61DC-7821-424B7A346BDA}"/>
                </a:ext>
              </a:extLst>
            </p:cNvPr>
            <p:cNvSpPr txBox="1"/>
            <p:nvPr/>
          </p:nvSpPr>
          <p:spPr>
            <a:xfrm>
              <a:off x="1447855" y="2658325"/>
              <a:ext cx="713274"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11</a:t>
              </a:r>
            </a:p>
          </p:txBody>
        </p:sp>
        <p:sp>
          <p:nvSpPr>
            <p:cNvPr id="38" name="TextBox 37">
              <a:extLst>
                <a:ext uri="{FF2B5EF4-FFF2-40B4-BE49-F238E27FC236}">
                  <a16:creationId xmlns:a16="http://schemas.microsoft.com/office/drawing/2014/main" id="{662D0E12-C6E3-327C-3079-A3BE5D627925}"/>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Job Titles</a:t>
              </a:r>
            </a:p>
          </p:txBody>
        </p:sp>
      </p:grpSp>
      <p:grpSp>
        <p:nvGrpSpPr>
          <p:cNvPr id="39" name="CARD_Q2_Country">
            <a:extLst>
              <a:ext uri="{FF2B5EF4-FFF2-40B4-BE49-F238E27FC236}">
                <a16:creationId xmlns:a16="http://schemas.microsoft.com/office/drawing/2014/main" id="{4CFC736C-68B3-9BAA-B5C4-1E595E54203E}"/>
              </a:ext>
            </a:extLst>
          </p:cNvPr>
          <p:cNvGrpSpPr/>
          <p:nvPr/>
        </p:nvGrpSpPr>
        <p:grpSpPr>
          <a:xfrm>
            <a:off x="9531250" y="2129781"/>
            <a:ext cx="1913990" cy="1130546"/>
            <a:chOff x="847497" y="2506662"/>
            <a:chExt cx="1913990" cy="1130546"/>
          </a:xfrm>
        </p:grpSpPr>
        <p:sp>
          <p:nvSpPr>
            <p:cNvPr id="40" name="Rectangle: Rounded Corners 39">
              <a:extLst>
                <a:ext uri="{FF2B5EF4-FFF2-40B4-BE49-F238E27FC236}">
                  <a16:creationId xmlns:a16="http://schemas.microsoft.com/office/drawing/2014/main" id="{95E1857C-CA0E-1C67-7414-E0A9A29148C8}"/>
                </a:ext>
              </a:extLst>
            </p:cNvPr>
            <p:cNvSpPr/>
            <p:nvPr/>
          </p:nvSpPr>
          <p:spPr>
            <a:xfrm>
              <a:off x="847497" y="2506662"/>
              <a:ext cx="1913990" cy="1130546"/>
            </a:xfrm>
            <a:prstGeom prst="round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1" name="TextBox 40">
              <a:extLst>
                <a:ext uri="{FF2B5EF4-FFF2-40B4-BE49-F238E27FC236}">
                  <a16:creationId xmlns:a16="http://schemas.microsoft.com/office/drawing/2014/main" id="{FB4ACAFD-9C9B-3883-7E23-0DB67B2FC478}"/>
                </a:ext>
              </a:extLst>
            </p:cNvPr>
            <p:cNvSpPr txBox="1"/>
            <p:nvPr/>
          </p:nvSpPr>
          <p:spPr>
            <a:xfrm>
              <a:off x="1562642" y="2658325"/>
              <a:ext cx="518416" cy="523220"/>
            </a:xfrm>
            <a:prstGeom prst="rect">
              <a:avLst/>
            </a:prstGeom>
            <a:noFill/>
          </p:spPr>
          <p:txBody>
            <a:bodyPr wrap="square" rtlCol="0">
              <a:spAutoFit/>
            </a:bodyPr>
            <a:lstStyle/>
            <a:p>
              <a:r>
                <a:rPr lang="en-US" sz="2800" b="1" dirty="0">
                  <a:solidFill>
                    <a:srgbClr val="0F3D63"/>
                  </a:solidFill>
                  <a:latin typeface="Montserrat" panose="00000500000000000000" pitchFamily="2" charset="0"/>
                </a:rPr>
                <a:t>1</a:t>
              </a:r>
            </a:p>
          </p:txBody>
        </p:sp>
        <p:sp>
          <p:nvSpPr>
            <p:cNvPr id="42" name="TextBox 41">
              <a:extLst>
                <a:ext uri="{FF2B5EF4-FFF2-40B4-BE49-F238E27FC236}">
                  <a16:creationId xmlns:a16="http://schemas.microsoft.com/office/drawing/2014/main" id="{5669DD9A-4367-AB01-C33F-3497FA99FF58}"/>
                </a:ext>
              </a:extLst>
            </p:cNvPr>
            <p:cNvSpPr txBox="1"/>
            <p:nvPr/>
          </p:nvSpPr>
          <p:spPr>
            <a:xfrm>
              <a:off x="967327" y="3090393"/>
              <a:ext cx="1709046" cy="338554"/>
            </a:xfrm>
            <a:prstGeom prst="rect">
              <a:avLst/>
            </a:prstGeom>
            <a:noFill/>
          </p:spPr>
          <p:txBody>
            <a:bodyPr wrap="square" rtlCol="0">
              <a:spAutoFit/>
            </a:bodyPr>
            <a:lstStyle/>
            <a:p>
              <a:pPr algn="ctr"/>
              <a:r>
                <a:rPr lang="en-US" sz="1600" dirty="0">
                  <a:solidFill>
                    <a:schemeClr val="bg1">
                      <a:lumMod val="50000"/>
                    </a:schemeClr>
                  </a:solidFill>
                  <a:latin typeface="Montserrat" panose="00000500000000000000" pitchFamily="2" charset="0"/>
                </a:rPr>
                <a:t>Country</a:t>
              </a:r>
            </a:p>
          </p:txBody>
        </p:sp>
      </p:grpSp>
      <p:sp>
        <p:nvSpPr>
          <p:cNvPr id="7" name="TITLE_Q2Performance">
            <a:extLst>
              <a:ext uri="{FF2B5EF4-FFF2-40B4-BE49-F238E27FC236}">
                <a16:creationId xmlns:a16="http://schemas.microsoft.com/office/drawing/2014/main" id="{9D96078A-BB71-5A1B-2ADA-F2D66EF2F339}"/>
              </a:ext>
            </a:extLst>
          </p:cNvPr>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Q2</a:t>
            </a:r>
            <a:r>
              <a:rPr lang="en-US" sz="3000" b="1" i="0" dirty="0">
                <a:solidFill>
                  <a:schemeClr val="accent1"/>
                </a:solidFill>
                <a:latin typeface="Montserrat" panose="00000500000000000000" pitchFamily="2" charset="0"/>
              </a:rPr>
              <a:t> 2026</a:t>
            </a:r>
            <a:r>
              <a:rPr sz="3000" b="1" i="0" dirty="0">
                <a:solidFill>
                  <a:schemeClr val="accent1"/>
                </a:solidFill>
                <a:latin typeface="Montserrat" panose="00000500000000000000" pitchFamily="2" charset="0"/>
              </a:rPr>
              <a:t>: </a:t>
            </a:r>
            <a:r>
              <a:rPr lang="en-US" sz="3000" b="1" i="0" dirty="0">
                <a:solidFill>
                  <a:schemeClr val="accent1"/>
                </a:solidFill>
                <a:latin typeface="Montserrat" panose="00000500000000000000" pitchFamily="2" charset="0"/>
              </a:rPr>
              <a:t>Performance Review</a:t>
            </a:r>
            <a:endParaRPr sz="3000" b="1" i="0" dirty="0">
              <a:solidFill>
                <a:schemeClr val="accent1"/>
              </a:solidFill>
              <a:latin typeface="Montserrat" panose="00000500000000000000" pitchFamily="2" charset="0"/>
            </a:endParaRPr>
          </a:p>
        </p:txBody>
      </p:sp>
    </p:spTree>
    <p:extLst>
      <p:ext uri="{BB962C8B-B14F-4D97-AF65-F5344CB8AC3E}">
        <p14:creationId xmlns:p14="http://schemas.microsoft.com/office/powerpoint/2010/main" val="1321223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34442-669F-1C36-E3F5-39595E9D13A3}"/>
            </a:ext>
          </a:extLst>
        </p:cNvPr>
        <p:cNvGrpSpPr/>
        <p:nvPr/>
      </p:nvGrpSpPr>
      <p:grpSpPr>
        <a:xfrm>
          <a:off x="0" y="0"/>
          <a:ext cx="0" cy="0"/>
          <a:chOff x="0" y="0"/>
          <a:chExt cx="0" cy="0"/>
        </a:xfrm>
      </p:grpSpPr>
      <p:sp>
        <p:nvSpPr>
          <p:cNvPr id="2" name="SECTION_Comparison">
            <a:extLst>
              <a:ext uri="{FF2B5EF4-FFF2-40B4-BE49-F238E27FC236}">
                <a16:creationId xmlns:a16="http://schemas.microsoft.com/office/drawing/2014/main" id="{191F8D8A-08AA-ECA7-28AA-F38187FAE171}"/>
              </a:ext>
            </a:extLst>
          </p:cNvPr>
          <p:cNvSpPr>
            <a:spLocks noGrp="1"/>
          </p:cNvSpPr>
          <p:nvPr>
            <p:ph type="body" sz="quarter" idx="10"/>
          </p:nvPr>
        </p:nvSpPr>
        <p:spPr/>
        <p:txBody>
          <a:bodyPr wrap="square">
            <a:normAutofit/>
          </a:bodyPr>
          <a:lstStyle/>
          <a:p>
            <a:pPr marL="0" indent="0">
              <a:buNone/>
            </a:pPr>
            <a:r>
              <a:rPr sz="3400" b="1" dirty="0">
                <a:solidFill>
                  <a:srgbClr val="FFFFFF"/>
                </a:solidFill>
                <a:latin typeface="Montserrat" panose="00000500000000000000" pitchFamily="2" charset="0"/>
              </a:rPr>
              <a:t>Q1</a:t>
            </a:r>
            <a:r>
              <a:rPr lang="en-US" sz="3400" b="1" dirty="0">
                <a:solidFill>
                  <a:srgbClr val="FFFFFF"/>
                </a:solidFill>
                <a:latin typeface="Montserrat" panose="00000500000000000000" pitchFamily="2" charset="0"/>
              </a:rPr>
              <a:t> vs Q2</a:t>
            </a:r>
            <a:r>
              <a:rPr sz="3400" b="1" dirty="0">
                <a:solidFill>
                  <a:srgbClr val="FFFFFF"/>
                </a:solidFill>
                <a:latin typeface="Montserrat" panose="00000500000000000000" pitchFamily="2" charset="0"/>
              </a:rPr>
              <a:t> Performance</a:t>
            </a:r>
          </a:p>
        </p:txBody>
      </p:sp>
    </p:spTree>
    <p:extLst>
      <p:ext uri="{BB962C8B-B14F-4D97-AF65-F5344CB8AC3E}">
        <p14:creationId xmlns:p14="http://schemas.microsoft.com/office/powerpoint/2010/main" val="3344226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Q1Q2Comparison"/>
          <p:cNvSpPr>
            <a:spLocks noGrp="1"/>
          </p:cNvSpPr>
          <p:nvPr>
            <p:ph type="title"/>
          </p:nvPr>
        </p:nvSpPr>
        <p:spPr>
          <a:xfrm>
            <a:off x="640080" y="-45403"/>
            <a:ext cx="10515600" cy="1325563"/>
          </a:xfrm>
        </p:spPr>
        <p:txBody>
          <a:bodyPr wrap="square">
            <a:normAutofit/>
          </a:bodyPr>
          <a:lstStyle/>
          <a:p>
            <a:pPr algn="l"/>
            <a:r>
              <a:rPr sz="3000" b="1" i="0" dirty="0">
                <a:solidFill>
                  <a:schemeClr val="accent1"/>
                </a:solidFill>
                <a:latin typeface="Montserrat" panose="00000500000000000000" pitchFamily="2" charset="0"/>
              </a:rPr>
              <a:t>Q1 vs Q2: Quarter-over-Quarter Comparison</a:t>
            </a:r>
          </a:p>
        </p:txBody>
      </p:sp>
      <p:sp>
        <p:nvSpPr>
          <p:cNvPr id="3" name="AI_ComparisonHeadline"/>
          <p:cNvSpPr>
            <a:spLocks noGrp="1"/>
          </p:cNvSpPr>
          <p:nvPr>
            <p:ph type="body" sz="quarter" idx="10"/>
          </p:nvPr>
        </p:nvSpPr>
        <p:spPr>
          <a:xfrm>
            <a:off x="802132" y="1280160"/>
            <a:ext cx="10515600" cy="590550"/>
          </a:xfrm>
        </p:spPr>
        <p:txBody>
          <a:bodyPr wrap="square"/>
          <a:lstStyle/>
          <a:p>
            <a:pPr algn="l"/>
            <a:r>
              <a:rPr sz="1500" b="1" i="0" dirty="0">
                <a:solidFill>
                  <a:srgbClr val="555B6E"/>
                </a:solidFill>
                <a:latin typeface="Montserrat" panose="00000500000000000000" pitchFamily="2" charset="0"/>
              </a:rPr>
              <a:t>Leads held steady while account reach expanded sharply</a:t>
            </a:r>
            <a:r>
              <a:rPr lang="en-US" sz="1500" b="1" i="0" dirty="0">
                <a:solidFill>
                  <a:srgbClr val="555B6E"/>
                </a:solidFill>
                <a:latin typeface="Montserrat" panose="00000500000000000000" pitchFamily="2" charset="0"/>
              </a:rPr>
              <a:t>.</a:t>
            </a:r>
            <a:endParaRPr sz="1500" b="1" i="0" dirty="0">
              <a:solidFill>
                <a:srgbClr val="555B6E"/>
              </a:solidFill>
              <a:latin typeface="Montserrat" panose="00000500000000000000" pitchFamily="2" charset="0"/>
            </a:endParaRPr>
          </a:p>
        </p:txBody>
      </p:sp>
      <p:sp>
        <p:nvSpPr>
          <p:cNvPr id="5" name="Rounded Rectangle 4"/>
          <p:cNvSpPr/>
          <p:nvPr/>
        </p:nvSpPr>
        <p:spPr>
          <a:xfrm>
            <a:off x="7178040" y="1947587"/>
            <a:ext cx="4343400" cy="150876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KPI_ComparisonMetric1"/>
          <p:cNvSpPr txBox="1"/>
          <p:nvPr/>
        </p:nvSpPr>
        <p:spPr>
          <a:xfrm>
            <a:off x="7614412" y="2240142"/>
            <a:ext cx="3886200" cy="338554"/>
          </a:xfrm>
          <a:prstGeom prst="rect">
            <a:avLst/>
          </a:prstGeom>
          <a:noFill/>
        </p:spPr>
        <p:txBody>
          <a:bodyPr wrap="square" lIns="0" tIns="0" rIns="0" bIns="0" anchor="t">
            <a:spAutoFit/>
          </a:bodyPr>
          <a:lstStyle/>
          <a:p>
            <a:pPr algn="l"/>
            <a:r>
              <a:rPr sz="2200" b="1" i="0" dirty="0">
                <a:solidFill>
                  <a:srgbClr val="1C6AFE"/>
                </a:solidFill>
                <a:latin typeface="Montserrat" panose="00000500000000000000" pitchFamily="2" charset="0"/>
              </a:rPr>
              <a:t>+0.75%</a:t>
            </a:r>
          </a:p>
        </p:txBody>
      </p:sp>
      <p:sp>
        <p:nvSpPr>
          <p:cNvPr id="7" name="Rounded Rectangle 6"/>
          <p:cNvSpPr/>
          <p:nvPr/>
        </p:nvSpPr>
        <p:spPr>
          <a:xfrm>
            <a:off x="7178040" y="3730667"/>
            <a:ext cx="4343400" cy="150876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8" name="KPI_ComparisonMetric2"/>
          <p:cNvSpPr txBox="1"/>
          <p:nvPr/>
        </p:nvSpPr>
        <p:spPr>
          <a:xfrm>
            <a:off x="7614412" y="3962018"/>
            <a:ext cx="3886200" cy="338554"/>
          </a:xfrm>
          <a:prstGeom prst="rect">
            <a:avLst/>
          </a:prstGeom>
          <a:noFill/>
        </p:spPr>
        <p:txBody>
          <a:bodyPr wrap="square" lIns="0" tIns="0" rIns="0" bIns="0" anchor="t">
            <a:spAutoFit/>
          </a:bodyPr>
          <a:lstStyle/>
          <a:p>
            <a:pPr algn="l"/>
            <a:r>
              <a:rPr sz="2200" b="1" i="0" dirty="0">
                <a:solidFill>
                  <a:srgbClr val="1C6AFE"/>
                </a:solidFill>
                <a:latin typeface="Montserrat" panose="00000500000000000000" pitchFamily="2" charset="0"/>
              </a:rPr>
              <a:t>+18.58%</a:t>
            </a:r>
          </a:p>
        </p:txBody>
      </p:sp>
      <p:sp>
        <p:nvSpPr>
          <p:cNvPr id="9" name="AI_ComparisonSummary"/>
          <p:cNvSpPr txBox="1"/>
          <p:nvPr/>
        </p:nvSpPr>
        <p:spPr>
          <a:xfrm>
            <a:off x="619252" y="5756105"/>
            <a:ext cx="10881360" cy="338554"/>
          </a:xfrm>
          <a:prstGeom prst="rect">
            <a:avLst/>
          </a:prstGeom>
          <a:noFill/>
        </p:spPr>
        <p:txBody>
          <a:bodyPr wrap="square" lIns="0" tIns="0" rIns="0" bIns="0" anchor="t">
            <a:spAutoFit/>
          </a:bodyPr>
          <a:lstStyle/>
          <a:p>
            <a:pPr algn="l"/>
            <a:r>
              <a:rPr sz="1100" b="1" i="1" dirty="0">
                <a:solidFill>
                  <a:srgbClr val="555B6E"/>
                </a:solidFill>
                <a:latin typeface="Montserrat" panose="00000500000000000000" pitchFamily="2" charset="0"/>
              </a:rPr>
              <a:t>Reading this together: the campaign is not just repeating the same leads – it is converting a meaningfully wider set of healthcare organizations quarter over quarter.</a:t>
            </a:r>
          </a:p>
        </p:txBody>
      </p:sp>
      <p:graphicFrame>
        <p:nvGraphicFramePr>
          <p:cNvPr id="10" name="CHART_Q1Q2Comparison">
            <a:extLst>
              <a:ext uri="{FF2B5EF4-FFF2-40B4-BE49-F238E27FC236}">
                <a16:creationId xmlns:a16="http://schemas.microsoft.com/office/drawing/2014/main" id="{F8895036-2BD4-2BBC-9376-5633064864A8}"/>
              </a:ext>
            </a:extLst>
          </p:cNvPr>
          <p:cNvGraphicFramePr/>
          <p:nvPr>
            <p:extLst>
              <p:ext uri="{D42A27DB-BD31-4B8C-83A1-F6EECF244321}">
                <p14:modId xmlns:p14="http://schemas.microsoft.com/office/powerpoint/2010/main" val="629883773"/>
              </p:ext>
            </p:extLst>
          </p:nvPr>
        </p:nvGraphicFramePr>
        <p:xfrm>
          <a:off x="435864" y="1985052"/>
          <a:ext cx="6208776" cy="3953933"/>
        </p:xfrm>
        <a:graphic>
          <a:graphicData uri="http://schemas.openxmlformats.org/drawingml/2006/chart">
            <c:chart xmlns:c="http://schemas.openxmlformats.org/drawingml/2006/chart" xmlns:r="http://schemas.openxmlformats.org/officeDocument/2006/relationships" r:id="rId2"/>
          </a:graphicData>
        </a:graphic>
      </p:graphicFrame>
      <p:sp>
        <p:nvSpPr>
          <p:cNvPr id="11" name="AI_ComparisonInsight1">
            <a:extLst>
              <a:ext uri="{FF2B5EF4-FFF2-40B4-BE49-F238E27FC236}">
                <a16:creationId xmlns:a16="http://schemas.microsoft.com/office/drawing/2014/main" id="{E5F04644-B422-72E9-5994-794F1CF51E3F}"/>
              </a:ext>
            </a:extLst>
          </p:cNvPr>
          <p:cNvSpPr txBox="1"/>
          <p:nvPr/>
        </p:nvSpPr>
        <p:spPr>
          <a:xfrm>
            <a:off x="7614412" y="2655573"/>
            <a:ext cx="3886200" cy="707886"/>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Total Leads grew modestly – 799 to 805 – signaling a stable, mature funnel.</a:t>
            </a:r>
          </a:p>
          <a:p>
            <a:endParaRPr lang="en-US" sz="1200" dirty="0"/>
          </a:p>
        </p:txBody>
      </p:sp>
      <p:sp>
        <p:nvSpPr>
          <p:cNvPr id="12" name="AI_ComparisonInsight2">
            <a:extLst>
              <a:ext uri="{FF2B5EF4-FFF2-40B4-BE49-F238E27FC236}">
                <a16:creationId xmlns:a16="http://schemas.microsoft.com/office/drawing/2014/main" id="{062B7257-ADC1-73D9-6A77-0E8E85AC7F57}"/>
              </a:ext>
            </a:extLst>
          </p:cNvPr>
          <p:cNvSpPr txBox="1"/>
          <p:nvPr/>
        </p:nvSpPr>
        <p:spPr>
          <a:xfrm>
            <a:off x="7614412" y="4404882"/>
            <a:ext cx="3774948"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Unique Accounts jumped from 393 to 466, the single biggest QoQ mover in the campaign.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_QoQMetrics"/>
          <p:cNvGraphicFramePr>
            <a:graphicFrameLocks noGrp="1"/>
          </p:cNvGraphicFramePr>
          <p:nvPr>
            <p:extLst>
              <p:ext uri="{D42A27DB-BD31-4B8C-83A1-F6EECF244321}">
                <p14:modId xmlns:p14="http://schemas.microsoft.com/office/powerpoint/2010/main" val="3196306662"/>
              </p:ext>
            </p:extLst>
          </p:nvPr>
        </p:nvGraphicFramePr>
        <p:xfrm>
          <a:off x="1316737" y="1509077"/>
          <a:ext cx="7406640" cy="265176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tblGrid>
              <a:tr h="441960">
                <a:tc>
                  <a:txBody>
                    <a:bodyPr/>
                    <a:lstStyle/>
                    <a:p>
                      <a:pPr algn="l"/>
                      <a:r>
                        <a:rPr sz="1250" b="1">
                          <a:solidFill>
                            <a:srgbClr val="FFFFFF"/>
                          </a:solidFill>
                          <a:latin typeface="Calibri"/>
                        </a:rPr>
                        <a:t>Metric</a:t>
                      </a:r>
                    </a:p>
                  </a:txBody>
                  <a:tcPr marL="73152" marR="73152" marT="36576" marB="36576" anchor="ctr">
                    <a:solidFill>
                      <a:srgbClr val="262E81"/>
                    </a:solidFill>
                  </a:tcPr>
                </a:tc>
                <a:tc>
                  <a:txBody>
                    <a:bodyPr/>
                    <a:lstStyle/>
                    <a:p>
                      <a:pPr algn="ctr"/>
                      <a:r>
                        <a:rPr sz="1250" b="1">
                          <a:solidFill>
                            <a:srgbClr val="FFFFFF"/>
                          </a:solidFill>
                          <a:latin typeface="Calibri"/>
                        </a:rPr>
                        <a:t>Q1</a:t>
                      </a:r>
                    </a:p>
                  </a:txBody>
                  <a:tcPr marL="73152" marR="73152" marT="36576" marB="36576" anchor="ctr">
                    <a:solidFill>
                      <a:srgbClr val="262E81"/>
                    </a:solidFill>
                  </a:tcPr>
                </a:tc>
                <a:tc>
                  <a:txBody>
                    <a:bodyPr/>
                    <a:lstStyle/>
                    <a:p>
                      <a:pPr algn="ctr"/>
                      <a:r>
                        <a:rPr sz="1250" b="1">
                          <a:solidFill>
                            <a:srgbClr val="FFFFFF"/>
                          </a:solidFill>
                          <a:latin typeface="Calibri"/>
                        </a:rPr>
                        <a:t>Q2</a:t>
                      </a:r>
                    </a:p>
                  </a:txBody>
                  <a:tcPr marL="73152" marR="73152" marT="36576" marB="36576" anchor="ctr">
                    <a:solidFill>
                      <a:srgbClr val="262E81"/>
                    </a:solidFill>
                  </a:tcPr>
                </a:tc>
                <a:tc>
                  <a:txBody>
                    <a:bodyPr/>
                    <a:lstStyle/>
                    <a:p>
                      <a:pPr algn="ctr"/>
                      <a:r>
                        <a:rPr sz="1250" b="1">
                          <a:solidFill>
                            <a:srgbClr val="FFFFFF"/>
                          </a:solidFill>
                          <a:latin typeface="Calibri"/>
                        </a:rPr>
                        <a:t>Change</a:t>
                      </a:r>
                    </a:p>
                  </a:txBody>
                  <a:tcPr marL="73152" marR="73152" marT="36576" marB="36576" anchor="ctr">
                    <a:solidFill>
                      <a:srgbClr val="262E81"/>
                    </a:solidFill>
                  </a:tcPr>
                </a:tc>
                <a:tc>
                  <a:txBody>
                    <a:bodyPr/>
                    <a:lstStyle/>
                    <a:p>
                      <a:pPr algn="ctr"/>
                      <a:r>
                        <a:rPr sz="1250" b="1" dirty="0">
                          <a:solidFill>
                            <a:srgbClr val="FFFFFF"/>
                          </a:solidFill>
                          <a:latin typeface="Calibri"/>
                        </a:rPr>
                        <a:t>% Change</a:t>
                      </a:r>
                    </a:p>
                  </a:txBody>
                  <a:tcPr marL="73152" marR="73152" marT="36576" marB="36576" anchor="ctr">
                    <a:solidFill>
                      <a:srgbClr val="262E81"/>
                    </a:solidFill>
                  </a:tcPr>
                </a:tc>
                <a:extLst>
                  <a:ext uri="{0D108BD9-81ED-4DB2-BD59-A6C34878D82A}">
                    <a16:rowId xmlns:a16="http://schemas.microsoft.com/office/drawing/2014/main" val="10000"/>
                  </a:ext>
                </a:extLst>
              </a:tr>
              <a:tr h="441960">
                <a:tc>
                  <a:txBody>
                    <a:bodyPr/>
                    <a:lstStyle/>
                    <a:p>
                      <a:pPr algn="l"/>
                      <a:r>
                        <a:rPr sz="1300" b="1">
                          <a:solidFill>
                            <a:srgbClr val="1A1D29"/>
                          </a:solidFill>
                          <a:latin typeface="Calibri"/>
                        </a:rPr>
                        <a:t>Total Leads</a:t>
                      </a:r>
                    </a:p>
                  </a:txBody>
                  <a:tcPr marL="73152" marR="73152" marT="36576" marB="36576" anchor="ctr">
                    <a:solidFill>
                      <a:srgbClr val="FFFFFF"/>
                    </a:solidFill>
                  </a:tcPr>
                </a:tc>
                <a:tc>
                  <a:txBody>
                    <a:bodyPr/>
                    <a:lstStyle/>
                    <a:p>
                      <a:pPr algn="ctr"/>
                      <a:r>
                        <a:rPr sz="1300" b="0">
                          <a:solidFill>
                            <a:srgbClr val="1A1D29"/>
                          </a:solidFill>
                          <a:latin typeface="Calibri"/>
                        </a:rPr>
                        <a:t>799</a:t>
                      </a:r>
                    </a:p>
                  </a:txBody>
                  <a:tcPr marL="73152" marR="73152" marT="36576" marB="36576" anchor="ctr">
                    <a:solidFill>
                      <a:srgbClr val="FFFFFF"/>
                    </a:solidFill>
                  </a:tcPr>
                </a:tc>
                <a:tc>
                  <a:txBody>
                    <a:bodyPr/>
                    <a:lstStyle/>
                    <a:p>
                      <a:pPr algn="ctr"/>
                      <a:r>
                        <a:rPr sz="1300" b="0">
                          <a:solidFill>
                            <a:srgbClr val="1A1D29"/>
                          </a:solidFill>
                          <a:latin typeface="Calibri"/>
                        </a:rPr>
                        <a:t>805</a:t>
                      </a:r>
                    </a:p>
                  </a:txBody>
                  <a:tcPr marL="73152" marR="73152" marT="36576" marB="36576" anchor="ctr">
                    <a:solidFill>
                      <a:srgbClr val="FFFFFF"/>
                    </a:solidFill>
                  </a:tcPr>
                </a:tc>
                <a:tc>
                  <a:txBody>
                    <a:bodyPr/>
                    <a:lstStyle/>
                    <a:p>
                      <a:pPr algn="ctr"/>
                      <a:r>
                        <a:rPr sz="1300" b="0">
                          <a:solidFill>
                            <a:srgbClr val="1A1D29"/>
                          </a:solidFill>
                          <a:latin typeface="Calibri"/>
                        </a:rPr>
                        <a:t>+6</a:t>
                      </a:r>
                    </a:p>
                  </a:txBody>
                  <a:tcPr marL="73152" marR="73152" marT="36576" marB="36576" anchor="ctr">
                    <a:solidFill>
                      <a:srgbClr val="FFFFFF"/>
                    </a:solidFill>
                  </a:tcPr>
                </a:tc>
                <a:tc>
                  <a:txBody>
                    <a:bodyPr/>
                    <a:lstStyle/>
                    <a:p>
                      <a:pPr algn="ctr"/>
                      <a:r>
                        <a:rPr sz="1300" b="1">
                          <a:solidFill>
                            <a:srgbClr val="1A1D29"/>
                          </a:solidFill>
                          <a:latin typeface="Calibri"/>
                        </a:rPr>
                        <a:t>+0.75%</a:t>
                      </a:r>
                    </a:p>
                  </a:txBody>
                  <a:tcPr marL="73152" marR="73152" marT="36576" marB="36576" anchor="ctr">
                    <a:solidFill>
                      <a:srgbClr val="FFFFFF"/>
                    </a:solidFill>
                  </a:tcPr>
                </a:tc>
                <a:extLst>
                  <a:ext uri="{0D108BD9-81ED-4DB2-BD59-A6C34878D82A}">
                    <a16:rowId xmlns:a16="http://schemas.microsoft.com/office/drawing/2014/main" val="10001"/>
                  </a:ext>
                </a:extLst>
              </a:tr>
              <a:tr h="441960">
                <a:tc>
                  <a:txBody>
                    <a:bodyPr/>
                    <a:lstStyle/>
                    <a:p>
                      <a:pPr algn="l"/>
                      <a:r>
                        <a:rPr sz="1300" b="1" dirty="0">
                          <a:solidFill>
                            <a:srgbClr val="1A1D29"/>
                          </a:solidFill>
                          <a:latin typeface="Calibri"/>
                        </a:rPr>
                        <a:t>Unique Accounts</a:t>
                      </a:r>
                    </a:p>
                  </a:txBody>
                  <a:tcPr marL="73152" marR="73152" marT="36576" marB="36576" anchor="ctr">
                    <a:solidFill>
                      <a:srgbClr val="F3F4F9"/>
                    </a:solidFill>
                  </a:tcPr>
                </a:tc>
                <a:tc>
                  <a:txBody>
                    <a:bodyPr/>
                    <a:lstStyle/>
                    <a:p>
                      <a:pPr algn="ctr"/>
                      <a:r>
                        <a:rPr sz="1300" b="0">
                          <a:solidFill>
                            <a:srgbClr val="1A1D29"/>
                          </a:solidFill>
                          <a:latin typeface="Calibri"/>
                        </a:rPr>
                        <a:t>393</a:t>
                      </a:r>
                    </a:p>
                  </a:txBody>
                  <a:tcPr marL="73152" marR="73152" marT="36576" marB="36576" anchor="ctr">
                    <a:solidFill>
                      <a:srgbClr val="F3F4F9"/>
                    </a:solidFill>
                  </a:tcPr>
                </a:tc>
                <a:tc>
                  <a:txBody>
                    <a:bodyPr/>
                    <a:lstStyle/>
                    <a:p>
                      <a:pPr algn="ctr"/>
                      <a:r>
                        <a:rPr sz="1300" b="0" dirty="0">
                          <a:solidFill>
                            <a:srgbClr val="1A1D29"/>
                          </a:solidFill>
                          <a:latin typeface="Calibri"/>
                        </a:rPr>
                        <a:t>466</a:t>
                      </a:r>
                    </a:p>
                  </a:txBody>
                  <a:tcPr marL="73152" marR="73152" marT="36576" marB="36576" anchor="ctr">
                    <a:solidFill>
                      <a:srgbClr val="F3F4F9"/>
                    </a:solidFill>
                  </a:tcPr>
                </a:tc>
                <a:tc>
                  <a:txBody>
                    <a:bodyPr/>
                    <a:lstStyle/>
                    <a:p>
                      <a:pPr algn="ctr"/>
                      <a:r>
                        <a:rPr sz="1300" b="0">
                          <a:solidFill>
                            <a:srgbClr val="1A1D29"/>
                          </a:solidFill>
                          <a:latin typeface="Calibri"/>
                        </a:rPr>
                        <a:t>+73</a:t>
                      </a:r>
                    </a:p>
                  </a:txBody>
                  <a:tcPr marL="73152" marR="73152" marT="36576" marB="36576" anchor="ctr">
                    <a:solidFill>
                      <a:srgbClr val="F3F4F9"/>
                    </a:solidFill>
                  </a:tcPr>
                </a:tc>
                <a:tc>
                  <a:txBody>
                    <a:bodyPr/>
                    <a:lstStyle/>
                    <a:p>
                      <a:pPr algn="ctr"/>
                      <a:r>
                        <a:rPr sz="1300" b="1" dirty="0">
                          <a:solidFill>
                            <a:srgbClr val="1A1D29"/>
                          </a:solidFill>
                          <a:latin typeface="Calibri"/>
                        </a:rPr>
                        <a:t>+18.58%</a:t>
                      </a:r>
                    </a:p>
                  </a:txBody>
                  <a:tcPr marL="73152" marR="73152" marT="36576" marB="36576" anchor="ctr">
                    <a:solidFill>
                      <a:srgbClr val="F3F4F9"/>
                    </a:solidFill>
                  </a:tcPr>
                </a:tc>
                <a:extLst>
                  <a:ext uri="{0D108BD9-81ED-4DB2-BD59-A6C34878D82A}">
                    <a16:rowId xmlns:a16="http://schemas.microsoft.com/office/drawing/2014/main" val="10002"/>
                  </a:ext>
                </a:extLst>
              </a:tr>
              <a:tr h="441960">
                <a:tc>
                  <a:txBody>
                    <a:bodyPr/>
                    <a:lstStyle/>
                    <a:p>
                      <a:pPr algn="l"/>
                      <a:r>
                        <a:rPr sz="1300" b="1">
                          <a:solidFill>
                            <a:srgbClr val="1A1D29"/>
                          </a:solidFill>
                          <a:latin typeface="Calibri"/>
                        </a:rPr>
                        <a:t>Assets Used</a:t>
                      </a:r>
                    </a:p>
                  </a:txBody>
                  <a:tcPr marL="73152" marR="73152" marT="36576" marB="36576" anchor="ctr">
                    <a:solidFill>
                      <a:srgbClr val="FFFFFF"/>
                    </a:solidFill>
                  </a:tcPr>
                </a:tc>
                <a:tc>
                  <a:txBody>
                    <a:bodyPr/>
                    <a:lstStyle/>
                    <a:p>
                      <a:pPr algn="ctr"/>
                      <a:r>
                        <a:rPr sz="1300" b="0">
                          <a:solidFill>
                            <a:srgbClr val="1A1D29"/>
                          </a:solidFill>
                          <a:latin typeface="Calibri"/>
                        </a:rPr>
                        <a:t>4</a:t>
                      </a:r>
                    </a:p>
                  </a:txBody>
                  <a:tcPr marL="73152" marR="73152" marT="36576" marB="36576" anchor="ctr">
                    <a:solidFill>
                      <a:srgbClr val="FFFFFF"/>
                    </a:solidFill>
                  </a:tcPr>
                </a:tc>
                <a:tc>
                  <a:txBody>
                    <a:bodyPr/>
                    <a:lstStyle/>
                    <a:p>
                      <a:pPr algn="ctr"/>
                      <a:r>
                        <a:rPr sz="1300" b="0">
                          <a:solidFill>
                            <a:srgbClr val="1A1D29"/>
                          </a:solidFill>
                          <a:latin typeface="Calibri"/>
                        </a:rPr>
                        <a:t>4</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tc>
                  <a:txBody>
                    <a:bodyPr/>
                    <a:lstStyle/>
                    <a:p>
                      <a:pPr algn="ctr"/>
                      <a:r>
                        <a:rPr sz="1300" b="1" dirty="0">
                          <a:solidFill>
                            <a:srgbClr val="1A1D29"/>
                          </a:solidFill>
                          <a:latin typeface="Calibri"/>
                        </a:rPr>
                        <a:t>0.00%</a:t>
                      </a:r>
                    </a:p>
                  </a:txBody>
                  <a:tcPr marL="73152" marR="73152" marT="36576" marB="36576" anchor="ctr">
                    <a:solidFill>
                      <a:srgbClr val="FFFFFF"/>
                    </a:solidFill>
                  </a:tcPr>
                </a:tc>
                <a:extLst>
                  <a:ext uri="{0D108BD9-81ED-4DB2-BD59-A6C34878D82A}">
                    <a16:rowId xmlns:a16="http://schemas.microsoft.com/office/drawing/2014/main" val="10003"/>
                  </a:ext>
                </a:extLst>
              </a:tr>
              <a:tr h="441960">
                <a:tc>
                  <a:txBody>
                    <a:bodyPr/>
                    <a:lstStyle/>
                    <a:p>
                      <a:pPr algn="l"/>
                      <a:r>
                        <a:rPr sz="1300" b="1">
                          <a:solidFill>
                            <a:srgbClr val="1A1D29"/>
                          </a:solidFill>
                          <a:latin typeface="Calibri"/>
                        </a:rPr>
                        <a:t>Job Titles</a:t>
                      </a:r>
                    </a:p>
                  </a:txBody>
                  <a:tcPr marL="73152" marR="73152" marT="36576" marB="36576" anchor="ctr">
                    <a:solidFill>
                      <a:srgbClr val="F3F4F9"/>
                    </a:solidFill>
                  </a:tcPr>
                </a:tc>
                <a:tc>
                  <a:txBody>
                    <a:bodyPr/>
                    <a:lstStyle/>
                    <a:p>
                      <a:pPr algn="ctr"/>
                      <a:r>
                        <a:rPr sz="1300" b="0">
                          <a:solidFill>
                            <a:srgbClr val="1A1D29"/>
                          </a:solidFill>
                          <a:latin typeface="Calibri"/>
                        </a:rPr>
                        <a:t>10</a:t>
                      </a:r>
                    </a:p>
                  </a:txBody>
                  <a:tcPr marL="73152" marR="73152" marT="36576" marB="36576" anchor="ctr">
                    <a:solidFill>
                      <a:srgbClr val="F3F4F9"/>
                    </a:solidFill>
                  </a:tcPr>
                </a:tc>
                <a:tc>
                  <a:txBody>
                    <a:bodyPr/>
                    <a:lstStyle/>
                    <a:p>
                      <a:pPr algn="ctr"/>
                      <a:r>
                        <a:rPr sz="1300" b="0">
                          <a:solidFill>
                            <a:srgbClr val="1A1D29"/>
                          </a:solidFill>
                          <a:latin typeface="Calibri"/>
                        </a:rPr>
                        <a:t>11</a:t>
                      </a:r>
                    </a:p>
                  </a:txBody>
                  <a:tcPr marL="73152" marR="73152" marT="36576" marB="36576" anchor="ctr">
                    <a:solidFill>
                      <a:srgbClr val="F3F4F9"/>
                    </a:solidFill>
                  </a:tcPr>
                </a:tc>
                <a:tc>
                  <a:txBody>
                    <a:bodyPr/>
                    <a:lstStyle/>
                    <a:p>
                      <a:pPr algn="ctr"/>
                      <a:r>
                        <a:rPr sz="1300" b="0">
                          <a:solidFill>
                            <a:srgbClr val="1A1D29"/>
                          </a:solidFill>
                          <a:latin typeface="Calibri"/>
                        </a:rPr>
                        <a:t>+1</a:t>
                      </a:r>
                    </a:p>
                  </a:txBody>
                  <a:tcPr marL="73152" marR="73152" marT="36576" marB="36576" anchor="ctr">
                    <a:solidFill>
                      <a:srgbClr val="F3F4F9"/>
                    </a:solidFill>
                  </a:tcPr>
                </a:tc>
                <a:tc>
                  <a:txBody>
                    <a:bodyPr/>
                    <a:lstStyle/>
                    <a:p>
                      <a:pPr algn="ctr"/>
                      <a:r>
                        <a:rPr sz="1300" b="1">
                          <a:solidFill>
                            <a:srgbClr val="1A1D29"/>
                          </a:solidFill>
                          <a:latin typeface="Calibri"/>
                        </a:rPr>
                        <a:t>+10.00%</a:t>
                      </a:r>
                    </a:p>
                  </a:txBody>
                  <a:tcPr marL="73152" marR="73152" marT="36576" marB="36576" anchor="ctr">
                    <a:solidFill>
                      <a:srgbClr val="F3F4F9"/>
                    </a:solidFill>
                  </a:tcPr>
                </a:tc>
                <a:extLst>
                  <a:ext uri="{0D108BD9-81ED-4DB2-BD59-A6C34878D82A}">
                    <a16:rowId xmlns:a16="http://schemas.microsoft.com/office/drawing/2014/main" val="10004"/>
                  </a:ext>
                </a:extLst>
              </a:tr>
              <a:tr h="441960">
                <a:tc>
                  <a:txBody>
                    <a:bodyPr/>
                    <a:lstStyle/>
                    <a:p>
                      <a:pPr algn="l"/>
                      <a:r>
                        <a:rPr sz="1300" b="1" dirty="0">
                          <a:solidFill>
                            <a:srgbClr val="1A1D29"/>
                          </a:solidFill>
                          <a:latin typeface="Calibri"/>
                        </a:rPr>
                        <a:t>Countries</a:t>
                      </a:r>
                    </a:p>
                  </a:txBody>
                  <a:tcPr marL="73152" marR="73152" marT="36576" marB="36576" anchor="ctr">
                    <a:solidFill>
                      <a:srgbClr val="FFFFFF"/>
                    </a:solidFill>
                  </a:tcPr>
                </a:tc>
                <a:tc>
                  <a:txBody>
                    <a:bodyPr/>
                    <a:lstStyle/>
                    <a:p>
                      <a:pPr algn="ctr"/>
                      <a:r>
                        <a:rPr sz="1300" b="0">
                          <a:solidFill>
                            <a:srgbClr val="1A1D29"/>
                          </a:solidFill>
                          <a:latin typeface="Calibri"/>
                        </a:rPr>
                        <a:t>1</a:t>
                      </a:r>
                    </a:p>
                  </a:txBody>
                  <a:tcPr marL="73152" marR="73152" marT="36576" marB="36576" anchor="ctr">
                    <a:solidFill>
                      <a:srgbClr val="FFFFFF"/>
                    </a:solidFill>
                  </a:tcPr>
                </a:tc>
                <a:tc>
                  <a:txBody>
                    <a:bodyPr/>
                    <a:lstStyle/>
                    <a:p>
                      <a:pPr algn="ctr"/>
                      <a:r>
                        <a:rPr sz="1300" b="0">
                          <a:solidFill>
                            <a:srgbClr val="1A1D29"/>
                          </a:solidFill>
                          <a:latin typeface="Calibri"/>
                        </a:rPr>
                        <a:t>1</a:t>
                      </a:r>
                    </a:p>
                  </a:txBody>
                  <a:tcPr marL="73152" marR="73152" marT="36576" marB="36576" anchor="ctr">
                    <a:solidFill>
                      <a:srgbClr val="FFFFFF"/>
                    </a:solidFill>
                  </a:tcPr>
                </a:tc>
                <a:tc>
                  <a:txBody>
                    <a:bodyPr/>
                    <a:lstStyle/>
                    <a:p>
                      <a:pPr algn="ctr"/>
                      <a:r>
                        <a:rPr sz="1300" b="0">
                          <a:solidFill>
                            <a:srgbClr val="1A1D29"/>
                          </a:solidFill>
                          <a:latin typeface="Calibri"/>
                        </a:rPr>
                        <a:t>0</a:t>
                      </a:r>
                    </a:p>
                  </a:txBody>
                  <a:tcPr marL="73152" marR="73152" marT="36576" marB="36576" anchor="ctr">
                    <a:solidFill>
                      <a:srgbClr val="FFFFFF"/>
                    </a:solidFill>
                  </a:tcPr>
                </a:tc>
                <a:tc>
                  <a:txBody>
                    <a:bodyPr/>
                    <a:lstStyle/>
                    <a:p>
                      <a:pPr algn="ctr"/>
                      <a:r>
                        <a:rPr sz="1300" b="1" dirty="0">
                          <a:solidFill>
                            <a:srgbClr val="1A1D29"/>
                          </a:solidFill>
                          <a:latin typeface="Calibri"/>
                        </a:rPr>
                        <a:t>0.00%</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5" name="StatusPill_TotalLeads"/>
          <p:cNvSpPr/>
          <p:nvPr/>
        </p:nvSpPr>
        <p:spPr>
          <a:xfrm>
            <a:off x="8860536" y="2025713"/>
            <a:ext cx="160020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Stable Growth</a:t>
            </a:r>
          </a:p>
        </p:txBody>
      </p:sp>
      <p:sp>
        <p:nvSpPr>
          <p:cNvPr id="6" name="StatusPill_UniqueAccounts"/>
          <p:cNvSpPr/>
          <p:nvPr/>
        </p:nvSpPr>
        <p:spPr>
          <a:xfrm>
            <a:off x="8860536" y="2467673"/>
            <a:ext cx="1600200" cy="292608"/>
          </a:xfrm>
          <a:prstGeom prst="roundRect">
            <a:avLst>
              <a:gd name="adj" fmla="val 50000"/>
            </a:avLst>
          </a:prstGeom>
          <a:solidFill>
            <a:srgbClr val="1EA8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Strong Growth</a:t>
            </a:r>
          </a:p>
        </p:txBody>
      </p:sp>
      <p:sp>
        <p:nvSpPr>
          <p:cNvPr id="7" name="StatusPill_AssetsUsed"/>
          <p:cNvSpPr/>
          <p:nvPr/>
        </p:nvSpPr>
        <p:spPr>
          <a:xfrm>
            <a:off x="8860536" y="2909633"/>
            <a:ext cx="160020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8" name="StatusPill_JobTitles"/>
          <p:cNvSpPr/>
          <p:nvPr/>
        </p:nvSpPr>
        <p:spPr>
          <a:xfrm>
            <a:off x="8860536" y="3351593"/>
            <a:ext cx="160020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Stable Growth</a:t>
            </a:r>
          </a:p>
        </p:txBody>
      </p:sp>
      <p:sp>
        <p:nvSpPr>
          <p:cNvPr id="9" name="StatusPill_Countries"/>
          <p:cNvSpPr/>
          <p:nvPr/>
        </p:nvSpPr>
        <p:spPr>
          <a:xfrm>
            <a:off x="8860536" y="3793553"/>
            <a:ext cx="160020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dirty="0">
                <a:solidFill>
                  <a:srgbClr val="FFFFFF"/>
                </a:solidFill>
                <a:latin typeface="Montserrat" panose="00000500000000000000" pitchFamily="2" charset="0"/>
              </a:rPr>
              <a:t>No Change</a:t>
            </a:r>
          </a:p>
        </p:txBody>
      </p:sp>
      <p:sp>
        <p:nvSpPr>
          <p:cNvPr id="11" name="Rectangle 10"/>
          <p:cNvSpPr/>
          <p:nvPr/>
        </p:nvSpPr>
        <p:spPr>
          <a:xfrm>
            <a:off x="8860536" y="1509077"/>
            <a:ext cx="1600200" cy="427990"/>
          </a:xfrm>
          <a:prstGeom prst="rect">
            <a:avLst/>
          </a:prstGeom>
          <a:solidFill>
            <a:srgbClr val="262E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2" name="CARD_StatusHeader"/>
          <p:cNvSpPr txBox="1"/>
          <p:nvPr/>
        </p:nvSpPr>
        <p:spPr>
          <a:xfrm>
            <a:off x="8845297" y="1617748"/>
            <a:ext cx="1600200" cy="192360"/>
          </a:xfrm>
          <a:prstGeom prst="rect">
            <a:avLst/>
          </a:prstGeom>
          <a:noFill/>
        </p:spPr>
        <p:txBody>
          <a:bodyPr wrap="square" lIns="0" tIns="0" rIns="0" bIns="0" anchor="t">
            <a:spAutoFit/>
          </a:bodyPr>
          <a:lstStyle/>
          <a:p>
            <a:pPr algn="ctr"/>
            <a:r>
              <a:rPr sz="1250" b="1" i="0" dirty="0">
                <a:solidFill>
                  <a:srgbClr val="FFFFFF"/>
                </a:solidFill>
                <a:latin typeface="Montserrat" panose="00000500000000000000" pitchFamily="2" charset="0"/>
              </a:rPr>
              <a:t>Status</a:t>
            </a:r>
          </a:p>
        </p:txBody>
      </p:sp>
      <p:sp>
        <p:nvSpPr>
          <p:cNvPr id="13" name="AI_OptimizationHeading"/>
          <p:cNvSpPr txBox="1"/>
          <p:nvPr/>
        </p:nvSpPr>
        <p:spPr>
          <a:xfrm>
            <a:off x="1389888" y="4736268"/>
            <a:ext cx="9144000" cy="184666"/>
          </a:xfrm>
          <a:prstGeom prst="rect">
            <a:avLst/>
          </a:prstGeom>
          <a:noFill/>
        </p:spPr>
        <p:txBody>
          <a:bodyPr wrap="square" lIns="0" tIns="0" rIns="0" bIns="0" anchor="t">
            <a:spAutoFit/>
          </a:bodyPr>
          <a:lstStyle/>
          <a:p>
            <a:pPr algn="l"/>
            <a:r>
              <a:rPr sz="1200" b="1" i="0" dirty="0">
                <a:solidFill>
                  <a:srgbClr val="1C6AFE"/>
                </a:solidFill>
                <a:latin typeface="Montserrat" panose="00000500000000000000" pitchFamily="2" charset="0"/>
              </a:rPr>
              <a:t>KEY OPTIMIZATION ACTIONS</a:t>
            </a:r>
          </a:p>
        </p:txBody>
      </p:sp>
      <p:sp>
        <p:nvSpPr>
          <p:cNvPr id="14" name="AI_OptimizationSummary"/>
          <p:cNvSpPr txBox="1"/>
          <p:nvPr/>
        </p:nvSpPr>
        <p:spPr>
          <a:xfrm>
            <a:off x="1389888" y="5056308"/>
            <a:ext cx="10607040" cy="723275"/>
          </a:xfrm>
          <a:prstGeom prst="rect">
            <a:avLst/>
          </a:prstGeom>
          <a:noFill/>
        </p:spPr>
        <p:txBody>
          <a:bodyPr wrap="square" lIns="0" tIns="0" rIns="0" bIns="0" anchor="t">
            <a:spAutoFit/>
          </a:bodyPr>
          <a:lstStyle/>
          <a:p>
            <a:pPr marL="0" indent="0">
              <a:spcAft>
                <a:spcPts val="300"/>
              </a:spcAft>
              <a:buNone/>
            </a:pPr>
            <a:r>
              <a:rPr sz="1400" dirty="0">
                <a:solidFill>
                  <a:srgbClr val="555B6E"/>
                </a:solidFill>
                <a:latin typeface="Montserrat Medium" panose="00000600000000000000" pitchFamily="2" charset="0"/>
              </a:rPr>
              <a:t>–  Scale account-based targeting – Unique Accounts is the strongest mover; double down on the tactics driving it.</a:t>
            </a:r>
          </a:p>
          <a:p>
            <a:pPr marL="0" indent="0">
              <a:spcAft>
                <a:spcPts val="300"/>
              </a:spcAft>
              <a:buNone/>
            </a:pPr>
            <a:r>
              <a:rPr sz="1400" dirty="0">
                <a:solidFill>
                  <a:srgbClr val="555B6E"/>
                </a:solidFill>
                <a:latin typeface="Montserrat Medium" panose="00000600000000000000" pitchFamily="2" charset="0"/>
              </a:rPr>
              <a:t>–  Maintain current asset rotation cadence while planning fresh creative for H2.</a:t>
            </a:r>
          </a:p>
          <a:p>
            <a:pPr marL="0" indent="0">
              <a:spcAft>
                <a:spcPts val="300"/>
              </a:spcAft>
              <a:buNone/>
            </a:pPr>
            <a:r>
              <a:rPr sz="1400" dirty="0">
                <a:solidFill>
                  <a:srgbClr val="555B6E"/>
                </a:solidFill>
                <a:latin typeface="Montserrat Medium" panose="00000600000000000000" pitchFamily="2" charset="0"/>
              </a:rPr>
              <a:t>–  Continue broadening job-title/persona coverage; +10% QoQ shows early traction.</a:t>
            </a:r>
          </a:p>
        </p:txBody>
      </p:sp>
      <p:sp>
        <p:nvSpPr>
          <p:cNvPr id="15" name="TITLE_QoQMetrics">
            <a:extLst>
              <a:ext uri="{FF2B5EF4-FFF2-40B4-BE49-F238E27FC236}">
                <a16:creationId xmlns:a16="http://schemas.microsoft.com/office/drawing/2014/main" id="{4D3401EB-B37B-A94E-FDB0-448F87465E90}"/>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000" dirty="0">
                <a:solidFill>
                  <a:schemeClr val="accent1"/>
                </a:solidFill>
                <a:latin typeface="Montserrat" panose="00000500000000000000" pitchFamily="2" charset="0"/>
              </a:rPr>
              <a:t>Detailed QoQ Metrics &amp; Optimization Status</a:t>
            </a:r>
            <a:endParaRPr lang="en-US" sz="3000" dirty="0">
              <a:solidFill>
                <a:schemeClr val="accen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7A02-A24A-0B97-F1E5-9F2AA0FFA740}"/>
            </a:ext>
          </a:extLst>
        </p:cNvPr>
        <p:cNvGrpSpPr/>
        <p:nvPr/>
      </p:nvGrpSpPr>
      <p:grpSpPr>
        <a:xfrm>
          <a:off x="0" y="0"/>
          <a:ext cx="0" cy="0"/>
          <a:chOff x="0" y="0"/>
          <a:chExt cx="0" cy="0"/>
        </a:xfrm>
      </p:grpSpPr>
      <p:sp>
        <p:nvSpPr>
          <p:cNvPr id="2" name="SECTION_TrendAnalysis">
            <a:extLst>
              <a:ext uri="{FF2B5EF4-FFF2-40B4-BE49-F238E27FC236}">
                <a16:creationId xmlns:a16="http://schemas.microsoft.com/office/drawing/2014/main" id="{0CC9CB8D-57A0-1863-F17B-5D69ABDE942D}"/>
              </a:ext>
            </a:extLst>
          </p:cNvPr>
          <p:cNvSpPr>
            <a:spLocks noGrp="1"/>
          </p:cNvSpPr>
          <p:nvPr>
            <p:ph type="body" sz="quarter" idx="10"/>
          </p:nvPr>
        </p:nvSpPr>
        <p:spPr>
          <a:xfrm>
            <a:off x="15875" y="2857500"/>
            <a:ext cx="12176125" cy="1143000"/>
          </a:xfrm>
        </p:spPr>
        <p:txBody>
          <a:bodyPr wrap="square"/>
          <a:lstStyle/>
          <a:p>
            <a:pPr marL="0" indent="0">
              <a:buNone/>
            </a:pPr>
            <a:r>
              <a:rPr lang="en-US" sz="3400" b="1" dirty="0">
                <a:solidFill>
                  <a:srgbClr val="FFFFFF"/>
                </a:solidFill>
                <a:latin typeface="Montserrat" panose="00000500000000000000" pitchFamily="2" charset="0"/>
              </a:rPr>
              <a:t>Trend Analysis</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2753974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TrendAnalysisHeading"/>
          <p:cNvSpPr>
            <a:spLocks noGrp="1"/>
          </p:cNvSpPr>
          <p:nvPr>
            <p:ph type="body" sz="quarter" idx="10"/>
          </p:nvPr>
        </p:nvSpPr>
        <p:spPr>
          <a:xfrm>
            <a:off x="752856" y="1133856"/>
            <a:ext cx="10515600" cy="590550"/>
          </a:xfrm>
        </p:spPr>
        <p:txBody>
          <a:bodyPr wrap="square"/>
          <a:lstStyle/>
          <a:p>
            <a:pPr algn="l"/>
            <a:r>
              <a:rPr sz="1500" b="1" i="0" dirty="0">
                <a:solidFill>
                  <a:srgbClr val="555B6E"/>
                </a:solidFill>
                <a:latin typeface="Montserrat" panose="00000500000000000000" pitchFamily="2" charset="0"/>
              </a:rPr>
              <a:t>Projecting the H1 growth trajectory forward</a:t>
            </a:r>
          </a:p>
        </p:txBody>
      </p:sp>
      <p:grpSp>
        <p:nvGrpSpPr>
          <p:cNvPr id="12" name="TrendInsight_Title">
            <a:extLst>
              <a:ext uri="{FF2B5EF4-FFF2-40B4-BE49-F238E27FC236}">
                <a16:creationId xmlns:a16="http://schemas.microsoft.com/office/drawing/2014/main" id="{874C2EC1-7792-7C62-61C6-C9D58A5C5AAC}"/>
              </a:ext>
            </a:extLst>
          </p:cNvPr>
          <p:cNvGrpSpPr/>
          <p:nvPr/>
        </p:nvGrpSpPr>
        <p:grpSpPr>
          <a:xfrm>
            <a:off x="8616696" y="1599015"/>
            <a:ext cx="3069336" cy="3378898"/>
            <a:chOff x="8616696" y="1366838"/>
            <a:chExt cx="3069336" cy="3378898"/>
          </a:xfrm>
        </p:grpSpPr>
        <p:sp>
          <p:nvSpPr>
            <p:cNvPr id="5" name="CARD_TrendAnalysis"/>
            <p:cNvSpPr/>
            <p:nvPr/>
          </p:nvSpPr>
          <p:spPr>
            <a:xfrm>
              <a:off x="8616696" y="1366838"/>
              <a:ext cx="3069336" cy="3378898"/>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TrendAnalysisSummary"/>
            <p:cNvSpPr txBox="1"/>
            <p:nvPr/>
          </p:nvSpPr>
          <p:spPr>
            <a:xfrm>
              <a:off x="8816340" y="1614161"/>
              <a:ext cx="2660904" cy="288425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WHY THIS MATTERS</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gn="l">
                <a:lnSpc>
                  <a:spcPct val="115000"/>
                </a:lnSpc>
                <a:spcAft>
                  <a:spcPts val="1000"/>
                </a:spcAft>
              </a:pPr>
              <a:r>
                <a:rPr sz="1400" b="0" i="0" dirty="0">
                  <a:solidFill>
                    <a:srgbClr val="555B6E"/>
                  </a:solidFill>
                  <a:latin typeface="Montserrat Medium" panose="00000600000000000000" pitchFamily="2" charset="0"/>
                </a:rPr>
                <a:t>Accounts are compounding faster than leads – a sign of expanding footprint, not just funnel volume.</a:t>
              </a:r>
            </a:p>
            <a:p>
              <a:pPr algn="l">
                <a:lnSpc>
                  <a:spcPct val="115000"/>
                </a:lnSpc>
                <a:spcAft>
                  <a:spcPts val="1000"/>
                </a:spcAft>
              </a:pPr>
              <a:r>
                <a:rPr sz="1400" b="0" i="0" dirty="0">
                  <a:solidFill>
                    <a:srgbClr val="555B6E"/>
                  </a:solidFill>
                  <a:latin typeface="Montserrat Medium" panose="00000600000000000000" pitchFamily="2" charset="0"/>
                </a:rPr>
                <a:t>Holding this trajectory would put account reach well above 600 by year-end.</a:t>
              </a:r>
            </a:p>
            <a:p>
              <a:pPr algn="l">
                <a:lnSpc>
                  <a:spcPct val="115000"/>
                </a:lnSpc>
                <a:spcAft>
                  <a:spcPts val="1000"/>
                </a:spcAft>
              </a:pPr>
              <a:r>
                <a:rPr sz="1400" b="0" i="0" dirty="0">
                  <a:solidFill>
                    <a:srgbClr val="555B6E"/>
                  </a:solidFill>
                  <a:latin typeface="Montserrat Medium" panose="00000600000000000000" pitchFamily="2" charset="0"/>
                </a:rPr>
                <a:t>H2 priority: convert this reach into pipeline.</a:t>
              </a:r>
            </a:p>
          </p:txBody>
        </p:sp>
      </p:grpSp>
      <p:sp>
        <p:nvSpPr>
          <p:cNvPr id="7" name="AI_TrendAnalysisChartNote"/>
          <p:cNvSpPr txBox="1"/>
          <p:nvPr/>
        </p:nvSpPr>
        <p:spPr>
          <a:xfrm>
            <a:off x="752856" y="5741014"/>
            <a:ext cx="7863840" cy="323165"/>
          </a:xfrm>
          <a:prstGeom prst="rect">
            <a:avLst/>
          </a:prstGeom>
          <a:noFill/>
        </p:spPr>
        <p:txBody>
          <a:bodyPr wrap="square" lIns="0" tIns="0" rIns="0" bIns="0" anchor="t">
            <a:spAutoFit/>
          </a:bodyPr>
          <a:lstStyle/>
          <a:p>
            <a:pPr algn="l"/>
            <a:r>
              <a:rPr sz="1050" b="0" i="1" dirty="0">
                <a:solidFill>
                  <a:srgbClr val="555B6E"/>
                </a:solidFill>
                <a:latin typeface="Montserrat" panose="00000500000000000000" pitchFamily="2" charset="0"/>
              </a:rPr>
              <a:t>*Q3/Q4 2026 figures are an illustrative, directional projection based on the observed H1 growth rate – not a guarantee of future performance.</a:t>
            </a:r>
          </a:p>
        </p:txBody>
      </p:sp>
      <p:graphicFrame>
        <p:nvGraphicFramePr>
          <p:cNvPr id="8" name="Chart_TrendAnalysis">
            <a:extLst>
              <a:ext uri="{FF2B5EF4-FFF2-40B4-BE49-F238E27FC236}">
                <a16:creationId xmlns:a16="http://schemas.microsoft.com/office/drawing/2014/main" id="{30C44B4E-80C4-02E5-0D1B-D2BB6F571F12}"/>
              </a:ext>
            </a:extLst>
          </p:cNvPr>
          <p:cNvGraphicFramePr/>
          <p:nvPr>
            <p:extLst>
              <p:ext uri="{D42A27DB-BD31-4B8C-83A1-F6EECF244321}">
                <p14:modId xmlns:p14="http://schemas.microsoft.com/office/powerpoint/2010/main" val="3001492797"/>
              </p:ext>
            </p:extLst>
          </p:nvPr>
        </p:nvGraphicFramePr>
        <p:xfrm>
          <a:off x="752856" y="1870710"/>
          <a:ext cx="7440168" cy="3724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ITLE_TrendAnalysis">
            <a:extLst>
              <a:ext uri="{FF2B5EF4-FFF2-40B4-BE49-F238E27FC236}">
                <a16:creationId xmlns:a16="http://schemas.microsoft.com/office/drawing/2014/main" id="{83BCE50F-F13D-506B-4D2B-E7263007D469}"/>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Trend Analysis: Building H1 Momentum</a:t>
            </a:r>
            <a:endParaRPr lang="en-US" sz="3200"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A7A90-62E9-CF86-A098-6052725CD567}"/>
            </a:ext>
          </a:extLst>
        </p:cNvPr>
        <p:cNvGrpSpPr/>
        <p:nvPr/>
      </p:nvGrpSpPr>
      <p:grpSpPr>
        <a:xfrm>
          <a:off x="0" y="0"/>
          <a:ext cx="0" cy="0"/>
          <a:chOff x="0" y="0"/>
          <a:chExt cx="0" cy="0"/>
        </a:xfrm>
      </p:grpSpPr>
      <p:sp>
        <p:nvSpPr>
          <p:cNvPr id="2" name="SECTION_ContentPerformance">
            <a:extLst>
              <a:ext uri="{FF2B5EF4-FFF2-40B4-BE49-F238E27FC236}">
                <a16:creationId xmlns:a16="http://schemas.microsoft.com/office/drawing/2014/main" id="{88103836-207E-FC56-1672-D12099901C23}"/>
              </a:ext>
            </a:extLst>
          </p:cNvPr>
          <p:cNvSpPr>
            <a:spLocks noGrp="1"/>
          </p:cNvSpPr>
          <p:nvPr>
            <p:ph type="body" sz="quarter" idx="10"/>
          </p:nvPr>
        </p:nvSpPr>
        <p:spPr/>
        <p:txBody>
          <a:bodyPr wrap="square">
            <a:normAutofit/>
          </a:bodyPr>
          <a:lstStyle/>
          <a:p>
            <a:pPr marL="0" indent="0">
              <a:buNone/>
            </a:pPr>
            <a:r>
              <a:rPr lang="en-US" sz="3400" b="1" dirty="0">
                <a:solidFill>
                  <a:srgbClr val="FFFFFF"/>
                </a:solidFill>
                <a:latin typeface="Montserrat" panose="00000500000000000000" pitchFamily="2" charset="0"/>
              </a:rPr>
              <a:t>Content &amp; Asset Performance</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405987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ContentPerformanceHeading"/>
          <p:cNvSpPr>
            <a:spLocks noGrp="1"/>
          </p:cNvSpPr>
          <p:nvPr>
            <p:ph type="body" sz="quarter" idx="10"/>
          </p:nvPr>
        </p:nvSpPr>
        <p:spPr>
          <a:xfrm>
            <a:off x="746760" y="1280160"/>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All four assets performed within a tight, well-balanced band</a:t>
            </a:r>
          </a:p>
        </p:txBody>
      </p:sp>
      <p:sp>
        <p:nvSpPr>
          <p:cNvPr id="5" name="CARD_ContentPerformance"/>
          <p:cNvSpPr/>
          <p:nvPr/>
        </p:nvSpPr>
        <p:spPr>
          <a:xfrm>
            <a:off x="7790688" y="1575435"/>
            <a:ext cx="3794760" cy="393192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ContentPerformanceSummary"/>
          <p:cNvSpPr txBox="1"/>
          <p:nvPr/>
        </p:nvSpPr>
        <p:spPr>
          <a:xfrm>
            <a:off x="8144256" y="1870710"/>
            <a:ext cx="3337560" cy="337977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WHAT THE SPREAD TELLS US</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nSpc>
                <a:spcPct val="115000"/>
              </a:lnSpc>
              <a:spcAft>
                <a:spcPts val="1000"/>
              </a:spcAft>
            </a:pPr>
            <a:r>
              <a:rPr sz="1400" dirty="0">
                <a:solidFill>
                  <a:srgbClr val="555B6E"/>
                </a:solidFill>
                <a:latin typeface="Montserrat Medium" panose="00000600000000000000" pitchFamily="2" charset="0"/>
              </a:rPr>
              <a:t>Leads range just 32 leads (422 to 390) across all four assets </a:t>
            </a:r>
            <a:r>
              <a:rPr lang="en-US" sz="1400" dirty="0">
                <a:solidFill>
                  <a:srgbClr val="555B6E"/>
                </a:solidFill>
                <a:latin typeface="Montserrat Medium" panose="00000600000000000000" pitchFamily="2" charset="0"/>
              </a:rPr>
              <a:t>-</a:t>
            </a:r>
            <a:r>
              <a:rPr sz="1400" dirty="0">
                <a:solidFill>
                  <a:srgbClr val="555B6E"/>
                </a:solidFill>
                <a:latin typeface="Montserrat Medium" panose="00000600000000000000" pitchFamily="2" charset="0"/>
              </a:rPr>
              <a:t> no single piece of content is carrying the campaign, and none is underperforming.</a:t>
            </a:r>
          </a:p>
          <a:p>
            <a:pPr>
              <a:lnSpc>
                <a:spcPct val="115000"/>
              </a:lnSpc>
              <a:spcAft>
                <a:spcPts val="1000"/>
              </a:spcAft>
            </a:pPr>
            <a:r>
              <a:rPr sz="1400" dirty="0">
                <a:solidFill>
                  <a:srgbClr val="555B6E"/>
                </a:solidFill>
                <a:latin typeface="Montserrat Medium" panose="00000600000000000000" pitchFamily="2" charset="0"/>
              </a:rPr>
              <a:t>Each asset contributes 24</a:t>
            </a:r>
            <a:r>
              <a:rPr lang="en-US" sz="1400" dirty="0">
                <a:solidFill>
                  <a:srgbClr val="555B6E"/>
                </a:solidFill>
                <a:latin typeface="Montserrat Medium" panose="00000600000000000000" pitchFamily="2" charset="0"/>
              </a:rPr>
              <a:t> - </a:t>
            </a:r>
            <a:r>
              <a:rPr sz="1400" dirty="0">
                <a:solidFill>
                  <a:srgbClr val="555B6E"/>
                </a:solidFill>
                <a:latin typeface="Montserrat Medium" panose="00000600000000000000" pitchFamily="2" charset="0"/>
              </a:rPr>
              <a:t>26% of total leads – a genuinely diversified content mix.</a:t>
            </a:r>
          </a:p>
          <a:p>
            <a:pPr>
              <a:lnSpc>
                <a:spcPct val="115000"/>
              </a:lnSpc>
              <a:spcAft>
                <a:spcPts val="1000"/>
              </a:spcAft>
            </a:pPr>
            <a:r>
              <a:rPr sz="1400" i="1" dirty="0">
                <a:solidFill>
                  <a:srgbClr val="555B6E"/>
                </a:solidFill>
                <a:latin typeface="Montserrat" panose="00000500000000000000" pitchFamily="2" charset="0"/>
              </a:rPr>
              <a:t>"How Cost Impacts the Patient and Provider Journey" </a:t>
            </a:r>
            <a:r>
              <a:rPr sz="1400" dirty="0">
                <a:solidFill>
                  <a:srgbClr val="555B6E"/>
                </a:solidFill>
                <a:latin typeface="Montserrat Medium" panose="00000600000000000000" pitchFamily="2" charset="0"/>
              </a:rPr>
              <a:t>leads on both leads (422) and accounts (319).</a:t>
            </a:r>
          </a:p>
        </p:txBody>
      </p:sp>
      <p:graphicFrame>
        <p:nvGraphicFramePr>
          <p:cNvPr id="7" name="Chart_ContentPerformance">
            <a:extLst>
              <a:ext uri="{FF2B5EF4-FFF2-40B4-BE49-F238E27FC236}">
                <a16:creationId xmlns:a16="http://schemas.microsoft.com/office/drawing/2014/main" id="{41ABE6E5-946A-72A4-4A2F-B1D5394BFCDF}"/>
              </a:ext>
            </a:extLst>
          </p:cNvPr>
          <p:cNvGraphicFramePr/>
          <p:nvPr>
            <p:extLst>
              <p:ext uri="{D42A27DB-BD31-4B8C-83A1-F6EECF244321}">
                <p14:modId xmlns:p14="http://schemas.microsoft.com/office/powerpoint/2010/main" val="584444967"/>
              </p:ext>
            </p:extLst>
          </p:nvPr>
        </p:nvGraphicFramePr>
        <p:xfrm>
          <a:off x="490728" y="1870710"/>
          <a:ext cx="6989064" cy="3931920"/>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_ContentPerformance">
            <a:extLst>
              <a:ext uri="{FF2B5EF4-FFF2-40B4-BE49-F238E27FC236}">
                <a16:creationId xmlns:a16="http://schemas.microsoft.com/office/drawing/2014/main" id="{043F3EAF-E930-44B7-D7D8-CCA7E4D78CD8}"/>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fr-FR" sz="3200" dirty="0">
                <a:solidFill>
                  <a:schemeClr val="accent1"/>
                </a:solidFill>
                <a:latin typeface="Montserrat" panose="00000500000000000000" pitchFamily="2" charset="0"/>
              </a:rPr>
              <a:t>Content &amp; Asset Performance (H1 2026)</a:t>
            </a:r>
            <a:endParaRPr lang="en-US" sz="3200" dirty="0">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8B2F0-3984-D600-97E9-0EDBD2E5D517}"/>
            </a:ext>
          </a:extLst>
        </p:cNvPr>
        <p:cNvGrpSpPr/>
        <p:nvPr/>
      </p:nvGrpSpPr>
      <p:grpSpPr>
        <a:xfrm>
          <a:off x="0" y="0"/>
          <a:ext cx="0" cy="0"/>
          <a:chOff x="0" y="0"/>
          <a:chExt cx="0" cy="0"/>
        </a:xfrm>
      </p:grpSpPr>
      <p:sp>
        <p:nvSpPr>
          <p:cNvPr id="2" name="SECTION_AudienceInterest">
            <a:extLst>
              <a:ext uri="{FF2B5EF4-FFF2-40B4-BE49-F238E27FC236}">
                <a16:creationId xmlns:a16="http://schemas.microsoft.com/office/drawing/2014/main" id="{C8BB343A-988A-55AA-2756-4118FDCDBC87}"/>
              </a:ext>
            </a:extLst>
          </p:cNvPr>
          <p:cNvSpPr>
            <a:spLocks noGrp="1"/>
          </p:cNvSpPr>
          <p:nvPr>
            <p:ph type="body" sz="quarter" idx="10"/>
          </p:nvPr>
        </p:nvSpPr>
        <p:spPr>
          <a:xfrm>
            <a:off x="180467" y="2857500"/>
            <a:ext cx="12176125" cy="1143000"/>
          </a:xfrm>
        </p:spPr>
        <p:txBody>
          <a:bodyPr wrap="square"/>
          <a:lstStyle/>
          <a:p>
            <a:pPr marL="0" indent="0">
              <a:buNone/>
            </a:pPr>
            <a:r>
              <a:rPr lang="en-US" sz="3400" b="1" dirty="0">
                <a:solidFill>
                  <a:srgbClr val="FFFFFF"/>
                </a:solidFill>
                <a:latin typeface="Montserrat" panose="00000500000000000000" pitchFamily="2" charset="0"/>
              </a:rPr>
              <a:t>Audience Interest &amp; Account Engagement</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19417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AudienceInterestHeading"/>
          <p:cNvSpPr>
            <a:spLocks noGrp="1"/>
          </p:cNvSpPr>
          <p:nvPr>
            <p:ph type="body" sz="quarter" idx="10"/>
          </p:nvPr>
        </p:nvSpPr>
        <p:spPr>
          <a:xfrm>
            <a:off x="658368" y="1280160"/>
            <a:ext cx="10515600" cy="590550"/>
          </a:xfrm>
        </p:spPr>
        <p:txBody>
          <a:bodyPr wrap="square">
            <a:normAutofit/>
          </a:bodyPr>
          <a:lstStyle/>
          <a:p>
            <a:pPr algn="l"/>
            <a:r>
              <a:rPr sz="1500" b="1" i="0" dirty="0">
                <a:solidFill>
                  <a:srgbClr val="555B6E"/>
                </a:solidFill>
                <a:latin typeface="Montserrat" panose="00000500000000000000" pitchFamily="2" charset="0"/>
              </a:rPr>
              <a:t>"Medical billing" and "patient payments" dominate conversation</a:t>
            </a:r>
          </a:p>
        </p:txBody>
      </p:sp>
      <p:sp>
        <p:nvSpPr>
          <p:cNvPr id="6" name="AI_AudienceInterestSummary"/>
          <p:cNvSpPr txBox="1"/>
          <p:nvPr/>
        </p:nvSpPr>
        <p:spPr>
          <a:xfrm>
            <a:off x="475488" y="5815449"/>
            <a:ext cx="10881360" cy="169277"/>
          </a:xfrm>
          <a:prstGeom prst="rect">
            <a:avLst/>
          </a:prstGeom>
          <a:noFill/>
        </p:spPr>
        <p:txBody>
          <a:bodyPr wrap="square" lIns="0" tIns="0" rIns="0" bIns="0" anchor="t">
            <a:spAutoFit/>
          </a:bodyPr>
          <a:lstStyle/>
          <a:p>
            <a:pPr algn="l"/>
            <a:r>
              <a:rPr sz="1100" b="1" i="1" dirty="0">
                <a:solidFill>
                  <a:srgbClr val="555B6E"/>
                </a:solidFill>
                <a:latin typeface="Montserrat" panose="00000500000000000000" pitchFamily="2" charset="0"/>
              </a:rPr>
              <a:t>Financial and administrative themes account for ~85% of all mentions – confirming cost and billing complexity as the audience’s central concern.</a:t>
            </a:r>
          </a:p>
        </p:txBody>
      </p:sp>
      <p:graphicFrame>
        <p:nvGraphicFramePr>
          <p:cNvPr id="7" name="Chart_TrendingTopics">
            <a:extLst>
              <a:ext uri="{FF2B5EF4-FFF2-40B4-BE49-F238E27FC236}">
                <a16:creationId xmlns:a16="http://schemas.microsoft.com/office/drawing/2014/main" id="{A4CC8CD3-814E-771E-D4A3-C902A2B2BD0F}"/>
              </a:ext>
            </a:extLst>
          </p:cNvPr>
          <p:cNvGraphicFramePr/>
          <p:nvPr>
            <p:extLst>
              <p:ext uri="{D42A27DB-BD31-4B8C-83A1-F6EECF244321}">
                <p14:modId xmlns:p14="http://schemas.microsoft.com/office/powerpoint/2010/main" val="1909602397"/>
              </p:ext>
            </p:extLst>
          </p:nvPr>
        </p:nvGraphicFramePr>
        <p:xfrm>
          <a:off x="658368" y="1831425"/>
          <a:ext cx="6532880" cy="38797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_TopicDistribution">
            <a:extLst>
              <a:ext uri="{FF2B5EF4-FFF2-40B4-BE49-F238E27FC236}">
                <a16:creationId xmlns:a16="http://schemas.microsoft.com/office/drawing/2014/main" id="{3FE06A9D-BF3F-930E-94D5-FBDD11D66DB9}"/>
              </a:ext>
            </a:extLst>
          </p:cNvPr>
          <p:cNvGraphicFramePr/>
          <p:nvPr>
            <p:extLst>
              <p:ext uri="{D42A27DB-BD31-4B8C-83A1-F6EECF244321}">
                <p14:modId xmlns:p14="http://schemas.microsoft.com/office/powerpoint/2010/main" val="3429492595"/>
              </p:ext>
            </p:extLst>
          </p:nvPr>
        </p:nvGraphicFramePr>
        <p:xfrm>
          <a:off x="7117258" y="2206712"/>
          <a:ext cx="4961627" cy="2631702"/>
        </p:xfrm>
        <a:graphic>
          <a:graphicData uri="http://schemas.openxmlformats.org/drawingml/2006/chart">
            <c:chart xmlns:c="http://schemas.openxmlformats.org/drawingml/2006/chart" xmlns:r="http://schemas.openxmlformats.org/officeDocument/2006/relationships" r:id="rId3"/>
          </a:graphicData>
        </a:graphic>
      </p:graphicFrame>
      <p:sp>
        <p:nvSpPr>
          <p:cNvPr id="11" name="TITLE_AudienceInterest">
            <a:extLst>
              <a:ext uri="{FF2B5EF4-FFF2-40B4-BE49-F238E27FC236}">
                <a16:creationId xmlns:a16="http://schemas.microsoft.com/office/drawing/2014/main" id="{07327B63-C369-B9C6-0BFC-4A1E5F1EF5A8}"/>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Audience Interest: Trending Topics &amp; Categories</a:t>
            </a:r>
            <a:endParaRPr lang="en-US" sz="3200" dirty="0">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EngagementHeading"/>
          <p:cNvSpPr>
            <a:spLocks noGrp="1"/>
          </p:cNvSpPr>
          <p:nvPr>
            <p:ph type="body" sz="quarter" idx="10"/>
          </p:nvPr>
        </p:nvSpPr>
        <p:spPr>
          <a:xfrm>
            <a:off x="838200" y="1419352"/>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From intent-based targeting to active engagement</a:t>
            </a:r>
          </a:p>
        </p:txBody>
      </p:sp>
      <p:sp>
        <p:nvSpPr>
          <p:cNvPr id="5" name="CARD_EngagementFunnel"/>
          <p:cNvSpPr/>
          <p:nvPr/>
        </p:nvSpPr>
        <p:spPr>
          <a:xfrm>
            <a:off x="8001000" y="1993392"/>
            <a:ext cx="3566160" cy="365760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AI_EngagementSummary"/>
          <p:cNvSpPr txBox="1"/>
          <p:nvPr/>
        </p:nvSpPr>
        <p:spPr>
          <a:xfrm>
            <a:off x="8229600" y="2194560"/>
            <a:ext cx="3273552" cy="3288336"/>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FUNNEL READ</a:t>
            </a:r>
            <a:endParaRPr lang="en-US" sz="1600" b="1" i="0" dirty="0">
              <a:solidFill>
                <a:srgbClr val="1C6AFE"/>
              </a:solidFill>
              <a:latin typeface="Montserrat" panose="00000500000000000000" pitchFamily="2" charset="0"/>
            </a:endParaRPr>
          </a:p>
          <a:p>
            <a:pPr algn="l"/>
            <a:endParaRPr sz="1100" b="1" i="0" dirty="0">
              <a:solidFill>
                <a:srgbClr val="1C6AFE"/>
              </a:solidFill>
              <a:latin typeface="Montserrat" panose="00000500000000000000" pitchFamily="2" charset="0"/>
            </a:endParaRPr>
          </a:p>
          <a:p>
            <a:pPr algn="l">
              <a:lnSpc>
                <a:spcPct val="120000"/>
              </a:lnSpc>
              <a:spcAft>
                <a:spcPts val="1200"/>
              </a:spcAft>
            </a:pPr>
            <a:r>
              <a:rPr sz="1400" b="0" i="0" dirty="0">
                <a:solidFill>
                  <a:srgbClr val="555B6E"/>
                </a:solidFill>
                <a:latin typeface="Montserrat Medium" panose="00000600000000000000" pitchFamily="2" charset="0"/>
              </a:rPr>
              <a:t>All 1,719 targeted accounts showed trending intent signals – 100% qualification at the top of the funnel.</a:t>
            </a:r>
          </a:p>
          <a:p>
            <a:pPr algn="l">
              <a:lnSpc>
                <a:spcPct val="120000"/>
              </a:lnSpc>
              <a:spcAft>
                <a:spcPts val="1200"/>
              </a:spcAft>
            </a:pPr>
            <a:r>
              <a:rPr sz="1400" b="0" i="0" dirty="0">
                <a:solidFill>
                  <a:srgbClr val="555B6E"/>
                </a:solidFill>
                <a:latin typeface="Montserrat Medium" panose="00000600000000000000" pitchFamily="2" charset="0"/>
              </a:rPr>
              <a:t>628 accounts (36.5%) were actively reached – the core conversion point to focus on.</a:t>
            </a:r>
          </a:p>
          <a:p>
            <a:pPr algn="l">
              <a:lnSpc>
                <a:spcPct val="120000"/>
              </a:lnSpc>
              <a:spcAft>
                <a:spcPts val="0"/>
              </a:spcAft>
            </a:pPr>
            <a:r>
              <a:rPr sz="1400" b="0" i="0" dirty="0">
                <a:solidFill>
                  <a:srgbClr val="555B6E"/>
                </a:solidFill>
                <a:latin typeface="Montserrat Medium" panose="00000600000000000000" pitchFamily="2" charset="0"/>
              </a:rPr>
              <a:t>Every reached account engaged (100%) – once contact is made, the content resonates.</a:t>
            </a:r>
          </a:p>
        </p:txBody>
      </p:sp>
      <p:graphicFrame>
        <p:nvGraphicFramePr>
          <p:cNvPr id="7" name="Chart_EngagementFunnel">
            <a:extLst>
              <a:ext uri="{FF2B5EF4-FFF2-40B4-BE49-F238E27FC236}">
                <a16:creationId xmlns:a16="http://schemas.microsoft.com/office/drawing/2014/main" id="{E0E58FFA-BD87-B3B9-451C-519C4104C0EE}"/>
              </a:ext>
            </a:extLst>
          </p:cNvPr>
          <p:cNvGraphicFramePr/>
          <p:nvPr>
            <p:extLst>
              <p:ext uri="{D42A27DB-BD31-4B8C-83A1-F6EECF244321}">
                <p14:modId xmlns:p14="http://schemas.microsoft.com/office/powerpoint/2010/main" val="1393950206"/>
              </p:ext>
            </p:extLst>
          </p:nvPr>
        </p:nvGraphicFramePr>
        <p:xfrm>
          <a:off x="805689" y="1993392"/>
          <a:ext cx="6770624" cy="36576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_EngagementFunnel">
            <a:extLst>
              <a:ext uri="{FF2B5EF4-FFF2-40B4-BE49-F238E27FC236}">
                <a16:creationId xmlns:a16="http://schemas.microsoft.com/office/drawing/2014/main" id="{A743EB0A-DD13-7EF5-C87C-F5ECFC38D009}"/>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Audience Engagement Funnel</a:t>
            </a:r>
            <a:endParaRPr lang="en-US" sz="3200" dirty="0">
              <a:solidFill>
                <a:schemeClr val="accen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TopAccountsSummary"/>
          <p:cNvSpPr>
            <a:spLocks noGrp="1"/>
          </p:cNvSpPr>
          <p:nvPr>
            <p:ph type="body" sz="quarter" idx="10"/>
          </p:nvPr>
        </p:nvSpPr>
        <p:spPr>
          <a:xfrm>
            <a:off x="640080" y="1280160"/>
            <a:ext cx="10515600" cy="590550"/>
          </a:xfrm>
        </p:spPr>
        <p:txBody>
          <a:bodyPr wrap="square">
            <a:normAutofit/>
          </a:bodyPr>
          <a:lstStyle/>
          <a:p>
            <a:pPr algn="l"/>
            <a:r>
              <a:rPr sz="1400" b="1" i="0" dirty="0">
                <a:solidFill>
                  <a:srgbClr val="555B6E"/>
                </a:solidFill>
                <a:latin typeface="Montserrat" panose="00000500000000000000" pitchFamily="2" charset="0"/>
              </a:rPr>
              <a:t>The organizations showing the strongest engagement and buying intent</a:t>
            </a:r>
          </a:p>
        </p:txBody>
      </p:sp>
      <p:sp>
        <p:nvSpPr>
          <p:cNvPr id="4" name="AI_TopAccountsHeading"/>
          <p:cNvSpPr txBox="1"/>
          <p:nvPr/>
        </p:nvSpPr>
        <p:spPr>
          <a:xfrm>
            <a:off x="758952" y="1984441"/>
            <a:ext cx="5029200" cy="24622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ENGAGED ACCOUNTS (BY LEADS)</a:t>
            </a:r>
          </a:p>
        </p:txBody>
      </p:sp>
      <p:graphicFrame>
        <p:nvGraphicFramePr>
          <p:cNvPr id="5" name="Table_TopEngagedAccounts"/>
          <p:cNvGraphicFramePr>
            <a:graphicFrameLocks noGrp="1"/>
          </p:cNvGraphicFramePr>
          <p:nvPr>
            <p:extLst>
              <p:ext uri="{D42A27DB-BD31-4B8C-83A1-F6EECF244321}">
                <p14:modId xmlns:p14="http://schemas.microsoft.com/office/powerpoint/2010/main" val="2141211196"/>
              </p:ext>
            </p:extLst>
          </p:nvPr>
        </p:nvGraphicFramePr>
        <p:xfrm>
          <a:off x="758952" y="2350201"/>
          <a:ext cx="5257800" cy="3246120"/>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60680">
                <a:tc>
                  <a:txBody>
                    <a:bodyPr/>
                    <a:lstStyle/>
                    <a:p>
                      <a:pPr algn="l"/>
                      <a:r>
                        <a:rPr sz="1100" b="1" dirty="0">
                          <a:solidFill>
                            <a:srgbClr val="FFFFFF"/>
                          </a:solidFill>
                          <a:latin typeface="Montserrat" panose="00000500000000000000" pitchFamily="2" charset="0"/>
                        </a:rPr>
                        <a:t>Account</a:t>
                      </a:r>
                    </a:p>
                  </a:txBody>
                  <a:tcPr marL="73152" marR="73152" marT="36576" marB="36576" anchor="ctr">
                    <a:solidFill>
                      <a:srgbClr val="262E81"/>
                    </a:solidFill>
                  </a:tcPr>
                </a:tc>
                <a:tc>
                  <a:txBody>
                    <a:bodyPr/>
                    <a:lstStyle/>
                    <a:p>
                      <a:pPr algn="ctr"/>
                      <a:r>
                        <a:rPr sz="1100" b="1" dirty="0">
                          <a:solidFill>
                            <a:srgbClr val="FFFFFF"/>
                          </a:solidFill>
                          <a:latin typeface="Montserrat" panose="00000500000000000000" pitchFamily="2" charset="0"/>
                        </a:rPr>
                        <a:t>Leads</a:t>
                      </a:r>
                    </a:p>
                  </a:txBody>
                  <a:tcPr marL="73152" marR="73152" marT="36576" marB="36576" anchor="ctr">
                    <a:solidFill>
                      <a:srgbClr val="262E81"/>
                    </a:solidFill>
                  </a:tcPr>
                </a:tc>
                <a:extLst>
                  <a:ext uri="{0D108BD9-81ED-4DB2-BD59-A6C34878D82A}">
                    <a16:rowId xmlns:a16="http://schemas.microsoft.com/office/drawing/2014/main" val="10000"/>
                  </a:ext>
                </a:extLst>
              </a:tr>
              <a:tr h="360680">
                <a:tc>
                  <a:txBody>
                    <a:bodyPr/>
                    <a:lstStyle/>
                    <a:p>
                      <a:pPr algn="l"/>
                      <a:r>
                        <a:rPr sz="1100" b="0">
                          <a:solidFill>
                            <a:srgbClr val="1A1D29"/>
                          </a:solidFill>
                          <a:latin typeface="Montserrat" panose="00000500000000000000" pitchFamily="2" charset="0"/>
                        </a:rPr>
                        <a:t>Crossover Health</a:t>
                      </a:r>
                    </a:p>
                  </a:txBody>
                  <a:tcPr marL="73152" marR="73152" marT="36576" marB="36576" anchor="ctr">
                    <a:solidFill>
                      <a:srgbClr val="FFFFFF"/>
                    </a:solidFill>
                  </a:tcPr>
                </a:tc>
                <a:tc>
                  <a:txBody>
                    <a:bodyPr/>
                    <a:lstStyle/>
                    <a:p>
                      <a:pPr algn="ctr"/>
                      <a:r>
                        <a:rPr sz="1100" b="0" dirty="0">
                          <a:solidFill>
                            <a:srgbClr val="1A1D29"/>
                          </a:solidFill>
                          <a:latin typeface="Montserrat" panose="00000500000000000000" pitchFamily="2" charset="0"/>
                        </a:rPr>
                        <a:t>5</a:t>
                      </a:r>
                    </a:p>
                  </a:txBody>
                  <a:tcPr marL="73152" marR="73152" marT="36576" marB="36576" anchor="ctr">
                    <a:solidFill>
                      <a:srgbClr val="FFFFFF"/>
                    </a:solidFill>
                  </a:tcPr>
                </a:tc>
                <a:extLst>
                  <a:ext uri="{0D108BD9-81ED-4DB2-BD59-A6C34878D82A}">
                    <a16:rowId xmlns:a16="http://schemas.microsoft.com/office/drawing/2014/main" val="10001"/>
                  </a:ext>
                </a:extLst>
              </a:tr>
              <a:tr h="360680">
                <a:tc>
                  <a:txBody>
                    <a:bodyPr/>
                    <a:lstStyle/>
                    <a:p>
                      <a:pPr algn="l"/>
                      <a:r>
                        <a:rPr sz="1100" b="0">
                          <a:solidFill>
                            <a:srgbClr val="1A1D29"/>
                          </a:solidFill>
                          <a:latin typeface="Montserrat" panose="00000500000000000000" pitchFamily="2" charset="0"/>
                        </a:rPr>
                        <a:t>Summit Health</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5</a:t>
                      </a:r>
                    </a:p>
                  </a:txBody>
                  <a:tcPr marL="73152" marR="73152" marT="36576" marB="36576" anchor="ctr">
                    <a:solidFill>
                      <a:srgbClr val="F3F4F9"/>
                    </a:solidFill>
                  </a:tcPr>
                </a:tc>
                <a:extLst>
                  <a:ext uri="{0D108BD9-81ED-4DB2-BD59-A6C34878D82A}">
                    <a16:rowId xmlns:a16="http://schemas.microsoft.com/office/drawing/2014/main" val="10002"/>
                  </a:ext>
                </a:extLst>
              </a:tr>
              <a:tr h="360680">
                <a:tc>
                  <a:txBody>
                    <a:bodyPr/>
                    <a:lstStyle/>
                    <a:p>
                      <a:pPr algn="l"/>
                      <a:r>
                        <a:rPr sz="1100" b="0" dirty="0">
                          <a:solidFill>
                            <a:srgbClr val="1A1D29"/>
                          </a:solidFill>
                          <a:latin typeface="Montserrat" panose="00000500000000000000" pitchFamily="2" charset="0"/>
                        </a:rPr>
                        <a:t>Tanner Health</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5</a:t>
                      </a:r>
                    </a:p>
                  </a:txBody>
                  <a:tcPr marL="73152" marR="73152" marT="36576" marB="36576" anchor="ctr">
                    <a:solidFill>
                      <a:srgbClr val="FFFFFF"/>
                    </a:solidFill>
                  </a:tcPr>
                </a:tc>
                <a:extLst>
                  <a:ext uri="{0D108BD9-81ED-4DB2-BD59-A6C34878D82A}">
                    <a16:rowId xmlns:a16="http://schemas.microsoft.com/office/drawing/2014/main" val="10003"/>
                  </a:ext>
                </a:extLst>
              </a:tr>
              <a:tr h="360680">
                <a:tc>
                  <a:txBody>
                    <a:bodyPr/>
                    <a:lstStyle/>
                    <a:p>
                      <a:pPr algn="l"/>
                      <a:r>
                        <a:rPr sz="1100" b="0">
                          <a:solidFill>
                            <a:srgbClr val="1A1D29"/>
                          </a:solidFill>
                          <a:latin typeface="Montserrat" panose="00000500000000000000" pitchFamily="2" charset="0"/>
                        </a:rPr>
                        <a:t>Adventhealth</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4</a:t>
                      </a:r>
                    </a:p>
                  </a:txBody>
                  <a:tcPr marL="73152" marR="73152" marT="36576" marB="36576" anchor="ctr">
                    <a:solidFill>
                      <a:srgbClr val="F3F4F9"/>
                    </a:solidFill>
                  </a:tcPr>
                </a:tc>
                <a:extLst>
                  <a:ext uri="{0D108BD9-81ED-4DB2-BD59-A6C34878D82A}">
                    <a16:rowId xmlns:a16="http://schemas.microsoft.com/office/drawing/2014/main" val="10004"/>
                  </a:ext>
                </a:extLst>
              </a:tr>
              <a:tr h="360680">
                <a:tc>
                  <a:txBody>
                    <a:bodyPr/>
                    <a:lstStyle/>
                    <a:p>
                      <a:pPr algn="l"/>
                      <a:r>
                        <a:rPr sz="1100" b="0">
                          <a:solidFill>
                            <a:srgbClr val="1A1D29"/>
                          </a:solidFill>
                          <a:latin typeface="Montserrat" panose="00000500000000000000" pitchFamily="2" charset="0"/>
                        </a:rPr>
                        <a:t>Advocate Health</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4</a:t>
                      </a:r>
                    </a:p>
                  </a:txBody>
                  <a:tcPr marL="73152" marR="73152" marT="36576" marB="36576" anchor="ctr">
                    <a:solidFill>
                      <a:srgbClr val="FFFFFF"/>
                    </a:solidFill>
                  </a:tcPr>
                </a:tc>
                <a:extLst>
                  <a:ext uri="{0D108BD9-81ED-4DB2-BD59-A6C34878D82A}">
                    <a16:rowId xmlns:a16="http://schemas.microsoft.com/office/drawing/2014/main" val="10005"/>
                  </a:ext>
                </a:extLst>
              </a:tr>
              <a:tr h="360680">
                <a:tc>
                  <a:txBody>
                    <a:bodyPr/>
                    <a:lstStyle/>
                    <a:p>
                      <a:pPr algn="l"/>
                      <a:r>
                        <a:rPr sz="1100" b="0">
                          <a:solidFill>
                            <a:srgbClr val="1A1D29"/>
                          </a:solidFill>
                          <a:latin typeface="Montserrat" panose="00000500000000000000" pitchFamily="2" charset="0"/>
                        </a:rPr>
                        <a:t>AFC Urgent Care</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4</a:t>
                      </a:r>
                    </a:p>
                  </a:txBody>
                  <a:tcPr marL="73152" marR="73152" marT="36576" marB="36576" anchor="ctr">
                    <a:solidFill>
                      <a:srgbClr val="F3F4F9"/>
                    </a:solidFill>
                  </a:tcPr>
                </a:tc>
                <a:extLst>
                  <a:ext uri="{0D108BD9-81ED-4DB2-BD59-A6C34878D82A}">
                    <a16:rowId xmlns:a16="http://schemas.microsoft.com/office/drawing/2014/main" val="10006"/>
                  </a:ext>
                </a:extLst>
              </a:tr>
              <a:tr h="360680">
                <a:tc>
                  <a:txBody>
                    <a:bodyPr/>
                    <a:lstStyle/>
                    <a:p>
                      <a:pPr algn="l"/>
                      <a:r>
                        <a:rPr sz="1100" b="0" dirty="0">
                          <a:solidFill>
                            <a:srgbClr val="1A1D29"/>
                          </a:solidFill>
                          <a:latin typeface="Montserrat" panose="00000500000000000000" pitchFamily="2" charset="0"/>
                        </a:rPr>
                        <a:t>Akron Children's</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4</a:t>
                      </a:r>
                    </a:p>
                  </a:txBody>
                  <a:tcPr marL="73152" marR="73152" marT="36576" marB="36576" anchor="ctr">
                    <a:solidFill>
                      <a:srgbClr val="FFFFFF"/>
                    </a:solidFill>
                  </a:tcPr>
                </a:tc>
                <a:extLst>
                  <a:ext uri="{0D108BD9-81ED-4DB2-BD59-A6C34878D82A}">
                    <a16:rowId xmlns:a16="http://schemas.microsoft.com/office/drawing/2014/main" val="10007"/>
                  </a:ext>
                </a:extLst>
              </a:tr>
              <a:tr h="360680">
                <a:tc>
                  <a:txBody>
                    <a:bodyPr/>
                    <a:lstStyle/>
                    <a:p>
                      <a:pPr algn="l"/>
                      <a:r>
                        <a:rPr sz="1100" b="0" dirty="0">
                          <a:solidFill>
                            <a:srgbClr val="1A1D29"/>
                          </a:solidFill>
                          <a:latin typeface="Montserrat" panose="00000500000000000000" pitchFamily="2" charset="0"/>
                        </a:rPr>
                        <a:t>Alameda Health System</a:t>
                      </a:r>
                    </a:p>
                  </a:txBody>
                  <a:tcPr marL="73152" marR="73152" marT="36576" marB="36576" anchor="ctr">
                    <a:solidFill>
                      <a:srgbClr val="F3F4F9"/>
                    </a:solidFill>
                  </a:tcPr>
                </a:tc>
                <a:tc>
                  <a:txBody>
                    <a:bodyPr/>
                    <a:lstStyle/>
                    <a:p>
                      <a:pPr algn="ctr"/>
                      <a:r>
                        <a:rPr sz="1100" b="0" dirty="0">
                          <a:solidFill>
                            <a:srgbClr val="1A1D29"/>
                          </a:solidFill>
                          <a:latin typeface="Montserrat" panose="00000500000000000000" pitchFamily="2" charset="0"/>
                        </a:rPr>
                        <a:t>4</a:t>
                      </a:r>
                    </a:p>
                  </a:txBody>
                  <a:tcPr marL="73152" marR="73152" marT="36576" marB="36576" anchor="ctr">
                    <a:solidFill>
                      <a:srgbClr val="F3F4F9"/>
                    </a:solidFill>
                  </a:tcPr>
                </a:tc>
                <a:extLst>
                  <a:ext uri="{0D108BD9-81ED-4DB2-BD59-A6C34878D82A}">
                    <a16:rowId xmlns:a16="http://schemas.microsoft.com/office/drawing/2014/main" val="10008"/>
                  </a:ext>
                </a:extLst>
              </a:tr>
            </a:tbl>
          </a:graphicData>
        </a:graphic>
      </p:graphicFrame>
      <p:sp>
        <p:nvSpPr>
          <p:cNvPr id="6" name="AI_TopIntentHeading"/>
          <p:cNvSpPr txBox="1"/>
          <p:nvPr/>
        </p:nvSpPr>
        <p:spPr>
          <a:xfrm>
            <a:off x="6336792" y="1984441"/>
            <a:ext cx="5486400" cy="246221"/>
          </a:xfrm>
          <a:prstGeom prst="rect">
            <a:avLst/>
          </a:prstGeom>
          <a:noFill/>
        </p:spPr>
        <p:txBody>
          <a:bodyPr wrap="square" lIns="0" tIns="0" rIns="0" bIns="0" anchor="t">
            <a:spAutoFit/>
          </a:bodyPr>
          <a:lstStyle/>
          <a:p>
            <a:pPr algn="l"/>
            <a:r>
              <a:rPr sz="1600" b="1" i="0" dirty="0">
                <a:solidFill>
                  <a:srgbClr val="1C6AFE"/>
                </a:solidFill>
                <a:latin typeface="Montserrat" panose="00000500000000000000" pitchFamily="2" charset="0"/>
              </a:rPr>
              <a:t>TOP INTENT COMPANIES (BY ML SCORE)</a:t>
            </a:r>
          </a:p>
        </p:txBody>
      </p:sp>
      <p:graphicFrame>
        <p:nvGraphicFramePr>
          <p:cNvPr id="7" name="Table_TopIntentCompanies"/>
          <p:cNvGraphicFramePr>
            <a:graphicFrameLocks noGrp="1"/>
          </p:cNvGraphicFramePr>
          <p:nvPr>
            <p:extLst>
              <p:ext uri="{D42A27DB-BD31-4B8C-83A1-F6EECF244321}">
                <p14:modId xmlns:p14="http://schemas.microsoft.com/office/powerpoint/2010/main" val="1195323947"/>
              </p:ext>
            </p:extLst>
          </p:nvPr>
        </p:nvGraphicFramePr>
        <p:xfrm>
          <a:off x="6336792" y="2350201"/>
          <a:ext cx="5394960" cy="3246120"/>
        </p:xfrm>
        <a:graphic>
          <a:graphicData uri="http://schemas.openxmlformats.org/drawingml/2006/table">
            <a:tbl>
              <a:tblPr>
                <a:tableStyleId>{5C22544A-7EE6-4342-B048-85BDC9FD1C3A}</a:tableStyleId>
              </a:tblPr>
              <a:tblGrid>
                <a:gridCol w="42519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tblGrid>
              <a:tr h="360680">
                <a:tc>
                  <a:txBody>
                    <a:bodyPr/>
                    <a:lstStyle/>
                    <a:p>
                      <a:pPr algn="l"/>
                      <a:r>
                        <a:rPr sz="1100" b="1" dirty="0">
                          <a:solidFill>
                            <a:srgbClr val="FFFFFF"/>
                          </a:solidFill>
                          <a:latin typeface="Montserrat" panose="00000500000000000000" pitchFamily="2" charset="0"/>
                        </a:rPr>
                        <a:t>Company</a:t>
                      </a:r>
                    </a:p>
                  </a:txBody>
                  <a:tcPr marL="73152" marR="73152" marT="36576" marB="36576" anchor="ctr">
                    <a:solidFill>
                      <a:srgbClr val="262E81"/>
                    </a:solidFill>
                  </a:tcPr>
                </a:tc>
                <a:tc>
                  <a:txBody>
                    <a:bodyPr/>
                    <a:lstStyle/>
                    <a:p>
                      <a:pPr algn="ctr"/>
                      <a:r>
                        <a:rPr sz="1100" b="1" dirty="0">
                          <a:solidFill>
                            <a:srgbClr val="FFFFFF"/>
                          </a:solidFill>
                          <a:latin typeface="Montserrat" panose="00000500000000000000" pitchFamily="2" charset="0"/>
                        </a:rPr>
                        <a:t>Score</a:t>
                      </a:r>
                    </a:p>
                  </a:txBody>
                  <a:tcPr marL="73152" marR="73152" marT="36576" marB="36576" anchor="ctr">
                    <a:solidFill>
                      <a:srgbClr val="262E81"/>
                    </a:solidFill>
                  </a:tcPr>
                </a:tc>
                <a:extLst>
                  <a:ext uri="{0D108BD9-81ED-4DB2-BD59-A6C34878D82A}">
                    <a16:rowId xmlns:a16="http://schemas.microsoft.com/office/drawing/2014/main" val="10000"/>
                  </a:ext>
                </a:extLst>
              </a:tr>
              <a:tr h="360680">
                <a:tc>
                  <a:txBody>
                    <a:bodyPr/>
                    <a:lstStyle/>
                    <a:p>
                      <a:pPr algn="l"/>
                      <a:r>
                        <a:rPr sz="1100" b="0" dirty="0">
                          <a:solidFill>
                            <a:srgbClr val="1A1D29"/>
                          </a:solidFill>
                          <a:latin typeface="Montserrat" panose="00000500000000000000" pitchFamily="2" charset="0"/>
                        </a:rPr>
                        <a:t>3HC Home Health &amp; Hospice Care</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FFFFF"/>
                    </a:solidFill>
                  </a:tcPr>
                </a:tc>
                <a:extLst>
                  <a:ext uri="{0D108BD9-81ED-4DB2-BD59-A6C34878D82A}">
                    <a16:rowId xmlns:a16="http://schemas.microsoft.com/office/drawing/2014/main" val="10001"/>
                  </a:ext>
                </a:extLst>
              </a:tr>
              <a:tr h="360680">
                <a:tc>
                  <a:txBody>
                    <a:bodyPr/>
                    <a:lstStyle/>
                    <a:p>
                      <a:pPr algn="l"/>
                      <a:r>
                        <a:rPr sz="1100" b="0">
                          <a:solidFill>
                            <a:srgbClr val="1A1D29"/>
                          </a:solidFill>
                          <a:latin typeface="Montserrat" panose="00000500000000000000" pitchFamily="2" charset="0"/>
                        </a:rPr>
                        <a:t>Cancer Support Community</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3F4F9"/>
                    </a:solidFill>
                  </a:tcPr>
                </a:tc>
                <a:extLst>
                  <a:ext uri="{0D108BD9-81ED-4DB2-BD59-A6C34878D82A}">
                    <a16:rowId xmlns:a16="http://schemas.microsoft.com/office/drawing/2014/main" val="10002"/>
                  </a:ext>
                </a:extLst>
              </a:tr>
              <a:tr h="360680">
                <a:tc>
                  <a:txBody>
                    <a:bodyPr/>
                    <a:lstStyle/>
                    <a:p>
                      <a:pPr algn="l"/>
                      <a:r>
                        <a:rPr sz="1100" b="0">
                          <a:solidFill>
                            <a:srgbClr val="1A1D29"/>
                          </a:solidFill>
                          <a:latin typeface="Montserrat" panose="00000500000000000000" pitchFamily="2" charset="0"/>
                        </a:rPr>
                        <a:t>Roper St. Francis Healthcare</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FFFFF"/>
                    </a:solidFill>
                  </a:tcPr>
                </a:tc>
                <a:extLst>
                  <a:ext uri="{0D108BD9-81ED-4DB2-BD59-A6C34878D82A}">
                    <a16:rowId xmlns:a16="http://schemas.microsoft.com/office/drawing/2014/main" val="10003"/>
                  </a:ext>
                </a:extLst>
              </a:tr>
              <a:tr h="360680">
                <a:tc>
                  <a:txBody>
                    <a:bodyPr/>
                    <a:lstStyle/>
                    <a:p>
                      <a:pPr algn="l"/>
                      <a:r>
                        <a:rPr sz="1100" b="0">
                          <a:solidFill>
                            <a:srgbClr val="1A1D29"/>
                          </a:solidFill>
                          <a:latin typeface="Montserrat" panose="00000500000000000000" pitchFamily="2" charset="0"/>
                        </a:rPr>
                        <a:t>Positive Behavior Supports Corp.</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3F4F9"/>
                    </a:solidFill>
                  </a:tcPr>
                </a:tc>
                <a:extLst>
                  <a:ext uri="{0D108BD9-81ED-4DB2-BD59-A6C34878D82A}">
                    <a16:rowId xmlns:a16="http://schemas.microsoft.com/office/drawing/2014/main" val="10004"/>
                  </a:ext>
                </a:extLst>
              </a:tr>
              <a:tr h="360680">
                <a:tc>
                  <a:txBody>
                    <a:bodyPr/>
                    <a:lstStyle/>
                    <a:p>
                      <a:pPr algn="l"/>
                      <a:r>
                        <a:rPr sz="1100" b="0">
                          <a:solidFill>
                            <a:srgbClr val="1A1D29"/>
                          </a:solidFill>
                          <a:latin typeface="Montserrat" panose="00000500000000000000" pitchFamily="2" charset="0"/>
                        </a:rPr>
                        <a:t>St. Bernards Hospital</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FFFFF"/>
                    </a:solidFill>
                  </a:tcPr>
                </a:tc>
                <a:extLst>
                  <a:ext uri="{0D108BD9-81ED-4DB2-BD59-A6C34878D82A}">
                    <a16:rowId xmlns:a16="http://schemas.microsoft.com/office/drawing/2014/main" val="10005"/>
                  </a:ext>
                </a:extLst>
              </a:tr>
              <a:tr h="360680">
                <a:tc>
                  <a:txBody>
                    <a:bodyPr/>
                    <a:lstStyle/>
                    <a:p>
                      <a:pPr algn="l"/>
                      <a:r>
                        <a:rPr sz="1100" b="0" dirty="0">
                          <a:solidFill>
                            <a:srgbClr val="1A1D29"/>
                          </a:solidFill>
                          <a:latin typeface="Montserrat" panose="00000500000000000000" pitchFamily="2" charset="0"/>
                        </a:rPr>
                        <a:t>HCA Florida Kendall Hospital</a:t>
                      </a:r>
                    </a:p>
                  </a:txBody>
                  <a:tcPr marL="73152" marR="73152" marT="36576" marB="36576" anchor="ctr">
                    <a:solidFill>
                      <a:srgbClr val="F3F4F9"/>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3F4F9"/>
                    </a:solidFill>
                  </a:tcPr>
                </a:tc>
                <a:extLst>
                  <a:ext uri="{0D108BD9-81ED-4DB2-BD59-A6C34878D82A}">
                    <a16:rowId xmlns:a16="http://schemas.microsoft.com/office/drawing/2014/main" val="10006"/>
                  </a:ext>
                </a:extLst>
              </a:tr>
              <a:tr h="360680">
                <a:tc>
                  <a:txBody>
                    <a:bodyPr/>
                    <a:lstStyle/>
                    <a:p>
                      <a:pPr algn="l"/>
                      <a:r>
                        <a:rPr sz="1100" b="0">
                          <a:solidFill>
                            <a:srgbClr val="1A1D29"/>
                          </a:solidFill>
                          <a:latin typeface="Montserrat" panose="00000500000000000000" pitchFamily="2" charset="0"/>
                        </a:rPr>
                        <a:t>Arizona Pain</a:t>
                      </a:r>
                    </a:p>
                  </a:txBody>
                  <a:tcPr marL="73152" marR="73152" marT="36576" marB="36576" anchor="ctr">
                    <a:solidFill>
                      <a:srgbClr val="FFFFFF"/>
                    </a:solidFill>
                  </a:tcPr>
                </a:tc>
                <a:tc>
                  <a:txBody>
                    <a:bodyPr/>
                    <a:lstStyle/>
                    <a:p>
                      <a:pPr algn="ctr"/>
                      <a:r>
                        <a:rPr sz="1100" b="0">
                          <a:solidFill>
                            <a:srgbClr val="1A1D29"/>
                          </a:solidFill>
                          <a:latin typeface="Montserrat" panose="00000500000000000000" pitchFamily="2" charset="0"/>
                        </a:rPr>
                        <a:t>100</a:t>
                      </a:r>
                    </a:p>
                  </a:txBody>
                  <a:tcPr marL="73152" marR="73152" marT="36576" marB="36576" anchor="ctr">
                    <a:solidFill>
                      <a:srgbClr val="FFFFFF"/>
                    </a:solidFill>
                  </a:tcPr>
                </a:tc>
                <a:extLst>
                  <a:ext uri="{0D108BD9-81ED-4DB2-BD59-A6C34878D82A}">
                    <a16:rowId xmlns:a16="http://schemas.microsoft.com/office/drawing/2014/main" val="10007"/>
                  </a:ext>
                </a:extLst>
              </a:tr>
              <a:tr h="360680">
                <a:tc>
                  <a:txBody>
                    <a:bodyPr/>
                    <a:lstStyle/>
                    <a:p>
                      <a:pPr algn="l"/>
                      <a:r>
                        <a:rPr sz="1100" b="0" dirty="0">
                          <a:solidFill>
                            <a:srgbClr val="1A1D29"/>
                          </a:solidFill>
                          <a:latin typeface="Montserrat" panose="00000500000000000000" pitchFamily="2" charset="0"/>
                        </a:rPr>
                        <a:t>Shields Health</a:t>
                      </a:r>
                    </a:p>
                  </a:txBody>
                  <a:tcPr marL="73152" marR="73152" marT="36576" marB="36576" anchor="ctr">
                    <a:solidFill>
                      <a:srgbClr val="F3F4F9"/>
                    </a:solidFill>
                  </a:tcPr>
                </a:tc>
                <a:tc>
                  <a:txBody>
                    <a:bodyPr/>
                    <a:lstStyle/>
                    <a:p>
                      <a:pPr algn="ctr"/>
                      <a:r>
                        <a:rPr sz="1100" b="0" dirty="0">
                          <a:solidFill>
                            <a:srgbClr val="1A1D29"/>
                          </a:solidFill>
                          <a:latin typeface="Montserrat" panose="00000500000000000000" pitchFamily="2" charset="0"/>
                        </a:rPr>
                        <a:t>100</a:t>
                      </a:r>
                    </a:p>
                  </a:txBody>
                  <a:tcPr marL="73152" marR="73152" marT="36576" marB="36576" anchor="ctr">
                    <a:solidFill>
                      <a:srgbClr val="F3F4F9"/>
                    </a:solidFill>
                  </a:tcPr>
                </a:tc>
                <a:extLst>
                  <a:ext uri="{0D108BD9-81ED-4DB2-BD59-A6C34878D82A}">
                    <a16:rowId xmlns:a16="http://schemas.microsoft.com/office/drawing/2014/main" val="10008"/>
                  </a:ext>
                </a:extLst>
              </a:tr>
            </a:tbl>
          </a:graphicData>
        </a:graphic>
      </p:graphicFrame>
      <p:sp>
        <p:nvSpPr>
          <p:cNvPr id="8" name="AI_TopAccountsFooter"/>
          <p:cNvSpPr txBox="1"/>
          <p:nvPr/>
        </p:nvSpPr>
        <p:spPr>
          <a:xfrm>
            <a:off x="752856" y="5914229"/>
            <a:ext cx="10881360" cy="153888"/>
          </a:xfrm>
          <a:prstGeom prst="rect">
            <a:avLst/>
          </a:prstGeom>
          <a:noFill/>
        </p:spPr>
        <p:txBody>
          <a:bodyPr wrap="square" lIns="0" tIns="0" rIns="0" bIns="0" anchor="t">
            <a:spAutoFit/>
          </a:bodyPr>
          <a:lstStyle/>
          <a:p>
            <a:pPr algn="l"/>
            <a:r>
              <a:rPr sz="1000" b="0" i="1" dirty="0">
                <a:solidFill>
                  <a:srgbClr val="555B6E"/>
                </a:solidFill>
                <a:latin typeface="Montserrat" panose="00000500000000000000" pitchFamily="2" charset="0"/>
              </a:rPr>
              <a:t>Twenty organizations scored 99–100 on ML intent – a concentrated, high-value expansion pool for H2 outreach.</a:t>
            </a:r>
          </a:p>
        </p:txBody>
      </p:sp>
      <p:sp>
        <p:nvSpPr>
          <p:cNvPr id="11" name="TITLE_TopAccounts">
            <a:extLst>
              <a:ext uri="{FF2B5EF4-FFF2-40B4-BE49-F238E27FC236}">
                <a16:creationId xmlns:a16="http://schemas.microsoft.com/office/drawing/2014/main" id="{43450FFA-6892-D99A-7858-DDC8B2710432}"/>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Top Engaged Accounts &amp; Intent Signals</a:t>
            </a:r>
            <a:endParaRPr lang="en-US" sz="3200" dirty="0">
              <a:solidFill>
                <a:schemeClr val="accen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CE879-0422-BF87-E02C-CC430EC70DD8}"/>
            </a:ext>
          </a:extLst>
        </p:cNvPr>
        <p:cNvGrpSpPr/>
        <p:nvPr/>
      </p:nvGrpSpPr>
      <p:grpSpPr>
        <a:xfrm>
          <a:off x="0" y="0"/>
          <a:ext cx="0" cy="0"/>
          <a:chOff x="0" y="0"/>
          <a:chExt cx="0" cy="0"/>
        </a:xfrm>
      </p:grpSpPr>
      <p:sp>
        <p:nvSpPr>
          <p:cNvPr id="2" name="SECTION_BuyingStage">
            <a:extLst>
              <a:ext uri="{FF2B5EF4-FFF2-40B4-BE49-F238E27FC236}">
                <a16:creationId xmlns:a16="http://schemas.microsoft.com/office/drawing/2014/main" id="{2EA8787E-2EEF-452C-FA56-438B6949DDBB}"/>
              </a:ext>
            </a:extLst>
          </p:cNvPr>
          <p:cNvSpPr>
            <a:spLocks noGrp="1"/>
          </p:cNvSpPr>
          <p:nvPr>
            <p:ph type="body" sz="quarter" idx="10"/>
          </p:nvPr>
        </p:nvSpPr>
        <p:spPr/>
        <p:txBody>
          <a:bodyPr wrap="square">
            <a:normAutofit fontScale="92500"/>
          </a:bodyPr>
          <a:lstStyle/>
          <a:p>
            <a:pPr marL="0" indent="0">
              <a:buNone/>
            </a:pPr>
            <a:r>
              <a:rPr lang="en-US" sz="3400" b="1" dirty="0">
                <a:solidFill>
                  <a:srgbClr val="FFFFFF"/>
                </a:solidFill>
                <a:latin typeface="Montserrat" panose="00000500000000000000" pitchFamily="2" charset="0"/>
              </a:rPr>
              <a:t>Predictive Buying Stage Distribution</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4244287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BuyingStageSummary"/>
          <p:cNvSpPr>
            <a:spLocks noGrp="1"/>
          </p:cNvSpPr>
          <p:nvPr>
            <p:ph type="body" sz="quarter" idx="10"/>
          </p:nvPr>
        </p:nvSpPr>
        <p:spPr>
          <a:xfrm>
            <a:off x="728472" y="1280160"/>
            <a:ext cx="10515600" cy="590550"/>
          </a:xfrm>
        </p:spPr>
        <p:txBody>
          <a:bodyPr vert="horz" wrap="square" lIns="91440" tIns="45720" rIns="91440" bIns="45720" rtlCol="0" anchor="ctr">
            <a:normAutofit/>
          </a:bodyPr>
          <a:lstStyle/>
          <a:p>
            <a:r>
              <a:rPr sz="1500" b="1" dirty="0">
                <a:solidFill>
                  <a:srgbClr val="555B6E"/>
                </a:solidFill>
                <a:latin typeface="Montserrat" panose="00000500000000000000" pitchFamily="2" charset="0"/>
              </a:rPr>
              <a:t>Where the 1,719 signal-showing accounts sit in the buying journey</a:t>
            </a:r>
          </a:p>
        </p:txBody>
      </p:sp>
      <p:sp>
        <p:nvSpPr>
          <p:cNvPr id="5" name="CARD_BuyingStage1"/>
          <p:cNvSpPr/>
          <p:nvPr/>
        </p:nvSpPr>
        <p:spPr>
          <a:xfrm>
            <a:off x="8074151" y="1985010"/>
            <a:ext cx="3383280" cy="169164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6" name="KPI_BuyingStage2"/>
          <p:cNvSpPr txBox="1"/>
          <p:nvPr/>
        </p:nvSpPr>
        <p:spPr>
          <a:xfrm>
            <a:off x="8417052" y="2231898"/>
            <a:ext cx="2926080" cy="400110"/>
          </a:xfrm>
          <a:prstGeom prst="rect">
            <a:avLst/>
          </a:prstGeom>
          <a:noFill/>
        </p:spPr>
        <p:txBody>
          <a:bodyPr wrap="square" lIns="0" tIns="0" rIns="0" bIns="0" anchor="t">
            <a:spAutoFit/>
          </a:bodyPr>
          <a:lstStyle/>
          <a:p>
            <a:pPr algn="l"/>
            <a:r>
              <a:rPr sz="2600" b="1" i="0" dirty="0">
                <a:solidFill>
                  <a:srgbClr val="1C6AFE"/>
                </a:solidFill>
                <a:latin typeface="Montserrat" panose="00000500000000000000" pitchFamily="2" charset="0"/>
              </a:rPr>
              <a:t>460</a:t>
            </a:r>
          </a:p>
        </p:txBody>
      </p:sp>
      <p:sp>
        <p:nvSpPr>
          <p:cNvPr id="7" name="CARD_BuyingStage2"/>
          <p:cNvSpPr/>
          <p:nvPr/>
        </p:nvSpPr>
        <p:spPr>
          <a:xfrm>
            <a:off x="8074151" y="3905250"/>
            <a:ext cx="3383280" cy="1691640"/>
          </a:xfrm>
          <a:prstGeom prst="roundRect">
            <a:avLst>
              <a:gd name="adj" fmla="val 6000"/>
            </a:avLst>
          </a:prstGeom>
          <a:solidFill>
            <a:srgbClr val="F3F4F9"/>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8" name="KPI_BuyingStage1"/>
          <p:cNvSpPr txBox="1"/>
          <p:nvPr/>
        </p:nvSpPr>
        <p:spPr>
          <a:xfrm>
            <a:off x="8417052" y="4076760"/>
            <a:ext cx="2926080" cy="400110"/>
          </a:xfrm>
          <a:prstGeom prst="rect">
            <a:avLst/>
          </a:prstGeom>
          <a:noFill/>
        </p:spPr>
        <p:txBody>
          <a:bodyPr wrap="square" lIns="0" tIns="0" rIns="0" bIns="0" anchor="t">
            <a:spAutoFit/>
          </a:bodyPr>
          <a:lstStyle/>
          <a:p>
            <a:pPr algn="l"/>
            <a:r>
              <a:rPr sz="2600" b="1" i="0" dirty="0">
                <a:solidFill>
                  <a:srgbClr val="1C6AFE"/>
                </a:solidFill>
                <a:latin typeface="Montserrat" panose="00000500000000000000" pitchFamily="2" charset="0"/>
              </a:rPr>
              <a:t>703</a:t>
            </a:r>
          </a:p>
        </p:txBody>
      </p:sp>
      <p:graphicFrame>
        <p:nvGraphicFramePr>
          <p:cNvPr id="9" name="Chart_BuyingStage">
            <a:extLst>
              <a:ext uri="{FF2B5EF4-FFF2-40B4-BE49-F238E27FC236}">
                <a16:creationId xmlns:a16="http://schemas.microsoft.com/office/drawing/2014/main" id="{3B753C3C-BC92-1F67-CF1C-7AC673D9202B}"/>
              </a:ext>
            </a:extLst>
          </p:cNvPr>
          <p:cNvGraphicFramePr/>
          <p:nvPr>
            <p:extLst>
              <p:ext uri="{D42A27DB-BD31-4B8C-83A1-F6EECF244321}">
                <p14:modId xmlns:p14="http://schemas.microsoft.com/office/powerpoint/2010/main" val="2930036994"/>
              </p:ext>
            </p:extLst>
          </p:nvPr>
        </p:nvGraphicFramePr>
        <p:xfrm>
          <a:off x="524256" y="1759627"/>
          <a:ext cx="6397751" cy="4065863"/>
        </p:xfrm>
        <a:graphic>
          <a:graphicData uri="http://schemas.openxmlformats.org/drawingml/2006/chart">
            <c:chart xmlns:c="http://schemas.openxmlformats.org/drawingml/2006/chart" xmlns:r="http://schemas.openxmlformats.org/officeDocument/2006/relationships" r:id="rId2"/>
          </a:graphicData>
        </a:graphic>
      </p:graphicFrame>
      <p:sp>
        <p:nvSpPr>
          <p:cNvPr id="10" name="AI_BuyingStageHeading1">
            <a:extLst>
              <a:ext uri="{FF2B5EF4-FFF2-40B4-BE49-F238E27FC236}">
                <a16:creationId xmlns:a16="http://schemas.microsoft.com/office/drawing/2014/main" id="{7F66CAE0-DEF6-457E-C2D9-814625359222}"/>
              </a:ext>
            </a:extLst>
          </p:cNvPr>
          <p:cNvSpPr txBox="1"/>
          <p:nvPr/>
        </p:nvSpPr>
        <p:spPr>
          <a:xfrm>
            <a:off x="8362187" y="2632008"/>
            <a:ext cx="2807208"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Accounts in Consideration + Decision – sales-ready pipeline</a:t>
            </a:r>
            <a:endParaRPr lang="en-US" sz="1400" dirty="0"/>
          </a:p>
        </p:txBody>
      </p:sp>
      <p:sp>
        <p:nvSpPr>
          <p:cNvPr id="11" name="AI_BuyingStageHeading2">
            <a:extLst>
              <a:ext uri="{FF2B5EF4-FFF2-40B4-BE49-F238E27FC236}">
                <a16:creationId xmlns:a16="http://schemas.microsoft.com/office/drawing/2014/main" id="{18F85050-F7CB-99CF-2FC6-F262E499470A}"/>
              </a:ext>
            </a:extLst>
          </p:cNvPr>
          <p:cNvSpPr txBox="1"/>
          <p:nvPr/>
        </p:nvSpPr>
        <p:spPr>
          <a:xfrm>
            <a:off x="8362187" y="4476870"/>
            <a:ext cx="2980945" cy="738664"/>
          </a:xfrm>
          <a:prstGeom prst="rect">
            <a:avLst/>
          </a:prstGeom>
          <a:noFill/>
        </p:spPr>
        <p:txBody>
          <a:bodyPr wrap="square" rtlCol="0">
            <a:spAutoFit/>
          </a:bodyPr>
          <a:lstStyle/>
          <a:p>
            <a:r>
              <a:rPr lang="en-US" sz="1400" dirty="0">
                <a:solidFill>
                  <a:srgbClr val="555B6E"/>
                </a:solidFill>
                <a:latin typeface="Montserrat Medium" panose="00000600000000000000" pitchFamily="2" charset="0"/>
              </a:rPr>
              <a:t>Accounts with No Active Signals – untapped nurture pool</a:t>
            </a:r>
          </a:p>
        </p:txBody>
      </p:sp>
      <p:sp>
        <p:nvSpPr>
          <p:cNvPr id="14" name="TITLE_BuyingStage">
            <a:extLst>
              <a:ext uri="{FF2B5EF4-FFF2-40B4-BE49-F238E27FC236}">
                <a16:creationId xmlns:a16="http://schemas.microsoft.com/office/drawing/2014/main" id="{81474721-A79D-51CD-9870-23C1260726F3}"/>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Montserrat" panose="00000500000000000000" pitchFamily="2" charset="0"/>
              </a:rPr>
              <a:t>Predictive Buying Stage Distribution</a:t>
            </a:r>
            <a:endParaRPr lang="en-US" sz="3200" dirty="0">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52A7-1E76-9578-C514-69E68950FD8A}"/>
            </a:ext>
          </a:extLst>
        </p:cNvPr>
        <p:cNvGrpSpPr/>
        <p:nvPr/>
      </p:nvGrpSpPr>
      <p:grpSpPr>
        <a:xfrm>
          <a:off x="0" y="0"/>
          <a:ext cx="0" cy="0"/>
          <a:chOff x="0" y="0"/>
          <a:chExt cx="0" cy="0"/>
        </a:xfrm>
      </p:grpSpPr>
      <p:sp>
        <p:nvSpPr>
          <p:cNvPr id="2" name="SECTION_OptimizationHighlights">
            <a:extLst>
              <a:ext uri="{FF2B5EF4-FFF2-40B4-BE49-F238E27FC236}">
                <a16:creationId xmlns:a16="http://schemas.microsoft.com/office/drawing/2014/main" id="{95B784FA-ACA2-3443-1CF5-2CED49270499}"/>
              </a:ext>
            </a:extLst>
          </p:cNvPr>
          <p:cNvSpPr>
            <a:spLocks noGrp="1"/>
          </p:cNvSpPr>
          <p:nvPr>
            <p:ph type="body" sz="quarter" idx="10"/>
          </p:nvPr>
        </p:nvSpPr>
        <p:spPr>
          <a:xfrm>
            <a:off x="180467" y="2857500"/>
            <a:ext cx="12176125" cy="1143000"/>
          </a:xfrm>
        </p:spPr>
        <p:txBody>
          <a:bodyPr wrap="square"/>
          <a:lstStyle/>
          <a:p>
            <a:pPr marL="0" indent="0">
              <a:buNone/>
            </a:pPr>
            <a:r>
              <a:rPr lang="en-US" sz="3400" b="1" dirty="0">
                <a:solidFill>
                  <a:srgbClr val="FFFFFF"/>
                </a:solidFill>
                <a:latin typeface="Montserrat" panose="00000500000000000000" pitchFamily="2" charset="0"/>
              </a:rPr>
              <a:t>Highlights, Key Learnings &amp; Summary</a:t>
            </a:r>
            <a:endParaRPr sz="3400" b="1" dirty="0">
              <a:solidFill>
                <a:srgbClr val="FFFFFF"/>
              </a:solidFill>
              <a:latin typeface="Montserrat" panose="00000500000000000000" pitchFamily="2" charset="0"/>
            </a:endParaRPr>
          </a:p>
        </p:txBody>
      </p:sp>
    </p:spTree>
    <p:extLst>
      <p:ext uri="{BB962C8B-B14F-4D97-AF65-F5344CB8AC3E}">
        <p14:creationId xmlns:p14="http://schemas.microsoft.com/office/powerpoint/2010/main" val="1662781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I_OptimizationHighlightsSummary"/>
          <p:cNvSpPr>
            <a:spLocks noGrp="1"/>
          </p:cNvSpPr>
          <p:nvPr>
            <p:ph type="body" sz="quarter" idx="10"/>
          </p:nvPr>
        </p:nvSpPr>
        <p:spPr>
          <a:xfrm>
            <a:off x="1036320" y="1360170"/>
            <a:ext cx="10515600" cy="590550"/>
          </a:xfrm>
        </p:spPr>
        <p:txBody>
          <a:bodyPr vert="horz" wrap="square" lIns="91440" tIns="45720" rIns="91440" bIns="45720" rtlCol="0" anchor="ctr">
            <a:normAutofit/>
          </a:bodyPr>
          <a:lstStyle/>
          <a:p>
            <a:r>
              <a:rPr sz="1400" b="1" dirty="0">
                <a:solidFill>
                  <a:srgbClr val="555B6E"/>
                </a:solidFill>
                <a:latin typeface="Montserrat" panose="00000500000000000000" pitchFamily="2" charset="0"/>
              </a:rPr>
              <a:t>Turning H1 signals into H2 action</a:t>
            </a:r>
          </a:p>
        </p:txBody>
      </p:sp>
      <p:graphicFrame>
        <p:nvGraphicFramePr>
          <p:cNvPr id="4" name="Table_OptimizationHighlights"/>
          <p:cNvGraphicFramePr>
            <a:graphicFrameLocks noGrp="1"/>
          </p:cNvGraphicFramePr>
          <p:nvPr>
            <p:extLst>
              <p:ext uri="{D42A27DB-BD31-4B8C-83A1-F6EECF244321}">
                <p14:modId xmlns:p14="http://schemas.microsoft.com/office/powerpoint/2010/main" val="1719172916"/>
              </p:ext>
            </p:extLst>
          </p:nvPr>
        </p:nvGraphicFramePr>
        <p:xfrm>
          <a:off x="1127760" y="2194814"/>
          <a:ext cx="7315200" cy="2889504"/>
        </p:xfrm>
        <a:graphic>
          <a:graphicData uri="http://schemas.openxmlformats.org/drawingml/2006/table">
            <a:tbl>
              <a:tblPr>
                <a:tableStyleId>{5C22544A-7EE6-4342-B048-85BDC9FD1C3A}</a:tableStyleId>
              </a:tblPr>
              <a:tblGrid>
                <a:gridCol w="2209360">
                  <a:extLst>
                    <a:ext uri="{9D8B030D-6E8A-4147-A177-3AD203B41FA5}">
                      <a16:colId xmlns:a16="http://schemas.microsoft.com/office/drawing/2014/main" val="20000"/>
                    </a:ext>
                  </a:extLst>
                </a:gridCol>
                <a:gridCol w="5105840">
                  <a:extLst>
                    <a:ext uri="{9D8B030D-6E8A-4147-A177-3AD203B41FA5}">
                      <a16:colId xmlns:a16="http://schemas.microsoft.com/office/drawing/2014/main" val="20001"/>
                    </a:ext>
                  </a:extLst>
                </a:gridCol>
              </a:tblGrid>
              <a:tr h="481584">
                <a:tc>
                  <a:txBody>
                    <a:bodyPr/>
                    <a:lstStyle/>
                    <a:p>
                      <a:pPr algn="ctr"/>
                      <a:r>
                        <a:rPr sz="1250" b="1">
                          <a:solidFill>
                            <a:srgbClr val="FFFFFF"/>
                          </a:solidFill>
                          <a:latin typeface="Calibri"/>
                        </a:rPr>
                        <a:t>Metric</a:t>
                      </a:r>
                    </a:p>
                  </a:txBody>
                  <a:tcPr marL="73152" marR="73152" marT="36576" marB="36576" anchor="ctr">
                    <a:solidFill>
                      <a:srgbClr val="262E81"/>
                    </a:solidFill>
                  </a:tcPr>
                </a:tc>
                <a:tc>
                  <a:txBody>
                    <a:bodyPr/>
                    <a:lstStyle/>
                    <a:p>
                      <a:pPr algn="ctr"/>
                      <a:r>
                        <a:rPr sz="1250" b="1" dirty="0">
                          <a:solidFill>
                            <a:srgbClr val="FFFFFF"/>
                          </a:solidFill>
                          <a:latin typeface="Calibri"/>
                        </a:rPr>
                        <a:t>Recommendation</a:t>
                      </a:r>
                    </a:p>
                  </a:txBody>
                  <a:tcPr marL="73152" marR="73152" marT="36576" marB="36576" anchor="ctr">
                    <a:solidFill>
                      <a:srgbClr val="262E81"/>
                    </a:solidFill>
                  </a:tcPr>
                </a:tc>
                <a:extLst>
                  <a:ext uri="{0D108BD9-81ED-4DB2-BD59-A6C34878D82A}">
                    <a16:rowId xmlns:a16="http://schemas.microsoft.com/office/drawing/2014/main" val="10000"/>
                  </a:ext>
                </a:extLst>
              </a:tr>
              <a:tr h="481584">
                <a:tc>
                  <a:txBody>
                    <a:bodyPr/>
                    <a:lstStyle/>
                    <a:p>
                      <a:pPr algn="ctr"/>
                      <a:r>
                        <a:rPr sz="1300" b="0">
                          <a:solidFill>
                            <a:srgbClr val="1A1D29"/>
                          </a:solidFill>
                          <a:latin typeface="Calibri"/>
                        </a:rPr>
                        <a:t>Total Leads</a:t>
                      </a:r>
                    </a:p>
                  </a:txBody>
                  <a:tcPr marL="73152" marR="73152" marT="36576" marB="36576" anchor="ctr">
                    <a:solidFill>
                      <a:srgbClr val="FFFFFF"/>
                    </a:solidFill>
                  </a:tcPr>
                </a:tc>
                <a:tc>
                  <a:txBody>
                    <a:bodyPr/>
                    <a:lstStyle/>
                    <a:p>
                      <a:pPr algn="ctr"/>
                      <a:r>
                        <a:rPr sz="1300" b="0">
                          <a:solidFill>
                            <a:srgbClr val="1A1D29"/>
                          </a:solidFill>
                          <a:latin typeface="Calibri"/>
                        </a:rPr>
                        <a:t>Continue current optimization cadence.</a:t>
                      </a:r>
                    </a:p>
                  </a:txBody>
                  <a:tcPr marL="73152" marR="73152" marT="36576" marB="36576" anchor="ctr">
                    <a:solidFill>
                      <a:srgbClr val="FFFFFF"/>
                    </a:solidFill>
                  </a:tcPr>
                </a:tc>
                <a:extLst>
                  <a:ext uri="{0D108BD9-81ED-4DB2-BD59-A6C34878D82A}">
                    <a16:rowId xmlns:a16="http://schemas.microsoft.com/office/drawing/2014/main" val="10001"/>
                  </a:ext>
                </a:extLst>
              </a:tr>
              <a:tr h="481584">
                <a:tc>
                  <a:txBody>
                    <a:bodyPr/>
                    <a:lstStyle/>
                    <a:p>
                      <a:pPr algn="ctr"/>
                      <a:r>
                        <a:rPr sz="1300" b="0">
                          <a:solidFill>
                            <a:srgbClr val="1A1D29"/>
                          </a:solidFill>
                          <a:latin typeface="Calibri"/>
                        </a:rPr>
                        <a:t>Unique Accounts</a:t>
                      </a:r>
                    </a:p>
                  </a:txBody>
                  <a:tcPr marL="73152" marR="73152" marT="36576" marB="36576" anchor="ctr">
                    <a:solidFill>
                      <a:srgbClr val="F3F4F9"/>
                    </a:solidFill>
                  </a:tcPr>
                </a:tc>
                <a:tc>
                  <a:txBody>
                    <a:bodyPr/>
                    <a:lstStyle/>
                    <a:p>
                      <a:pPr algn="ctr"/>
                      <a:r>
                        <a:rPr sz="1300" b="0" dirty="0">
                          <a:solidFill>
                            <a:srgbClr val="1A1D29"/>
                          </a:solidFill>
                          <a:latin typeface="Calibri"/>
                        </a:rPr>
                        <a:t>Scale current account-based targeting strategy.</a:t>
                      </a:r>
                    </a:p>
                  </a:txBody>
                  <a:tcPr marL="73152" marR="73152" marT="36576" marB="36576" anchor="ctr">
                    <a:solidFill>
                      <a:srgbClr val="F3F4F9"/>
                    </a:solidFill>
                  </a:tcPr>
                </a:tc>
                <a:extLst>
                  <a:ext uri="{0D108BD9-81ED-4DB2-BD59-A6C34878D82A}">
                    <a16:rowId xmlns:a16="http://schemas.microsoft.com/office/drawing/2014/main" val="10002"/>
                  </a:ext>
                </a:extLst>
              </a:tr>
              <a:tr h="481584">
                <a:tc>
                  <a:txBody>
                    <a:bodyPr/>
                    <a:lstStyle/>
                    <a:p>
                      <a:pPr algn="ctr"/>
                      <a:r>
                        <a:rPr sz="1300" b="0">
                          <a:solidFill>
                            <a:srgbClr val="1A1D29"/>
                          </a:solidFill>
                          <a:latin typeface="Calibri"/>
                        </a:rPr>
                        <a:t>Assets Used</a:t>
                      </a:r>
                    </a:p>
                  </a:txBody>
                  <a:tcPr marL="73152" marR="73152" marT="36576" marB="36576" anchor="ctr">
                    <a:solidFill>
                      <a:srgbClr val="FFFFFF"/>
                    </a:solidFill>
                  </a:tcPr>
                </a:tc>
                <a:tc>
                  <a:txBody>
                    <a:bodyPr/>
                    <a:lstStyle/>
                    <a:p>
                      <a:pPr algn="ctr"/>
                      <a:r>
                        <a:rPr sz="1300" b="0" dirty="0">
                          <a:solidFill>
                            <a:srgbClr val="1A1D29"/>
                          </a:solidFill>
                          <a:latin typeface="Calibri"/>
                        </a:rPr>
                        <a:t>Monitor performance; test a 5th asset in H2.</a:t>
                      </a:r>
                    </a:p>
                  </a:txBody>
                  <a:tcPr marL="73152" marR="73152" marT="36576" marB="36576" anchor="ctr">
                    <a:solidFill>
                      <a:srgbClr val="FFFFFF"/>
                    </a:solidFill>
                  </a:tcPr>
                </a:tc>
                <a:extLst>
                  <a:ext uri="{0D108BD9-81ED-4DB2-BD59-A6C34878D82A}">
                    <a16:rowId xmlns:a16="http://schemas.microsoft.com/office/drawing/2014/main" val="10003"/>
                  </a:ext>
                </a:extLst>
              </a:tr>
              <a:tr h="481584">
                <a:tc>
                  <a:txBody>
                    <a:bodyPr/>
                    <a:lstStyle/>
                    <a:p>
                      <a:pPr algn="ctr"/>
                      <a:r>
                        <a:rPr sz="1300" b="0">
                          <a:solidFill>
                            <a:srgbClr val="1A1D29"/>
                          </a:solidFill>
                          <a:latin typeface="Calibri"/>
                        </a:rPr>
                        <a:t>Job Titles</a:t>
                      </a:r>
                    </a:p>
                  </a:txBody>
                  <a:tcPr marL="73152" marR="73152" marT="36576" marB="36576" anchor="ctr">
                    <a:solidFill>
                      <a:srgbClr val="F3F4F9"/>
                    </a:solidFill>
                  </a:tcPr>
                </a:tc>
                <a:tc>
                  <a:txBody>
                    <a:bodyPr/>
                    <a:lstStyle/>
                    <a:p>
                      <a:pPr algn="ctr"/>
                      <a:r>
                        <a:rPr sz="1300" b="0">
                          <a:solidFill>
                            <a:srgbClr val="1A1D29"/>
                          </a:solidFill>
                          <a:latin typeface="Calibri"/>
                        </a:rPr>
                        <a:t>Continue broadening persona/title reach.</a:t>
                      </a:r>
                    </a:p>
                  </a:txBody>
                  <a:tcPr marL="73152" marR="73152" marT="36576" marB="36576" anchor="ctr">
                    <a:solidFill>
                      <a:srgbClr val="F3F4F9"/>
                    </a:solidFill>
                  </a:tcPr>
                </a:tc>
                <a:extLst>
                  <a:ext uri="{0D108BD9-81ED-4DB2-BD59-A6C34878D82A}">
                    <a16:rowId xmlns:a16="http://schemas.microsoft.com/office/drawing/2014/main" val="10004"/>
                  </a:ext>
                </a:extLst>
              </a:tr>
              <a:tr h="481584">
                <a:tc>
                  <a:txBody>
                    <a:bodyPr/>
                    <a:lstStyle/>
                    <a:p>
                      <a:pPr algn="ctr"/>
                      <a:r>
                        <a:rPr sz="1300" b="0" dirty="0">
                          <a:solidFill>
                            <a:srgbClr val="1A1D29"/>
                          </a:solidFill>
                          <a:latin typeface="Calibri"/>
                        </a:rPr>
                        <a:t>Countries</a:t>
                      </a:r>
                    </a:p>
                  </a:txBody>
                  <a:tcPr marL="73152" marR="73152" marT="36576" marB="36576" anchor="ctr">
                    <a:solidFill>
                      <a:srgbClr val="FFFFFF"/>
                    </a:solidFill>
                  </a:tcPr>
                </a:tc>
                <a:tc>
                  <a:txBody>
                    <a:bodyPr/>
                    <a:lstStyle/>
                    <a:p>
                      <a:pPr algn="ctr"/>
                      <a:r>
                        <a:rPr sz="1300" b="0" dirty="0">
                          <a:solidFill>
                            <a:srgbClr val="1A1D29"/>
                          </a:solidFill>
                          <a:latin typeface="Calibri"/>
                        </a:rPr>
                        <a:t>Monitor; evaluate geographic expansion.</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12" name="AI_OptimizationFooter"/>
          <p:cNvSpPr txBox="1"/>
          <p:nvPr/>
        </p:nvSpPr>
        <p:spPr>
          <a:xfrm>
            <a:off x="1127760" y="5587238"/>
            <a:ext cx="10607040" cy="170175"/>
          </a:xfrm>
          <a:prstGeom prst="rect">
            <a:avLst/>
          </a:prstGeom>
          <a:noFill/>
        </p:spPr>
        <p:txBody>
          <a:bodyPr wrap="square" lIns="0" tIns="0" rIns="0" bIns="0" anchor="t">
            <a:spAutoFit/>
          </a:bodyPr>
          <a:lstStyle/>
          <a:p>
            <a:pPr algn="l">
              <a:lnSpc>
                <a:spcPct val="120000"/>
              </a:lnSpc>
            </a:pPr>
            <a:r>
              <a:rPr sz="1000" b="0" i="1" dirty="0">
                <a:solidFill>
                  <a:srgbClr val="555B6E"/>
                </a:solidFill>
                <a:latin typeface="Montserrat" panose="00000500000000000000" pitchFamily="2" charset="0"/>
              </a:rPr>
              <a:t>Bottom line: the campaign’s biggest lever for H2 is account expansion – the data shows this is where the current strategy is already working best.</a:t>
            </a:r>
          </a:p>
        </p:txBody>
      </p:sp>
      <p:grpSp>
        <p:nvGrpSpPr>
          <p:cNvPr id="18" name="Group 17">
            <a:extLst>
              <a:ext uri="{FF2B5EF4-FFF2-40B4-BE49-F238E27FC236}">
                <a16:creationId xmlns:a16="http://schemas.microsoft.com/office/drawing/2014/main" id="{5CC3A8AD-A77D-5CC7-13D2-8F2DA2C15E97}"/>
              </a:ext>
            </a:extLst>
          </p:cNvPr>
          <p:cNvGrpSpPr/>
          <p:nvPr/>
        </p:nvGrpSpPr>
        <p:grpSpPr>
          <a:xfrm>
            <a:off x="8677656" y="2202180"/>
            <a:ext cx="1691640" cy="2889504"/>
            <a:chOff x="7214616" y="2286000"/>
            <a:chExt cx="1691640" cy="2640838"/>
          </a:xfrm>
        </p:grpSpPr>
        <p:grpSp>
          <p:nvGrpSpPr>
            <p:cNvPr id="13" name="Group 12">
              <a:extLst>
                <a:ext uri="{FF2B5EF4-FFF2-40B4-BE49-F238E27FC236}">
                  <a16:creationId xmlns:a16="http://schemas.microsoft.com/office/drawing/2014/main" id="{AEC31AE2-14E2-915E-55AB-572287F19390}"/>
                </a:ext>
              </a:extLst>
            </p:cNvPr>
            <p:cNvGrpSpPr/>
            <p:nvPr/>
          </p:nvGrpSpPr>
          <p:grpSpPr>
            <a:xfrm>
              <a:off x="7214616" y="2805430"/>
              <a:ext cx="1691640" cy="2121408"/>
              <a:chOff x="3520440" y="2825496"/>
              <a:chExt cx="1691640" cy="2121408"/>
            </a:xfrm>
          </p:grpSpPr>
          <p:sp>
            <p:nvSpPr>
              <p:cNvPr id="5" name="StatusPill_TotalLeads"/>
              <p:cNvSpPr/>
              <p:nvPr/>
            </p:nvSpPr>
            <p:spPr>
              <a:xfrm>
                <a:off x="3520440" y="2825496"/>
                <a:ext cx="169164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Stable Growth</a:t>
                </a:r>
              </a:p>
            </p:txBody>
          </p:sp>
          <p:sp>
            <p:nvSpPr>
              <p:cNvPr id="6" name="StatusPill_UniqueAccounts"/>
              <p:cNvSpPr/>
              <p:nvPr/>
            </p:nvSpPr>
            <p:spPr>
              <a:xfrm>
                <a:off x="3520440" y="3282696"/>
                <a:ext cx="1691640" cy="292608"/>
              </a:xfrm>
              <a:prstGeom prst="roundRect">
                <a:avLst>
                  <a:gd name="adj" fmla="val 50000"/>
                </a:avLst>
              </a:prstGeom>
              <a:solidFill>
                <a:srgbClr val="1EA86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Strong Growth</a:t>
                </a:r>
              </a:p>
            </p:txBody>
          </p:sp>
          <p:sp>
            <p:nvSpPr>
              <p:cNvPr id="7" name="StatusPill_AssetsUsed"/>
              <p:cNvSpPr/>
              <p:nvPr/>
            </p:nvSpPr>
            <p:spPr>
              <a:xfrm>
                <a:off x="3520440" y="3739896"/>
                <a:ext cx="169164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No Change</a:t>
                </a:r>
              </a:p>
            </p:txBody>
          </p:sp>
          <p:sp>
            <p:nvSpPr>
              <p:cNvPr id="8" name="StatusPill_JobTitles"/>
              <p:cNvSpPr/>
              <p:nvPr/>
            </p:nvSpPr>
            <p:spPr>
              <a:xfrm>
                <a:off x="3520440" y="4197096"/>
                <a:ext cx="1691640" cy="292608"/>
              </a:xfrm>
              <a:prstGeom prst="roundRect">
                <a:avLst>
                  <a:gd name="adj" fmla="val 50000"/>
                </a:avLst>
              </a:prstGeom>
              <a:solidFill>
                <a:srgbClr val="1C6AF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Stable Growth</a:t>
                </a:r>
              </a:p>
            </p:txBody>
          </p:sp>
          <p:sp>
            <p:nvSpPr>
              <p:cNvPr id="9" name="StatusPill_Countries"/>
              <p:cNvSpPr/>
              <p:nvPr/>
            </p:nvSpPr>
            <p:spPr>
              <a:xfrm>
                <a:off x="3520440" y="4654296"/>
                <a:ext cx="1691640" cy="292608"/>
              </a:xfrm>
              <a:prstGeom prst="roundRect">
                <a:avLst>
                  <a:gd name="adj" fmla="val 50000"/>
                </a:avLst>
              </a:prstGeom>
              <a:solidFill>
                <a:srgbClr val="9A9FB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i="0">
                    <a:solidFill>
                      <a:srgbClr val="FFFFFF"/>
                    </a:solidFill>
                    <a:latin typeface="Montserrat" panose="00000500000000000000" pitchFamily="2" charset="0"/>
                  </a:rPr>
                  <a:t>No Change</a:t>
                </a:r>
              </a:p>
            </p:txBody>
          </p:sp>
        </p:grpSp>
        <p:sp>
          <p:nvSpPr>
            <p:cNvPr id="14" name="CARD_StatusHeader">
              <a:extLst>
                <a:ext uri="{FF2B5EF4-FFF2-40B4-BE49-F238E27FC236}">
                  <a16:creationId xmlns:a16="http://schemas.microsoft.com/office/drawing/2014/main" id="{FEC2E93E-41F9-B625-0C1F-18F15B0C033A}"/>
                </a:ext>
              </a:extLst>
            </p:cNvPr>
            <p:cNvSpPr/>
            <p:nvPr/>
          </p:nvSpPr>
          <p:spPr>
            <a:xfrm>
              <a:off x="7269480" y="2286000"/>
              <a:ext cx="1499616" cy="435959"/>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50" b="1" dirty="0">
                  <a:latin typeface="Montserrat" panose="00000500000000000000" pitchFamily="2" charset="0"/>
                </a:rPr>
                <a:t>Status</a:t>
              </a:r>
            </a:p>
          </p:txBody>
        </p:sp>
      </p:grpSp>
      <p:sp>
        <p:nvSpPr>
          <p:cNvPr id="17" name="TITLE_OptimizationHighlights">
            <a:extLst>
              <a:ext uri="{FF2B5EF4-FFF2-40B4-BE49-F238E27FC236}">
                <a16:creationId xmlns:a16="http://schemas.microsoft.com/office/drawing/2014/main" id="{1F9FD164-D95B-D44A-D847-ED54BF03DDD2}"/>
              </a:ext>
            </a:extLst>
          </p:cNvPr>
          <p:cNvSpPr txBox="1">
            <a:spLocks/>
          </p:cNvSpPr>
          <p:nvPr/>
        </p:nvSpPr>
        <p:spPr>
          <a:xfrm>
            <a:off x="640080" y="-45403"/>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accent1"/>
                </a:solidFill>
                <a:latin typeface="Arial"/>
              </a:rPr>
              <a:t>Optimization Highlights &amp; Recommendations</a:t>
            </a:r>
            <a:endParaRPr lang="en-US" sz="3200" dirty="0">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KeyLearnings"/>
          <p:cNvSpPr>
            <a:spLocks noGrp="1"/>
          </p:cNvSpPr>
          <p:nvPr>
            <p:ph type="body" sz="quarter" idx="10"/>
          </p:nvPr>
        </p:nvSpPr>
        <p:spPr>
          <a:xfrm>
            <a:off x="105474" y="5201222"/>
            <a:ext cx="6096000" cy="865187"/>
          </a:xfrm>
        </p:spPr>
        <p:txBody>
          <a:bodyPr wrap="square" lIns="274320" rIns="182880">
            <a:normAutofit/>
          </a:bodyPr>
          <a:lstStyle/>
          <a:p>
            <a:pPr algn="l">
              <a:lnSpc>
                <a:spcPct val="105000"/>
              </a:lnSpc>
            </a:pPr>
            <a:r>
              <a:rPr sz="3400" b="1" i="0" dirty="0">
                <a:solidFill>
                  <a:srgbClr val="FFFFFF"/>
                </a:solidFill>
                <a:latin typeface="Montserrat" panose="00000500000000000000" pitchFamily="2" charset="0"/>
              </a:rPr>
              <a:t>Key Learnings</a:t>
            </a:r>
          </a:p>
        </p:txBody>
      </p:sp>
      <p:sp>
        <p:nvSpPr>
          <p:cNvPr id="4" name="AI_KeyLearnings"/>
          <p:cNvSpPr txBox="1"/>
          <p:nvPr/>
        </p:nvSpPr>
        <p:spPr>
          <a:xfrm>
            <a:off x="6526974" y="621792"/>
            <a:ext cx="5486400" cy="5781070"/>
          </a:xfrm>
          <a:prstGeom prst="rect">
            <a:avLst/>
          </a:prstGeom>
          <a:noFill/>
        </p:spPr>
        <p:txBody>
          <a:bodyPr wrap="square" lIns="0" tIns="0" rIns="0" bIns="0" anchor="t">
            <a:spAutoFit/>
          </a:bodyPr>
          <a:lstStyle/>
          <a:p>
            <a:pPr marL="0" indent="0">
              <a:spcAft>
                <a:spcPts val="200"/>
              </a:spcAft>
              <a:buNone/>
            </a:pPr>
            <a:r>
              <a:rPr b="1" dirty="0">
                <a:solidFill>
                  <a:srgbClr val="1C6BFF"/>
                </a:solidFill>
                <a:latin typeface="Montserrat" panose="00000500000000000000" pitchFamily="2" charset="0"/>
              </a:rPr>
              <a:t>1.  Reach is outpacing volume.</a:t>
            </a:r>
          </a:p>
          <a:p>
            <a:pPr indent="0">
              <a:spcAft>
                <a:spcPts val="1600"/>
              </a:spcAft>
              <a:buNone/>
            </a:pPr>
            <a:r>
              <a:rPr sz="1500" dirty="0">
                <a:solidFill>
                  <a:srgbClr val="555B6E"/>
                </a:solidFill>
                <a:latin typeface="Montserrat Medium" panose="00000600000000000000" pitchFamily="2" charset="0"/>
              </a:rPr>
              <a:t>Unique accounts grew 18.6% QoQ while leads grew 0.75% – the campaign is widening its footprint, not just re-engaging the same base.</a:t>
            </a:r>
          </a:p>
          <a:p>
            <a:pPr>
              <a:spcAft>
                <a:spcPts val="200"/>
              </a:spcAft>
            </a:pPr>
            <a:r>
              <a:rPr b="1" dirty="0">
                <a:solidFill>
                  <a:srgbClr val="1C6BFF"/>
                </a:solidFill>
                <a:latin typeface="Montserrat" panose="00000500000000000000" pitchFamily="2" charset="0"/>
              </a:rPr>
              <a:t>2.  Payment pain is the core hook.</a:t>
            </a:r>
          </a:p>
          <a:p>
            <a:pPr>
              <a:spcAft>
                <a:spcPts val="1600"/>
              </a:spcAft>
            </a:pPr>
            <a:r>
              <a:rPr sz="1500" dirty="0">
                <a:solidFill>
                  <a:srgbClr val="555B6E"/>
                </a:solidFill>
                <a:latin typeface="Montserrat Medium" panose="00000600000000000000" pitchFamily="2" charset="0"/>
              </a:rPr>
              <a:t>"Patient payments" is the #1 topic in both quarters and the #2 overall trending topic (436 mentions) – strong content-market fit.</a:t>
            </a:r>
          </a:p>
          <a:p>
            <a:pPr indent="0">
              <a:spcAft>
                <a:spcPts val="200"/>
              </a:spcAft>
              <a:buNone/>
            </a:pPr>
            <a:r>
              <a:rPr b="1" dirty="0">
                <a:solidFill>
                  <a:srgbClr val="1C6BFF"/>
                </a:solidFill>
                <a:latin typeface="Montserrat" panose="00000500000000000000" pitchFamily="2" charset="0"/>
              </a:rPr>
              <a:t>3.  Content is well diversified.</a:t>
            </a:r>
          </a:p>
          <a:p>
            <a:pPr indent="0">
              <a:spcAft>
                <a:spcPts val="1600"/>
              </a:spcAft>
              <a:buNone/>
            </a:pPr>
            <a:r>
              <a:rPr sz="1500" dirty="0">
                <a:solidFill>
                  <a:srgbClr val="555B6E"/>
                </a:solidFill>
                <a:latin typeface="Montserrat Medium" panose="00000600000000000000" pitchFamily="2" charset="0"/>
              </a:rPr>
              <a:t>All four assets land within a tight 390–422 lead band (24–26% contribution each) – no single asset is carrying the campaign.</a:t>
            </a:r>
          </a:p>
          <a:p>
            <a:pPr>
              <a:spcAft>
                <a:spcPts val="200"/>
              </a:spcAft>
            </a:pPr>
            <a:r>
              <a:rPr b="1" dirty="0">
                <a:solidFill>
                  <a:srgbClr val="1C6BFF"/>
                </a:solidFill>
                <a:latin typeface="Montserrat" panose="00000500000000000000" pitchFamily="2" charset="0"/>
              </a:rPr>
              <a:t>4.  Cost &amp; billing dominate interest.</a:t>
            </a:r>
          </a:p>
          <a:p>
            <a:pPr>
              <a:spcAft>
                <a:spcPts val="1600"/>
              </a:spcAft>
            </a:pPr>
            <a:r>
              <a:rPr sz="1500" dirty="0">
                <a:solidFill>
                  <a:srgbClr val="555B6E"/>
                </a:solidFill>
                <a:latin typeface="Montserrat Medium" panose="00000600000000000000" pitchFamily="2" charset="0"/>
              </a:rPr>
              <a:t>Financial and administrative themes make up ~85% of all topic mentions (1,544 + 904 of 2,875 total).</a:t>
            </a:r>
          </a:p>
          <a:p>
            <a:pPr indent="0">
              <a:spcAft>
                <a:spcPts val="200"/>
              </a:spcAft>
              <a:buNone/>
            </a:pPr>
            <a:r>
              <a:rPr b="1" dirty="0">
                <a:solidFill>
                  <a:srgbClr val="1C6BFF"/>
                </a:solidFill>
                <a:latin typeface="Montserrat" panose="00000500000000000000" pitchFamily="2" charset="0"/>
              </a:rPr>
              <a:t>5.  A large nurture pool exists.</a:t>
            </a:r>
          </a:p>
          <a:p>
            <a:pPr indent="0">
              <a:spcAft>
                <a:spcPts val="1600"/>
              </a:spcAft>
              <a:buNone/>
            </a:pPr>
            <a:r>
              <a:rPr sz="1500" dirty="0">
                <a:solidFill>
                  <a:srgbClr val="555B6E"/>
                </a:solidFill>
                <a:latin typeface="Montserrat Medium" panose="00000600000000000000" pitchFamily="2" charset="0"/>
              </a:rPr>
              <a:t>Of 1,719 signal-showing accounts, 703 show no active signals yet – a sizable pool for future-stage nurture content.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H2Momentum"/>
          <p:cNvSpPr>
            <a:spLocks noGrp="1"/>
          </p:cNvSpPr>
          <p:nvPr>
            <p:ph type="body" sz="quarter" idx="10"/>
          </p:nvPr>
        </p:nvSpPr>
        <p:spPr>
          <a:xfrm>
            <a:off x="0" y="2840958"/>
            <a:ext cx="6592610" cy="865187"/>
          </a:xfrm>
        </p:spPr>
        <p:txBody>
          <a:bodyPr wrap="square" lIns="320040" rIns="228600">
            <a:noAutofit/>
          </a:bodyPr>
          <a:lstStyle/>
          <a:p>
            <a:pPr algn="l">
              <a:lnSpc>
                <a:spcPct val="110000"/>
              </a:lnSpc>
            </a:pPr>
            <a:r>
              <a:rPr sz="3400" b="1" i="0" dirty="0">
                <a:solidFill>
                  <a:srgbClr val="FFFFFF"/>
                </a:solidFill>
                <a:latin typeface="Montserrat" panose="00000500000000000000" pitchFamily="2" charset="0"/>
              </a:rPr>
              <a:t>Building on H1 momentum into H2 2026 and beyond</a:t>
            </a:r>
          </a:p>
        </p:txBody>
      </p:sp>
      <p:sp>
        <p:nvSpPr>
          <p:cNvPr id="3" name="AI_H2Recommendations"/>
          <p:cNvSpPr>
            <a:spLocks noGrp="1"/>
          </p:cNvSpPr>
          <p:nvPr>
            <p:ph type="body" sz="quarter" idx="11"/>
          </p:nvPr>
        </p:nvSpPr>
        <p:spPr/>
        <p:txBody>
          <a:bodyPr>
            <a:normAutofit/>
          </a:bodyPr>
          <a:lstStyle/>
          <a:p>
            <a:pPr marL="0" indent="0">
              <a:spcAft>
                <a:spcPts val="1600"/>
              </a:spcAft>
              <a:buNone/>
            </a:pPr>
            <a:r>
              <a:rPr sz="1800" b="1" dirty="0">
                <a:solidFill>
                  <a:srgbClr val="1C6BFF"/>
                </a:solidFill>
                <a:latin typeface="Montserrat" panose="00000500000000000000" pitchFamily="2" charset="0"/>
              </a:rPr>
              <a:t>Momentum &amp; 2026 Outlook</a:t>
            </a:r>
          </a:p>
          <a:p>
            <a:pPr marL="0" indent="0">
              <a:spcAft>
                <a:spcPts val="1400"/>
              </a:spcAft>
              <a:buNone/>
            </a:pPr>
            <a:r>
              <a:rPr sz="1500" b="1" dirty="0">
                <a:solidFill>
                  <a:srgbClr val="1C6AFE"/>
                </a:solidFill>
                <a:latin typeface="Montserrat" panose="00000500000000000000" pitchFamily="2" charset="0"/>
              </a:rPr>
              <a:t>01   </a:t>
            </a:r>
            <a:r>
              <a:rPr sz="1500" dirty="0">
                <a:solidFill>
                  <a:srgbClr val="0E2841"/>
                </a:solidFill>
                <a:latin typeface="Montserrat" panose="00000500000000000000" pitchFamily="2" charset="0"/>
              </a:rPr>
              <a:t>Convert the 703 "No Active Signals" accounts into engaged pipeline through expanded account-based targeting.</a:t>
            </a:r>
          </a:p>
          <a:p>
            <a:pPr marL="0" indent="0">
              <a:spcAft>
                <a:spcPts val="1400"/>
              </a:spcAft>
              <a:buNone/>
            </a:pPr>
            <a:r>
              <a:rPr sz="1500" b="1" dirty="0">
                <a:solidFill>
                  <a:srgbClr val="1C6AFE"/>
                </a:solidFill>
                <a:latin typeface="Montserrat" panose="00000500000000000000" pitchFamily="2" charset="0"/>
              </a:rPr>
              <a:t>02   </a:t>
            </a:r>
            <a:r>
              <a:rPr sz="1500" dirty="0">
                <a:solidFill>
                  <a:srgbClr val="0E2841"/>
                </a:solidFill>
                <a:latin typeface="Montserrat" panose="00000500000000000000" pitchFamily="2" charset="0"/>
              </a:rPr>
              <a:t>Launch new content aimed at the 408 Decision-stage accounts to accelerate conversion.</a:t>
            </a:r>
          </a:p>
          <a:p>
            <a:pPr marL="0" indent="0">
              <a:spcAft>
                <a:spcPts val="1400"/>
              </a:spcAft>
              <a:buNone/>
            </a:pPr>
            <a:r>
              <a:rPr sz="1500" b="1" dirty="0">
                <a:solidFill>
                  <a:srgbClr val="1C6AFE"/>
                </a:solidFill>
                <a:latin typeface="Montserrat" panose="00000500000000000000" pitchFamily="2" charset="0"/>
              </a:rPr>
              <a:t>03   </a:t>
            </a:r>
            <a:r>
              <a:rPr sz="1500" dirty="0">
                <a:solidFill>
                  <a:srgbClr val="0E2841"/>
                </a:solidFill>
                <a:latin typeface="Montserrat" panose="00000500000000000000" pitchFamily="2" charset="0"/>
              </a:rPr>
              <a:t>Keep expanding job-title/persona coverage, building on the +10% QoQ gain.</a:t>
            </a:r>
          </a:p>
          <a:p>
            <a:pPr marL="0" indent="0">
              <a:spcAft>
                <a:spcPts val="1400"/>
              </a:spcAft>
              <a:buNone/>
            </a:pPr>
            <a:r>
              <a:rPr sz="1500" b="1" dirty="0">
                <a:solidFill>
                  <a:srgbClr val="1C6AFE"/>
                </a:solidFill>
                <a:latin typeface="Montserrat" panose="00000500000000000000" pitchFamily="2" charset="0"/>
              </a:rPr>
              <a:t>04   </a:t>
            </a:r>
            <a:r>
              <a:rPr sz="1500" dirty="0">
                <a:solidFill>
                  <a:srgbClr val="0E2841"/>
                </a:solidFill>
                <a:latin typeface="Montserrat" panose="00000500000000000000" pitchFamily="2" charset="0"/>
              </a:rPr>
              <a:t>Evaluate geographic expansion beyond the current single-country footprint.</a:t>
            </a:r>
          </a:p>
          <a:p>
            <a:pPr marL="0" indent="0">
              <a:spcAft>
                <a:spcPts val="1400"/>
              </a:spcAft>
              <a:buNone/>
            </a:pPr>
            <a:r>
              <a:rPr sz="1500" b="1" dirty="0">
                <a:solidFill>
                  <a:srgbClr val="1C6AFE"/>
                </a:solidFill>
                <a:latin typeface="Montserrat" panose="00000500000000000000" pitchFamily="2" charset="0"/>
              </a:rPr>
              <a:t>05   </a:t>
            </a:r>
            <a:r>
              <a:rPr sz="1500" dirty="0">
                <a:solidFill>
                  <a:srgbClr val="0E2841"/>
                </a:solidFill>
                <a:latin typeface="Montserrat" panose="00000500000000000000" pitchFamily="2" charset="0"/>
              </a:rPr>
              <a:t>Continue investing in top-performing topics – patient payments, medical billing, and BNPL players.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I_ValueAddHeading"/>
          <p:cNvSpPr txBox="1"/>
          <p:nvPr/>
        </p:nvSpPr>
        <p:spPr>
          <a:xfrm>
            <a:off x="795528" y="1099506"/>
            <a:ext cx="9875520" cy="430887"/>
          </a:xfrm>
          <a:prstGeom prst="rect">
            <a:avLst/>
          </a:prstGeom>
          <a:noFill/>
        </p:spPr>
        <p:txBody>
          <a:bodyPr wrap="square" lIns="0" tIns="0" rIns="0" bIns="0" anchor="t">
            <a:spAutoFit/>
          </a:bodyPr>
          <a:lstStyle/>
          <a:p>
            <a:pPr algn="l"/>
            <a:r>
              <a:rPr sz="1400" b="0" i="1" dirty="0">
                <a:solidFill>
                  <a:srgbClr val="E8E8E8"/>
                </a:solidFill>
                <a:latin typeface="Montserrat Medium" panose="00000600000000000000" pitchFamily="2" charset="0"/>
              </a:rPr>
              <a:t>Beyond core content-syndication leads, Madison Logic’s intent layer identified and qualified an expanded pool of buying-ready healthcare accounts.</a:t>
            </a:r>
          </a:p>
        </p:txBody>
      </p:sp>
      <p:sp>
        <p:nvSpPr>
          <p:cNvPr id="6" name="CARD_ValueMetric1"/>
          <p:cNvSpPr/>
          <p:nvPr/>
        </p:nvSpPr>
        <p:spPr>
          <a:xfrm>
            <a:off x="6858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7" name="KPI_ValueMetric1"/>
          <p:cNvSpPr txBox="1"/>
          <p:nvPr/>
        </p:nvSpPr>
        <p:spPr>
          <a:xfrm>
            <a:off x="997381" y="2310640"/>
            <a:ext cx="1891437" cy="846386"/>
          </a:xfrm>
          <a:prstGeom prst="rect">
            <a:avLst/>
          </a:prstGeom>
          <a:noFill/>
        </p:spPr>
        <p:txBody>
          <a:bodyPr wrap="square" lIns="0" tIns="0" rIns="0" bIns="0" anchor="ctr">
            <a:spAutoFit/>
          </a:bodyPr>
          <a:lstStyle/>
          <a:p>
            <a:pPr algn="ctr"/>
            <a:r>
              <a:rPr sz="3200" b="1" i="0" dirty="0">
                <a:solidFill>
                  <a:schemeClr val="bg1"/>
                </a:solidFill>
                <a:latin typeface="Montserrat" panose="00000500000000000000" pitchFamily="2" charset="0"/>
              </a:rPr>
              <a:t>1,719</a:t>
            </a:r>
          </a:p>
          <a:p>
            <a:pPr algn="ctr">
              <a:spcAft>
                <a:spcPts val="0"/>
              </a:spcAft>
            </a:pPr>
            <a:r>
              <a:rPr sz="1150" b="0" i="0" dirty="0">
                <a:solidFill>
                  <a:srgbClr val="FFFFFF"/>
                </a:solidFill>
                <a:latin typeface="Montserrat Medium" panose="00000600000000000000" pitchFamily="2" charset="0"/>
              </a:rPr>
              <a:t>Accounts identified via intent &amp; trending signals</a:t>
            </a:r>
          </a:p>
        </p:txBody>
      </p:sp>
      <p:sp>
        <p:nvSpPr>
          <p:cNvPr id="8" name="CARD_ValueMetric2"/>
          <p:cNvSpPr/>
          <p:nvPr/>
        </p:nvSpPr>
        <p:spPr>
          <a:xfrm>
            <a:off x="34290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9" name="KPI_ValueMetric2"/>
          <p:cNvSpPr txBox="1"/>
          <p:nvPr/>
        </p:nvSpPr>
        <p:spPr>
          <a:xfrm>
            <a:off x="35935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628</a:t>
            </a:r>
          </a:p>
          <a:p>
            <a:pPr algn="ctr"/>
            <a:r>
              <a:rPr sz="1150" dirty="0">
                <a:solidFill>
                  <a:srgbClr val="FFFFFF"/>
                </a:solidFill>
                <a:latin typeface="Montserrat Medium" panose="00000600000000000000" pitchFamily="2" charset="0"/>
              </a:rPr>
              <a:t>Accounts actively engaged (36.5% reach-to-engage)</a:t>
            </a:r>
          </a:p>
        </p:txBody>
      </p:sp>
      <p:sp>
        <p:nvSpPr>
          <p:cNvPr id="10" name="CARD_ValueMetric3"/>
          <p:cNvSpPr/>
          <p:nvPr/>
        </p:nvSpPr>
        <p:spPr>
          <a:xfrm>
            <a:off x="61722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1" name="KPI_ValueMetric3"/>
          <p:cNvSpPr txBox="1"/>
          <p:nvPr/>
        </p:nvSpPr>
        <p:spPr>
          <a:xfrm>
            <a:off x="63367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460</a:t>
            </a:r>
          </a:p>
          <a:p>
            <a:pPr algn="ctr">
              <a:spcAft>
                <a:spcPts val="0"/>
              </a:spcAft>
            </a:pPr>
            <a:r>
              <a:rPr sz="1150" dirty="0">
                <a:solidFill>
                  <a:srgbClr val="FFFFFF"/>
                </a:solidFill>
                <a:latin typeface="Montserrat Medium" panose="00000600000000000000" pitchFamily="2" charset="0"/>
              </a:rPr>
              <a:t>Accounts in Consideration + Decision – sales-ready</a:t>
            </a:r>
          </a:p>
        </p:txBody>
      </p:sp>
      <p:sp>
        <p:nvSpPr>
          <p:cNvPr id="12" name="CARD_ValueMetric4"/>
          <p:cNvSpPr/>
          <p:nvPr/>
        </p:nvSpPr>
        <p:spPr>
          <a:xfrm>
            <a:off x="8915400" y="1954590"/>
            <a:ext cx="2514600" cy="1600200"/>
          </a:xfrm>
          <a:prstGeom prst="roundRect">
            <a:avLst>
              <a:gd name="adj" fmla="val 6000"/>
            </a:avLst>
          </a:prstGeom>
          <a:solidFill>
            <a:srgbClr val="143050"/>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3" name="KPI_ValueMetric4"/>
          <p:cNvSpPr txBox="1"/>
          <p:nvPr/>
        </p:nvSpPr>
        <p:spPr>
          <a:xfrm>
            <a:off x="9079992" y="2310640"/>
            <a:ext cx="2185416" cy="846386"/>
          </a:xfrm>
          <a:prstGeom prst="rect">
            <a:avLst/>
          </a:prstGeom>
          <a:noFill/>
        </p:spPr>
        <p:txBody>
          <a:bodyPr wrap="square" lIns="0" tIns="0" rIns="0" bIns="0" anchor="ctr">
            <a:spAutoFit/>
          </a:bodyPr>
          <a:lstStyle/>
          <a:p>
            <a:pPr algn="ctr"/>
            <a:r>
              <a:rPr sz="3200" b="1" dirty="0">
                <a:solidFill>
                  <a:schemeClr val="bg1"/>
                </a:solidFill>
                <a:latin typeface="Montserrat" panose="00000500000000000000" pitchFamily="2" charset="0"/>
              </a:rPr>
              <a:t>1.29</a:t>
            </a:r>
          </a:p>
          <a:p>
            <a:pPr algn="ctr"/>
            <a:r>
              <a:rPr sz="1150" dirty="0">
                <a:solidFill>
                  <a:srgbClr val="FFFFFF"/>
                </a:solidFill>
                <a:latin typeface="Montserrat Medium" panose="00000600000000000000" pitchFamily="2" charset="0"/>
              </a:rPr>
              <a:t>Avg. leads generated per account, across assets</a:t>
            </a:r>
          </a:p>
        </p:txBody>
      </p:sp>
      <p:sp>
        <p:nvSpPr>
          <p:cNvPr id="14" name="CARD_PartnershipSummary"/>
          <p:cNvSpPr/>
          <p:nvPr/>
        </p:nvSpPr>
        <p:spPr>
          <a:xfrm>
            <a:off x="685800" y="3829110"/>
            <a:ext cx="10744200" cy="1929384"/>
          </a:xfrm>
          <a:prstGeom prst="roundRect">
            <a:avLst>
              <a:gd name="adj" fmla="val 6000"/>
            </a:avLst>
          </a:prstGeom>
          <a:solidFill>
            <a:srgbClr val="102A48"/>
          </a:solidFill>
          <a:ln>
            <a:noFill/>
          </a:ln>
          <a:effectLst>
            <a:outerShdw blurRad="63500" sx="102000" sy="1020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ontserrat" panose="00000500000000000000" pitchFamily="2" charset="0"/>
            </a:endParaRPr>
          </a:p>
        </p:txBody>
      </p:sp>
      <p:sp>
        <p:nvSpPr>
          <p:cNvPr id="15" name="AI_PartnershipSummary"/>
          <p:cNvSpPr txBox="1"/>
          <p:nvPr/>
        </p:nvSpPr>
        <p:spPr>
          <a:xfrm>
            <a:off x="960120" y="4039422"/>
            <a:ext cx="10195560" cy="1508233"/>
          </a:xfrm>
          <a:prstGeom prst="rect">
            <a:avLst/>
          </a:prstGeom>
          <a:noFill/>
        </p:spPr>
        <p:txBody>
          <a:bodyPr wrap="square" lIns="0" tIns="0" rIns="0" bIns="0" anchor="t">
            <a:spAutoFit/>
          </a:bodyPr>
          <a:lstStyle/>
          <a:p>
            <a:pPr algn="l"/>
            <a:r>
              <a:rPr b="1" i="0" dirty="0">
                <a:solidFill>
                  <a:schemeClr val="tx2">
                    <a:lumMod val="10000"/>
                    <a:lumOff val="90000"/>
                  </a:schemeClr>
                </a:solidFill>
                <a:latin typeface="Montserrat" panose="00000500000000000000" pitchFamily="2" charset="0"/>
              </a:rPr>
              <a:t>WHAT THIS MEANS FOR THE PARTNERSHIP</a:t>
            </a:r>
            <a:endParaRPr lang="en-US" b="1" i="0" dirty="0">
              <a:solidFill>
                <a:schemeClr val="tx2">
                  <a:lumMod val="10000"/>
                  <a:lumOff val="90000"/>
                </a:schemeClr>
              </a:solidFill>
              <a:latin typeface="Montserrat" panose="00000500000000000000" pitchFamily="2" charset="0"/>
            </a:endParaRPr>
          </a:p>
          <a:p>
            <a:pPr algn="l"/>
            <a:endParaRPr sz="1150" b="1" i="0" dirty="0">
              <a:solidFill>
                <a:srgbClr val="1C6AFE"/>
              </a:solidFill>
              <a:latin typeface="Montserrat" panose="00000500000000000000" pitchFamily="2" charset="0"/>
            </a:endParaRPr>
          </a:p>
          <a:p>
            <a:pPr algn="l">
              <a:lnSpc>
                <a:spcPct val="125000"/>
              </a:lnSpc>
              <a:spcAft>
                <a:spcPts val="0"/>
              </a:spcAft>
            </a:pPr>
            <a:r>
              <a:rPr sz="1400" b="0" i="0" dirty="0">
                <a:solidFill>
                  <a:srgbClr val="E8E8E8"/>
                </a:solidFill>
                <a:latin typeface="Montserrat Medium" panose="00000600000000000000" pitchFamily="2" charset="0"/>
              </a:rPr>
              <a:t>This intent-driven layer runs alongside core lead delivery – surfacing 1,719 accounts showing real buying signals, of which 628 were actively engaged and 460 are already in the Consideration or Decision stage. Twenty organizations, including Roper St. Francis Healthcare and Shields Health, scored 99–100 on intent – a concentrated, ready-now expansion list for H2 outreach.</a:t>
            </a:r>
          </a:p>
        </p:txBody>
      </p:sp>
      <p:sp>
        <p:nvSpPr>
          <p:cNvPr id="16" name="TextBox 15"/>
          <p:cNvSpPr txBox="1"/>
          <p:nvPr/>
        </p:nvSpPr>
        <p:spPr>
          <a:xfrm>
            <a:off x="457200" y="6400800"/>
            <a:ext cx="7315200" cy="274320"/>
          </a:xfrm>
          <a:prstGeom prst="rect">
            <a:avLst/>
          </a:prstGeom>
          <a:noFill/>
        </p:spPr>
        <p:txBody>
          <a:bodyPr wrap="square" lIns="0" tIns="0" rIns="0" bIns="0" anchor="t">
            <a:spAutoFit/>
          </a:bodyPr>
          <a:lstStyle/>
          <a:p>
            <a:pPr algn="l"/>
            <a:endParaRPr>
              <a:latin typeface="Montserrat" panose="00000500000000000000" pitchFamily="2" charset="0"/>
            </a:endParaRPr>
          </a:p>
        </p:txBody>
      </p:sp>
      <p:sp>
        <p:nvSpPr>
          <p:cNvPr id="18" name="TITLE_ValueAddSummary">
            <a:extLst>
              <a:ext uri="{FF2B5EF4-FFF2-40B4-BE49-F238E27FC236}">
                <a16:creationId xmlns:a16="http://schemas.microsoft.com/office/drawing/2014/main" id="{C04AD48A-8E44-A67E-1526-ACE940AB43CE}"/>
              </a:ext>
            </a:extLst>
          </p:cNvPr>
          <p:cNvSpPr txBox="1">
            <a:spLocks/>
          </p:cNvSpPr>
          <p:nvPr/>
        </p:nvSpPr>
        <p:spPr>
          <a:xfrm>
            <a:off x="685800" y="-100267"/>
            <a:ext cx="10515600" cy="1325563"/>
          </a:xfrm>
          <a:prstGeom prst="rect">
            <a:avLst/>
          </a:prstGeom>
        </p:spPr>
        <p:txBody>
          <a:bodyPr vert="horz" wrap="square"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a:lstStyle>
          <a:p>
            <a:r>
              <a:rPr lang="en-US" sz="3200" dirty="0">
                <a:solidFill>
                  <a:schemeClr val="tx2">
                    <a:lumMod val="10000"/>
                    <a:lumOff val="90000"/>
                  </a:schemeClr>
                </a:solidFill>
                <a:latin typeface="Montserrat" panose="00000500000000000000" pitchFamily="2" charset="0"/>
              </a:rPr>
              <a:t>Value-Add Lead Impact Summary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_ThankYou"/>
          <p:cNvSpPr txBox="1"/>
          <p:nvPr/>
        </p:nvSpPr>
        <p:spPr>
          <a:xfrm>
            <a:off x="822960" y="2880360"/>
            <a:ext cx="8229600" cy="677108"/>
          </a:xfrm>
          <a:prstGeom prst="rect">
            <a:avLst/>
          </a:prstGeom>
          <a:noFill/>
        </p:spPr>
        <p:txBody>
          <a:bodyPr wrap="square" lIns="0" tIns="0" rIns="0" bIns="0" anchor="t">
            <a:spAutoFit/>
          </a:bodyPr>
          <a:lstStyle/>
          <a:p>
            <a:pPr algn="l"/>
            <a:r>
              <a:rPr sz="4400" b="1" i="0">
                <a:solidFill>
                  <a:srgbClr val="FFFFFF"/>
                </a:solidFill>
                <a:latin typeface="Montserrat" panose="00000500000000000000" pitchFamily="2" charset="0"/>
              </a:rPr>
              <a:t>Thank You</a:t>
            </a:r>
          </a:p>
        </p:txBody>
      </p:sp>
      <p:sp>
        <p:nvSpPr>
          <p:cNvPr id="3" name="AI_ClosingMessage"/>
          <p:cNvSpPr txBox="1"/>
          <p:nvPr/>
        </p:nvSpPr>
        <p:spPr>
          <a:xfrm>
            <a:off x="841248" y="3703320"/>
            <a:ext cx="7772400" cy="246221"/>
          </a:xfrm>
          <a:prstGeom prst="rect">
            <a:avLst/>
          </a:prstGeom>
          <a:noFill/>
        </p:spPr>
        <p:txBody>
          <a:bodyPr wrap="square" lIns="0" tIns="0" rIns="0" bIns="0" anchor="t">
            <a:spAutoFit/>
          </a:bodyPr>
          <a:lstStyle/>
          <a:p>
            <a:pPr algn="l"/>
            <a:r>
              <a:rPr sz="1600" b="0" i="0">
                <a:solidFill>
                  <a:srgbClr val="E8E8E8"/>
                </a:solidFill>
                <a:latin typeface="Montserrat" panose="00000500000000000000" pitchFamily="2" charset="0"/>
              </a:rPr>
              <a:t>Questions? Let’s discuss how we build on H1 momentum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10060</TotalTime>
  <Words>1534</Words>
  <Application>Microsoft Office PowerPoint</Application>
  <PresentationFormat>Widescreen</PresentationFormat>
  <Paragraphs>264</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Aptos</vt:lpstr>
      <vt:lpstr>Aptos Display</vt:lpstr>
      <vt:lpstr>Arial</vt:lpstr>
      <vt:lpstr>Calibri</vt:lpstr>
      <vt:lpstr>Calibri Light</vt:lpstr>
      <vt:lpstr>Montserrat</vt:lpstr>
      <vt:lpstr>Montserrat Medium</vt:lpstr>
      <vt:lpstr>Office Theme</vt:lpstr>
      <vt:lpstr>PowerPoint Presentation</vt:lpstr>
      <vt:lpstr>PowerPoint Presentation</vt:lpstr>
      <vt:lpstr>PowerPoint Presentation</vt:lpstr>
      <vt:lpstr>Campaign Snapshot</vt:lpstr>
      <vt:lpstr>PowerPoint Presentation</vt:lpstr>
      <vt:lpstr>Q1 2026: Performance Review</vt:lpstr>
      <vt:lpstr>PowerPoint Presentation</vt:lpstr>
      <vt:lpstr>Q2 2026: Performance Review</vt:lpstr>
      <vt:lpstr>PowerPoint Presentation</vt:lpstr>
      <vt:lpstr>Q1 vs Q2: Quarter-over-Quarter Comparison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Ritesh Majumdar</dc:creator>
  <cp:lastModifiedBy>Ritesh Majumdar</cp:lastModifiedBy>
  <cp:revision>7</cp:revision>
  <dcterms:created xsi:type="dcterms:W3CDTF">2026-07-05T16:04:41Z</dcterms:created>
  <dcterms:modified xsi:type="dcterms:W3CDTF">2026-07-15T10:36:23Z</dcterms:modified>
</cp:coreProperties>
</file>